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61" r:id="rId1"/>
  </p:sldMasterIdLst>
  <p:notesMasterIdLst>
    <p:notesMasterId r:id="rId15"/>
  </p:notesMasterIdLst>
  <p:sldIdLst>
    <p:sldId id="298" r:id="rId2"/>
    <p:sldId id="318" r:id="rId3"/>
    <p:sldId id="317" r:id="rId4"/>
    <p:sldId id="333" r:id="rId5"/>
    <p:sldId id="336" r:id="rId6"/>
    <p:sldId id="316" r:id="rId7"/>
    <p:sldId id="337" r:id="rId8"/>
    <p:sldId id="331" r:id="rId9"/>
    <p:sldId id="332" r:id="rId10"/>
    <p:sldId id="310" r:id="rId11"/>
    <p:sldId id="334" r:id="rId12"/>
    <p:sldId id="294" r:id="rId13"/>
    <p:sldId id="306"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8220"/>
    <a:srgbClr val="0192BB"/>
    <a:srgbClr val="00B6C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2FB761-7562-4B85-8A6F-DFEB66F94112}">
  <a:tblStyle styleId="{E32FB761-7562-4B85-8A6F-DFEB66F94112}" styleName="Table_0">
    <a:wholeTbl>
      <a:tcTxStyle b="off" i="off">
        <a:font>
          <a:latin typeface="Calibri"/>
          <a:ea typeface="Calibri"/>
          <a:cs typeface="Calibr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1"/>
              </a:solidFill>
              <a:prstDash val="solid"/>
              <a:round/>
              <a:headEnd type="none" w="sm" len="sm"/>
              <a:tailEnd type="none" w="sm" len="sm"/>
            </a:ln>
          </a:top>
        </a:tcBdr>
        <a:fill>
          <a:solidFill>
            <a:srgbClr val="E8EBF5"/>
          </a:solidFill>
        </a:fill>
      </a:tcStyle>
    </a:lastRow>
    <a:seCell>
      <a:tcTxStyle/>
      <a:tcStyle>
        <a:tcBdr/>
      </a:tcStyle>
    </a:seCell>
    <a:swCell>
      <a:tcTxStyle/>
      <a:tcStyle>
        <a:tcBdr/>
      </a:tcStyle>
    </a:swCell>
    <a:firstRow>
      <a:tcTxStyle b="on" i="off"/>
      <a:tcStyle>
        <a:tcBdr/>
        <a:fill>
          <a:solidFill>
            <a:srgbClr val="E8EBF5"/>
          </a:solidFill>
        </a:fill>
      </a:tcStyle>
    </a:firstRow>
    <a:neCell>
      <a:tcTxStyle/>
      <a:tcStyle>
        <a:tcBdr/>
      </a:tcStyle>
    </a:neCell>
    <a:nwCell>
      <a:tcTxStyle/>
      <a:tcStyle>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6" autoAdjust="0"/>
    <p:restoredTop sz="84795" autoAdjust="0"/>
  </p:normalViewPr>
  <p:slideViewPr>
    <p:cSldViewPr snapToGrid="0">
      <p:cViewPr varScale="1">
        <p:scale>
          <a:sx n="123" d="100"/>
          <a:sy n="123" d="100"/>
        </p:scale>
        <p:origin x="103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spcFirstLastPara="1" wrap="square" lIns="91425" tIns="91425" rIns="91425" bIns="91425" anchor="t" anchorCtr="0"/>
          <a:lstStyle>
            <a:lvl1pPr marL="0" marR="0" lvl="0" indent="0" algn="r"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lstStyle>
            <a:lvl1pPr marL="457200" marR="0" lvl="0"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L="914400" marR="0" lvl="1"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2pPr>
            <a:lvl3pPr marL="1371600" marR="0" lvl="2"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3pPr>
            <a:lvl4pPr marL="1828800" marR="0" lvl="3"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4pPr>
            <a:lvl5pPr marL="2286000" marR="0" lvl="4"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5pPr>
            <a:lvl6pPr marL="2743200" marR="0" lvl="5"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6pPr>
            <a:lvl7pPr marL="3200400" marR="0" lvl="6"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7pPr>
            <a:lvl8pPr marL="3657600" marR="0" lvl="7"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8pPr>
            <a:lvl9pPr marL="4114800" marR="0" lvl="8"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ncbi.nlm.nih.gov/pubmed/21228167"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Title slide = Use the slides you like and TAKE 5 or so minutes to deliver this implementation or reinforcement training.</a:t>
            </a: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45305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GB" dirty="0"/>
              <a:t>Facilitator notes:</a:t>
            </a:r>
          </a:p>
          <a:p>
            <a:pPr marL="152400" indent="0">
              <a:buNone/>
            </a:pPr>
            <a:r>
              <a:rPr lang="en-GB" dirty="0"/>
              <a:t>Acknowledge that clear desk policies can be daunting before they are implemented, especially if paperwork is OUT OF CONTROL.</a:t>
            </a: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18105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GB" dirty="0"/>
              <a:t>Take one idea from each person (or first 8 – 10), quickly discuss/expand until key points of the policy covered and any MISCONCEPTIONS have been dispelled.</a:t>
            </a:r>
          </a:p>
          <a:p>
            <a:pPr marL="152400" indent="0">
              <a:buNone/>
            </a:pPr>
            <a:r>
              <a:rPr lang="en-GB" dirty="0"/>
              <a:t>Debrief using next slides.</a:t>
            </a: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86169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GB" dirty="0"/>
              <a:t>First some benefits and clarifications…</a:t>
            </a:r>
          </a:p>
          <a:p>
            <a:pPr marL="152400" indent="0">
              <a:buNone/>
            </a:pPr>
            <a:r>
              <a:rPr lang="en-GB" b="1" dirty="0"/>
              <a:t>It’s about protecting sensitive information.</a:t>
            </a:r>
          </a:p>
          <a:p>
            <a:pPr marL="152400" indent="0">
              <a:buNone/>
            </a:pPr>
            <a:r>
              <a:rPr lang="en-GB" dirty="0"/>
              <a:t>The policy does NOT mean every desk has to be cleared of absolutely everything.</a:t>
            </a:r>
          </a:p>
          <a:p>
            <a:pPr marL="152400" indent="0">
              <a:buNone/>
            </a:pPr>
            <a:endParaRPr lang="en-GB" dirty="0"/>
          </a:p>
          <a:p>
            <a:pPr marL="152400" indent="0">
              <a:buNone/>
            </a:pPr>
            <a:r>
              <a:rPr lang="en-GB" dirty="0"/>
              <a:t>Mouse click – show ‘villain’</a:t>
            </a:r>
          </a:p>
          <a:p>
            <a:pPr marL="457200" marR="0" lvl="0" indent="-304800" algn="l" defTabSz="914400" rtl="0" eaLnBrk="1" fontAlgn="auto" latinLnBrk="0" hangingPunct="1">
              <a:lnSpc>
                <a:spcPct val="100000"/>
              </a:lnSpc>
              <a:spcBef>
                <a:spcPts val="0"/>
              </a:spcBef>
              <a:spcAft>
                <a:spcPts val="0"/>
              </a:spcAft>
              <a:buClr>
                <a:schemeClr val="dk1"/>
              </a:buClr>
              <a:buSzPts val="1200"/>
              <a:buFont typeface="Calibri"/>
              <a:buChar char="●"/>
              <a:tabLst/>
              <a:defRPr/>
            </a:pPr>
            <a:r>
              <a:rPr lang="en-GB" sz="1200" dirty="0" err="1"/>
              <a:t>Ie</a:t>
            </a:r>
            <a:r>
              <a:rPr lang="en-GB" sz="1200" dirty="0"/>
              <a:t>: in this cartoon the desk is CLEAR but information is still out of control and vulnerable to being lost or seen by others… increasing the risk of a data breach;</a:t>
            </a:r>
          </a:p>
          <a:p>
            <a:pPr marL="457200" indent="-304800"/>
            <a:r>
              <a:rPr lang="en-GB" sz="1200" b="0" dirty="0">
                <a:latin typeface="Segoe UI" panose="020B0502040204020203" pitchFamily="34" charset="0"/>
                <a:cs typeface="Segoe UI" panose="020B0502040204020203" pitchFamily="34" charset="0"/>
              </a:rPr>
              <a:t>The policy is about keeping control of information and having it stored away or disposed of appropriately, keeping it secure: not leaving it vulnerable to be lost or disclosed to unauthorised people,.</a:t>
            </a:r>
            <a:br>
              <a:rPr lang="en-GB" sz="1200" b="0" dirty="0">
                <a:latin typeface="Segoe UI" panose="020B0502040204020203" pitchFamily="34" charset="0"/>
                <a:cs typeface="Segoe UI" panose="020B0502040204020203" pitchFamily="34" charset="0"/>
              </a:rPr>
            </a:br>
            <a:endParaRPr lang="en-GB" b="0"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1923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FontTx/>
              <a:buNone/>
            </a:pPr>
            <a:r>
              <a:rPr lang="en-GB" sz="1200" b="1" i="0" u="none" strike="noStrike" cap="none" dirty="0">
                <a:solidFill>
                  <a:schemeClr val="dk1"/>
                </a:solidFill>
                <a:effectLst/>
                <a:latin typeface="Calibri"/>
                <a:ea typeface="Calibri"/>
                <a:cs typeface="Calibri"/>
                <a:sym typeface="Calibri"/>
              </a:rPr>
              <a:t>Clutter, stress, productivity and creativity</a:t>
            </a:r>
            <a:endParaRPr lang="en-GB" sz="1200" b="0" i="0" u="none" strike="noStrike" cap="none" dirty="0">
              <a:solidFill>
                <a:schemeClr val="dk1"/>
              </a:solidFill>
              <a:effectLst/>
              <a:latin typeface="Calibri"/>
              <a:ea typeface="Calibri"/>
              <a:cs typeface="Calibri"/>
              <a:sym typeface="Calibri"/>
            </a:endParaRPr>
          </a:p>
          <a:p>
            <a:pPr marL="152400" indent="0">
              <a:buFontTx/>
              <a:buNone/>
            </a:pPr>
            <a:r>
              <a:rPr lang="en-GB" sz="1200" b="0" i="0" u="none" strike="noStrike" cap="none" dirty="0">
                <a:solidFill>
                  <a:schemeClr val="dk1"/>
                </a:solidFill>
                <a:effectLst/>
                <a:latin typeface="Calibri"/>
                <a:ea typeface="Calibri"/>
                <a:cs typeface="Calibri"/>
                <a:sym typeface="Calibri"/>
              </a:rPr>
              <a:t> Studies have shown that there is a reduction in stress with employees having a tidy desk and that there is also a reduction in workplace accidents and spills. This in turn reduces time wasting and boosts both productivity and creativity!</a:t>
            </a:r>
          </a:p>
          <a:p>
            <a:pPr marL="152400" indent="0">
              <a:buFontTx/>
              <a:buNone/>
            </a:pPr>
            <a:r>
              <a:rPr lang="en-GB" sz="1200" b="1" i="0" u="none" strike="noStrike" cap="none" dirty="0">
                <a:solidFill>
                  <a:schemeClr val="dk1"/>
                </a:solidFill>
                <a:effectLst/>
                <a:latin typeface="Calibri"/>
                <a:ea typeface="Calibri"/>
                <a:cs typeface="Calibri"/>
                <a:sym typeface="Calibri"/>
              </a:rPr>
              <a:t> </a:t>
            </a:r>
            <a:endParaRPr lang="en-GB" sz="1200" b="0" i="0" u="none" strike="noStrike" cap="none" dirty="0">
              <a:solidFill>
                <a:schemeClr val="dk1"/>
              </a:solidFill>
              <a:effectLst/>
              <a:latin typeface="Calibri"/>
              <a:ea typeface="Calibri"/>
              <a:cs typeface="Calibri"/>
              <a:sym typeface="Calibri"/>
            </a:endParaRPr>
          </a:p>
          <a:p>
            <a:pPr marL="152400" indent="0">
              <a:buFontTx/>
              <a:buNone/>
            </a:pPr>
            <a:r>
              <a:rPr lang="en-GB" sz="1200" b="0" i="0" u="none" strike="noStrike" cap="none" dirty="0">
                <a:solidFill>
                  <a:schemeClr val="dk1"/>
                </a:solidFill>
                <a:effectLst/>
                <a:latin typeface="Calibri"/>
                <a:ea typeface="Calibri"/>
                <a:cs typeface="Calibri"/>
                <a:sym typeface="Calibri"/>
              </a:rPr>
              <a:t>However, a clear desk does NOT mean having to remove all personal knick-knacks. These can be important for happiness and well-being that also help people work better.</a:t>
            </a:r>
          </a:p>
          <a:p>
            <a:pPr marL="152400" indent="0">
              <a:buFontTx/>
              <a:buNone/>
            </a:pPr>
            <a:r>
              <a:rPr lang="en-GB" sz="1200" b="1" i="0" u="none" strike="noStrike" cap="none" dirty="0">
                <a:solidFill>
                  <a:schemeClr val="dk1"/>
                </a:solidFill>
                <a:effectLst/>
                <a:latin typeface="Calibri"/>
                <a:ea typeface="Calibri"/>
                <a:cs typeface="Calibri"/>
                <a:sym typeface="Calibri"/>
              </a:rPr>
              <a:t> </a:t>
            </a:r>
            <a:endParaRPr lang="en-GB" sz="1200" b="0" i="0" u="none" strike="noStrike" cap="none" dirty="0">
              <a:solidFill>
                <a:schemeClr val="dk1"/>
              </a:solidFill>
              <a:effectLst/>
              <a:latin typeface="Calibri"/>
              <a:ea typeface="Calibri"/>
              <a:cs typeface="Calibri"/>
              <a:sym typeface="Calibri"/>
            </a:endParaRPr>
          </a:p>
          <a:p>
            <a:pPr marL="152400" indent="0">
              <a:buFontTx/>
              <a:buNone/>
            </a:pPr>
            <a:r>
              <a:rPr lang="en-GB" sz="1200" b="1" i="0" u="none" strike="noStrike" cap="none" dirty="0">
                <a:solidFill>
                  <a:schemeClr val="dk1"/>
                </a:solidFill>
                <a:effectLst/>
                <a:latin typeface="Calibri"/>
                <a:ea typeface="Calibri"/>
                <a:cs typeface="Calibri"/>
                <a:sym typeface="Calibri"/>
              </a:rPr>
              <a:t>So, a clear-desk policy that allows some personalisation and helps meet data protection requirements, is a Win </a:t>
            </a:r>
            <a:r>
              <a:rPr lang="en-GB" sz="1200" b="1" i="0" u="none" strike="noStrike" cap="none" dirty="0" err="1">
                <a:solidFill>
                  <a:schemeClr val="dk1"/>
                </a:solidFill>
                <a:effectLst/>
                <a:latin typeface="Calibri"/>
                <a:ea typeface="Calibri"/>
                <a:cs typeface="Calibri"/>
                <a:sym typeface="Calibri"/>
              </a:rPr>
              <a:t>Win</a:t>
            </a:r>
            <a:r>
              <a:rPr lang="en-GB" sz="1200" b="1" i="0" u="none" strike="noStrike" cap="none" dirty="0">
                <a:solidFill>
                  <a:schemeClr val="dk1"/>
                </a:solidFill>
                <a:effectLst/>
                <a:latin typeface="Calibri"/>
                <a:ea typeface="Calibri"/>
                <a:cs typeface="Calibri"/>
                <a:sym typeface="Calibri"/>
              </a:rPr>
              <a:t> situation!</a:t>
            </a:r>
            <a:endParaRPr lang="en-GB" sz="1200" b="0" i="0" u="none" strike="noStrike" cap="none" dirty="0">
              <a:solidFill>
                <a:schemeClr val="dk1"/>
              </a:solidFill>
              <a:effectLst/>
              <a:latin typeface="Calibri"/>
              <a:ea typeface="Calibri"/>
              <a:cs typeface="Calibri"/>
              <a:sym typeface="Calibri"/>
            </a:endParaRPr>
          </a:p>
          <a:p>
            <a:pPr marL="152400" indent="0">
              <a:buFontTx/>
              <a:buNone/>
            </a:pPr>
            <a:r>
              <a:rPr lang="en-GB" sz="1200" b="0" i="0" u="none" strike="noStrike" cap="none" dirty="0">
                <a:solidFill>
                  <a:schemeClr val="dk1"/>
                </a:solidFill>
                <a:effectLst/>
                <a:latin typeface="Calibri"/>
                <a:ea typeface="Calibri"/>
                <a:cs typeface="Calibri"/>
                <a:sym typeface="Calibri"/>
              </a:rPr>
              <a:t> </a:t>
            </a:r>
          </a:p>
          <a:p>
            <a:pPr marL="152400" indent="0">
              <a:buFontTx/>
              <a:buNone/>
            </a:pPr>
            <a:r>
              <a:rPr lang="en-GB" sz="1200" b="0" i="0" u="none" strike="noStrike" cap="none" dirty="0">
                <a:solidFill>
                  <a:schemeClr val="dk1"/>
                </a:solidFill>
                <a:effectLst/>
                <a:latin typeface="Calibri"/>
                <a:ea typeface="Calibri"/>
                <a:cs typeface="Calibri"/>
                <a:sym typeface="Calibri"/>
              </a:rPr>
              <a:t>Ref: </a:t>
            </a:r>
          </a:p>
          <a:p>
            <a:pPr marL="152400" indent="0">
              <a:buFontTx/>
              <a:buNone/>
            </a:pPr>
            <a:r>
              <a:rPr lang="en-GB" sz="1200" b="0" i="0" u="sng" strike="noStrike" cap="none" dirty="0">
                <a:solidFill>
                  <a:schemeClr val="dk1"/>
                </a:solidFill>
                <a:effectLst/>
                <a:latin typeface="Calibri"/>
                <a:ea typeface="Calibri"/>
                <a:cs typeface="Calibri"/>
                <a:sym typeface="Calibri"/>
                <a:hlinkClick r:id="rId3"/>
              </a:rPr>
              <a:t>https://www.ncbi.nlm.nih.gov/pubmed/21228167</a:t>
            </a:r>
            <a:r>
              <a:rPr lang="en-GB" sz="1200" b="0" i="0" u="none" strike="noStrike" cap="none" dirty="0">
                <a:solidFill>
                  <a:schemeClr val="dk1"/>
                </a:solidFill>
                <a:effectLst/>
                <a:latin typeface="Calibri"/>
                <a:ea typeface="Calibri"/>
                <a:cs typeface="Calibri"/>
                <a:sym typeface="Calibri"/>
              </a:rPr>
              <a:t> </a:t>
            </a:r>
          </a:p>
          <a:p>
            <a:pPr marL="152400" indent="0">
              <a:buNone/>
            </a:pPr>
            <a:endParaRPr lang="en-GB" sz="1200" dirty="0"/>
          </a:p>
          <a:p>
            <a:pPr marL="152400" indent="0">
              <a:buNone/>
            </a:pPr>
            <a:endParaRPr lang="en-GB" b="0"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45209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GB" dirty="0"/>
              <a:t>Facilitator Notes: </a:t>
            </a:r>
          </a:p>
          <a:p>
            <a:pPr marL="152400" indent="0">
              <a:buNone/>
            </a:pPr>
            <a:r>
              <a:rPr lang="en-GB" dirty="0"/>
              <a:t>Mouse clicks 1-4: reveal key features of the policy. (Ask staff to read full policy statements to find out what is expected of them in more detail).</a:t>
            </a:r>
          </a:p>
          <a:p>
            <a:pPr marL="152400" indent="0">
              <a:buNone/>
            </a:pPr>
            <a:r>
              <a:rPr lang="en-GB" sz="1200" b="0" dirty="0"/>
              <a:t>Mouse click 5: remember – LEAVE IT, LOCK IT!</a:t>
            </a:r>
          </a:p>
          <a:p>
            <a:pPr marL="152400" indent="0">
              <a:buNone/>
            </a:pPr>
            <a:endParaRPr lang="en-GB" b="0"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32035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endParaRPr lang="en-GB" sz="1200" b="1" i="0" u="none" strike="noStrike" cap="none" dirty="0">
              <a:solidFill>
                <a:schemeClr val="dk1"/>
              </a:solidFill>
              <a:effectLst/>
              <a:latin typeface="Calibri"/>
              <a:ea typeface="Calibri"/>
              <a:cs typeface="Calibri"/>
              <a:sym typeface="Calibri"/>
            </a:endParaRPr>
          </a:p>
          <a:p>
            <a:pPr marL="152400" indent="0">
              <a:buNone/>
            </a:pPr>
            <a:r>
              <a:rPr lang="en-GB" sz="1200" b="1" i="0" u="none" strike="noStrike" cap="none" dirty="0">
                <a:solidFill>
                  <a:schemeClr val="dk1"/>
                </a:solidFill>
                <a:effectLst/>
                <a:latin typeface="Calibri"/>
                <a:ea typeface="Calibri"/>
                <a:cs typeface="Calibri"/>
                <a:sym typeface="Calibri"/>
              </a:rPr>
              <a:t>How to manage a clear desk approach – the 3Ps</a:t>
            </a:r>
          </a:p>
          <a:p>
            <a:pPr marL="152400" indent="0">
              <a:buNone/>
            </a:pPr>
            <a:endParaRPr lang="en-GB" sz="1200" b="1" i="0" u="none" strike="noStrike" cap="none" dirty="0">
              <a:solidFill>
                <a:schemeClr val="dk1"/>
              </a:solidFill>
              <a:effectLst/>
              <a:latin typeface="Calibri"/>
              <a:ea typeface="Calibri"/>
              <a:cs typeface="Calibri"/>
              <a:sym typeface="Calibri"/>
            </a:endParaRPr>
          </a:p>
          <a:p>
            <a:pPr marL="152400" indent="0">
              <a:buNone/>
            </a:pPr>
            <a:r>
              <a:rPr lang="en-GB" sz="1200" b="1" i="0" u="none" strike="noStrike" cap="none" dirty="0">
                <a:solidFill>
                  <a:schemeClr val="dk1"/>
                </a:solidFill>
                <a:effectLst/>
                <a:latin typeface="Calibri"/>
                <a:ea typeface="Calibri"/>
                <a:cs typeface="Calibri"/>
                <a:sym typeface="Calibri"/>
              </a:rPr>
              <a:t>PLAN</a:t>
            </a:r>
            <a:r>
              <a:rPr lang="en-GB" sz="1200" b="0" i="0" u="none" strike="noStrike" cap="none" dirty="0">
                <a:solidFill>
                  <a:schemeClr val="dk1"/>
                </a:solidFill>
                <a:effectLst/>
                <a:latin typeface="Calibri"/>
                <a:ea typeface="Calibri"/>
                <a:cs typeface="Calibri"/>
                <a:sym typeface="Calibri"/>
              </a:rPr>
              <a:t> first thing in the morning.</a:t>
            </a:r>
          </a:p>
          <a:p>
            <a:r>
              <a:rPr lang="en-GB" sz="1200" b="0" i="0" u="none" strike="noStrike" cap="none" dirty="0">
                <a:solidFill>
                  <a:schemeClr val="dk1"/>
                </a:solidFill>
                <a:effectLst/>
                <a:latin typeface="Calibri"/>
                <a:ea typeface="Calibri"/>
                <a:cs typeface="Calibri"/>
                <a:sym typeface="Calibri"/>
              </a:rPr>
              <a:t>Keep just the things you need for your workday on your desk. File all other folders and documents in locked storage, but don’t leave the key in!</a:t>
            </a:r>
          </a:p>
          <a:p>
            <a:pPr marL="152400" indent="0">
              <a:buNone/>
            </a:pPr>
            <a:r>
              <a:rPr lang="en-GB" sz="1200" b="0" i="0" u="none" strike="noStrike" cap="none" dirty="0">
                <a:solidFill>
                  <a:schemeClr val="dk1"/>
                </a:solidFill>
                <a:effectLst/>
                <a:latin typeface="Calibri"/>
                <a:ea typeface="Calibri"/>
                <a:cs typeface="Calibri"/>
                <a:sym typeface="Calibri"/>
              </a:rPr>
              <a:t> </a:t>
            </a:r>
          </a:p>
          <a:p>
            <a:pPr marL="152400" indent="0">
              <a:buNone/>
            </a:pPr>
            <a:r>
              <a:rPr lang="en-GB" sz="1200" b="1" i="0" u="none" strike="noStrike" cap="none" dirty="0">
                <a:solidFill>
                  <a:schemeClr val="dk1"/>
                </a:solidFill>
                <a:effectLst/>
                <a:latin typeface="Calibri"/>
                <a:ea typeface="Calibri"/>
                <a:cs typeface="Calibri"/>
                <a:sym typeface="Calibri"/>
              </a:rPr>
              <a:t>PROTECT</a:t>
            </a:r>
            <a:r>
              <a:rPr lang="en-GB" sz="1200" b="0" i="0" u="none" strike="noStrike" cap="none" dirty="0">
                <a:solidFill>
                  <a:schemeClr val="dk1"/>
                </a:solidFill>
                <a:effectLst/>
                <a:latin typeface="Calibri"/>
                <a:ea typeface="Calibri"/>
                <a:cs typeface="Calibri"/>
                <a:sym typeface="Calibri"/>
              </a:rPr>
              <a:t> information whenever you leave your desk.</a:t>
            </a:r>
          </a:p>
          <a:p>
            <a:r>
              <a:rPr lang="en-GB" sz="1200" b="0" i="0" u="none" strike="noStrike" cap="none" dirty="0">
                <a:solidFill>
                  <a:schemeClr val="dk1"/>
                </a:solidFill>
                <a:effectLst/>
                <a:latin typeface="Calibri"/>
                <a:ea typeface="Calibri"/>
                <a:cs typeface="Calibri"/>
                <a:sym typeface="Calibri"/>
              </a:rPr>
              <a:t>Do not leave confidential or sensitive information unattended on your desk, lock it away, or lock your office door. In addition, if you are not taking your device with you, lock it (e.g. use </a:t>
            </a:r>
            <a:r>
              <a:rPr lang="en-GB" sz="1200" b="1" i="0" u="none" strike="noStrike" cap="none" dirty="0">
                <a:solidFill>
                  <a:schemeClr val="dk1"/>
                </a:solidFill>
                <a:effectLst/>
                <a:latin typeface="Calibri"/>
                <a:ea typeface="Calibri"/>
                <a:cs typeface="Calibri"/>
                <a:sym typeface="Calibri"/>
              </a:rPr>
              <a:t>Alt-Ctrl-Delete – LOCK OPTION</a:t>
            </a:r>
            <a:r>
              <a:rPr lang="en-GB" sz="1200" b="0" i="0" u="none" strike="noStrike" cap="none" dirty="0">
                <a:solidFill>
                  <a:schemeClr val="dk1"/>
                </a:solidFill>
                <a:effectLst/>
                <a:latin typeface="Calibri"/>
                <a:ea typeface="Calibri"/>
                <a:cs typeface="Calibri"/>
                <a:sym typeface="Calibri"/>
              </a:rPr>
              <a:t> for windows PCs, or </a:t>
            </a:r>
            <a:r>
              <a:rPr lang="en-GB" sz="1200" b="1" i="0" u="none" strike="noStrike" cap="none" dirty="0">
                <a:solidFill>
                  <a:schemeClr val="dk1"/>
                </a:solidFill>
                <a:effectLst/>
                <a:latin typeface="Calibri"/>
                <a:ea typeface="Calibri"/>
                <a:cs typeface="Calibri"/>
                <a:sym typeface="Calibri"/>
              </a:rPr>
              <a:t>Control + Shift + Eject</a:t>
            </a:r>
            <a:r>
              <a:rPr lang="en-GB" sz="1200" b="0" i="0" u="none" strike="noStrike" cap="none" dirty="0">
                <a:solidFill>
                  <a:schemeClr val="dk1"/>
                </a:solidFill>
                <a:effectLst/>
                <a:latin typeface="Calibri"/>
                <a:ea typeface="Calibri"/>
                <a:cs typeface="Calibri"/>
                <a:sym typeface="Calibri"/>
              </a:rPr>
              <a:t> for Macs.</a:t>
            </a:r>
          </a:p>
          <a:p>
            <a:pPr marL="152400" indent="0">
              <a:buNone/>
            </a:pPr>
            <a:endParaRPr lang="en-GB" sz="1200" b="1" i="0" u="none" strike="noStrike" cap="none" dirty="0">
              <a:solidFill>
                <a:schemeClr val="dk1"/>
              </a:solidFill>
              <a:effectLst/>
              <a:latin typeface="Calibri"/>
              <a:ea typeface="Calibri"/>
              <a:cs typeface="Calibri"/>
              <a:sym typeface="Calibri"/>
            </a:endParaRPr>
          </a:p>
          <a:p>
            <a:pPr marL="152400" indent="0">
              <a:buNone/>
            </a:pPr>
            <a:r>
              <a:rPr lang="en-GB" sz="1200" b="1" i="0" u="none" strike="noStrike" cap="none" dirty="0">
                <a:solidFill>
                  <a:schemeClr val="dk1"/>
                </a:solidFill>
                <a:effectLst/>
                <a:latin typeface="Calibri"/>
                <a:ea typeface="Calibri"/>
                <a:cs typeface="Calibri"/>
                <a:sym typeface="Calibri"/>
              </a:rPr>
              <a:t>PICK UP</a:t>
            </a:r>
            <a:r>
              <a:rPr lang="en-GB" sz="1200" b="0" i="0" u="none" strike="noStrike" cap="none" dirty="0">
                <a:solidFill>
                  <a:schemeClr val="dk1"/>
                </a:solidFill>
                <a:effectLst/>
                <a:latin typeface="Calibri"/>
                <a:ea typeface="Calibri"/>
                <a:cs typeface="Calibri"/>
                <a:sym typeface="Calibri"/>
              </a:rPr>
              <a:t> at the end of the day.</a:t>
            </a:r>
          </a:p>
          <a:p>
            <a:r>
              <a:rPr lang="en-GB" sz="1200" b="0" i="0" u="none" strike="noStrike" cap="none" dirty="0">
                <a:solidFill>
                  <a:schemeClr val="dk1"/>
                </a:solidFill>
                <a:effectLst/>
                <a:latin typeface="Calibri"/>
                <a:ea typeface="Calibri"/>
                <a:cs typeface="Calibri"/>
                <a:sym typeface="Calibri"/>
              </a:rPr>
              <a:t>When you leave in the evening, don’t leave documents out or whiteboards with information or data on them. It is essential to file away your documents in locked storage and shred all waste. If you get into the habit of clearing your desk every day before you leave, you’ll enjoy the added productivity benefits that come with a clear desk or office first thing in the morning!</a:t>
            </a:r>
          </a:p>
          <a:p>
            <a:pPr marL="152400" indent="0">
              <a:buNone/>
            </a:pPr>
            <a:endParaRPr lang="en-GB" sz="1200" b="0" i="0" u="none" strike="noStrike" cap="none" dirty="0">
              <a:solidFill>
                <a:schemeClr val="dk1"/>
              </a:solidFill>
              <a:effectLst/>
              <a:latin typeface="Calibri"/>
              <a:ea typeface="Calibri"/>
              <a:cs typeface="Calibri"/>
              <a:sym typeface="Calibri"/>
            </a:endParaRP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4196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GB" dirty="0"/>
              <a:t>Tools that can help - Information Classification </a:t>
            </a:r>
          </a:p>
          <a:p>
            <a:r>
              <a:rPr lang="en-GB" dirty="0"/>
              <a:t>(like government docs use OFFICIAL / OFFICIAL – SENSITIVE / SECRET &amp; TOP SECRET;</a:t>
            </a:r>
          </a:p>
          <a:p>
            <a:r>
              <a:rPr lang="en-GB" dirty="0"/>
              <a:t>DPE suggests for schools to use: Public, Private (</a:t>
            </a:r>
            <a:r>
              <a:rPr lang="en-GB" dirty="0" err="1"/>
              <a:t>incl</a:t>
            </a:r>
            <a:r>
              <a:rPr lang="en-GB" dirty="0"/>
              <a:t> anything with personal data), Confidential (sensitive personal data + other confidential docs the school produces).</a:t>
            </a: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3073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Tools that can help – Retention policy;</a:t>
            </a:r>
          </a:p>
          <a:p>
            <a:r>
              <a:rPr lang="en-GB" dirty="0"/>
              <a:t>Classification (like government docs use OFFICIAL / OFFICIAL – SENSITIVE / SECRET &amp; TOP SECRET.</a:t>
            </a: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9208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GB" dirty="0"/>
              <a:t>Competition time!</a:t>
            </a:r>
          </a:p>
          <a:p>
            <a:r>
              <a:rPr lang="en-GB" dirty="0"/>
              <a:t>You could even create a contest, based on school teams (KS / Admin / SLT etc) , to see which department is best at adhering to the policy and feature an award for the winning team. This is a great idea for when you first get started with your new clean desk policy.</a:t>
            </a: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45312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GB" dirty="0"/>
              <a:t>Summary</a:t>
            </a:r>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6116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Shape 412"/>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200"/>
              <a:buFont typeface="Calibri"/>
              <a:buNone/>
            </a:pPr>
            <a:r>
              <a:rPr lang="en-GB" sz="1200" b="0" i="0" u="none" strike="noStrike" cap="none" dirty="0">
                <a:solidFill>
                  <a:schemeClr val="dk1"/>
                </a:solidFill>
                <a:latin typeface="Calibri"/>
                <a:ea typeface="Calibri"/>
                <a:cs typeface="Calibri"/>
                <a:sym typeface="Calibri"/>
              </a:rPr>
              <a:t>Questions</a:t>
            </a:r>
            <a:endParaRPr sz="1200" b="0" i="0" u="none" strike="noStrike" cap="none" dirty="0">
              <a:solidFill>
                <a:schemeClr val="dk1"/>
              </a:solidFill>
              <a:latin typeface="Calibri"/>
              <a:ea typeface="Calibri"/>
              <a:cs typeface="Calibri"/>
              <a:sym typeface="Calibri"/>
            </a:endParaRPr>
          </a:p>
        </p:txBody>
      </p:sp>
      <p:sp>
        <p:nvSpPr>
          <p:cNvPr id="413" name="Shape 4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Shape 412"/>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200"/>
              <a:buFont typeface="Calibri"/>
              <a:buNone/>
            </a:pPr>
            <a:r>
              <a:rPr lang="en-GB" sz="1200" b="0" i="0" u="none" strike="noStrike" cap="none" dirty="0">
                <a:solidFill>
                  <a:schemeClr val="dk1"/>
                </a:solidFill>
                <a:latin typeface="Calibri"/>
                <a:ea typeface="Calibri"/>
                <a:cs typeface="Calibri"/>
                <a:sym typeface="Calibri"/>
              </a:rPr>
              <a:t>Thank you</a:t>
            </a:r>
            <a:endParaRPr sz="1200" b="0" i="0" u="none" strike="noStrike" cap="none" dirty="0">
              <a:solidFill>
                <a:schemeClr val="dk1"/>
              </a:solidFill>
              <a:latin typeface="Calibri"/>
              <a:ea typeface="Calibri"/>
              <a:cs typeface="Calibri"/>
              <a:sym typeface="Calibri"/>
            </a:endParaRPr>
          </a:p>
        </p:txBody>
      </p:sp>
      <p:sp>
        <p:nvSpPr>
          <p:cNvPr id="413" name="Shape 4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45483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3"/>
        <p:cNvGrpSpPr/>
        <p:nvPr/>
      </p:nvGrpSpPr>
      <p:grpSpPr>
        <a:xfrm>
          <a:off x="0" y="0"/>
          <a:ext cx="0" cy="0"/>
          <a:chOff x="0" y="0"/>
          <a:chExt cx="0" cy="0"/>
        </a:xfrm>
      </p:grpSpPr>
      <p:pic>
        <p:nvPicPr>
          <p:cNvPr id="17" name="Picture 16">
            <a:extLst>
              <a:ext uri="{FF2B5EF4-FFF2-40B4-BE49-F238E27FC236}">
                <a16:creationId xmlns:a16="http://schemas.microsoft.com/office/drawing/2014/main" id="{53D76C4A-FCD7-48C5-8896-597F39B0B940}"/>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25" name="Picture 24">
            <a:extLst>
              <a:ext uri="{FF2B5EF4-FFF2-40B4-BE49-F238E27FC236}">
                <a16:creationId xmlns:a16="http://schemas.microsoft.com/office/drawing/2014/main" id="{05111A16-1D37-4843-BC88-8A42D4ADD946}"/>
              </a:ext>
            </a:extLst>
          </p:cNvPr>
          <p:cNvPicPr>
            <a:picLocks noChangeAspect="1"/>
          </p:cNvPicPr>
          <p:nvPr userDrawn="1"/>
        </p:nvPicPr>
        <p:blipFill>
          <a:blip r:embed="rId3"/>
          <a:stretch>
            <a:fillRect/>
          </a:stretch>
        </p:blipFill>
        <p:spPr>
          <a:xfrm>
            <a:off x="0" y="2376"/>
            <a:ext cx="9143999" cy="5143500"/>
          </a:xfrm>
          <a:prstGeom prst="rect">
            <a:avLst/>
          </a:prstGeom>
        </p:spPr>
      </p:pic>
      <p:pic>
        <p:nvPicPr>
          <p:cNvPr id="19" name="Picture 18">
            <a:extLst>
              <a:ext uri="{FF2B5EF4-FFF2-40B4-BE49-F238E27FC236}">
                <a16:creationId xmlns:a16="http://schemas.microsoft.com/office/drawing/2014/main" id="{6A0DD1E6-A4E9-43EF-8591-F1AEA7724B8C}"/>
              </a:ext>
            </a:extLst>
          </p:cNvPr>
          <p:cNvPicPr>
            <a:picLocks noChangeAspect="1"/>
          </p:cNvPicPr>
          <p:nvPr userDrawn="1"/>
        </p:nvPicPr>
        <p:blipFill>
          <a:blip r:embed="rId4"/>
          <a:stretch>
            <a:fillRect/>
          </a:stretch>
        </p:blipFill>
        <p:spPr>
          <a:xfrm>
            <a:off x="6284217" y="3854654"/>
            <a:ext cx="2762507" cy="1165754"/>
          </a:xfrm>
          <a:prstGeom prst="rect">
            <a:avLst/>
          </a:prstGeom>
        </p:spPr>
      </p:pic>
      <p:pic>
        <p:nvPicPr>
          <p:cNvPr id="20" name="Picture 19">
            <a:extLst>
              <a:ext uri="{FF2B5EF4-FFF2-40B4-BE49-F238E27FC236}">
                <a16:creationId xmlns:a16="http://schemas.microsoft.com/office/drawing/2014/main" id="{591021EF-C11C-403E-9AEE-7FC4CC652414}"/>
              </a:ext>
            </a:extLst>
          </p:cNvPr>
          <p:cNvPicPr>
            <a:picLocks noChangeAspect="1"/>
          </p:cNvPicPr>
          <p:nvPr userDrawn="1"/>
        </p:nvPicPr>
        <p:blipFill>
          <a:blip r:embed="rId5"/>
          <a:stretch>
            <a:fillRect/>
          </a:stretch>
        </p:blipFill>
        <p:spPr>
          <a:xfrm>
            <a:off x="120254" y="448653"/>
            <a:ext cx="5307779" cy="603969"/>
          </a:xfrm>
          <a:prstGeom prst="rect">
            <a:avLst/>
          </a:prstGeom>
        </p:spPr>
      </p:pic>
      <p:pic>
        <p:nvPicPr>
          <p:cNvPr id="21" name="Picture 20">
            <a:extLst>
              <a:ext uri="{FF2B5EF4-FFF2-40B4-BE49-F238E27FC236}">
                <a16:creationId xmlns:a16="http://schemas.microsoft.com/office/drawing/2014/main" id="{29A66C10-DC54-4291-8C36-D049FBECB4F6}"/>
              </a:ext>
            </a:extLst>
          </p:cNvPr>
          <p:cNvPicPr>
            <a:picLocks noChangeAspect="1"/>
          </p:cNvPicPr>
          <p:nvPr userDrawn="1"/>
        </p:nvPicPr>
        <p:blipFill>
          <a:blip r:embed="rId6"/>
          <a:stretch>
            <a:fillRect/>
          </a:stretch>
        </p:blipFill>
        <p:spPr>
          <a:xfrm>
            <a:off x="32426" y="51756"/>
            <a:ext cx="3521412" cy="426894"/>
          </a:xfrm>
          <a:prstGeom prst="rect">
            <a:avLst/>
          </a:prstGeom>
        </p:spPr>
      </p:pic>
      <p:sp>
        <p:nvSpPr>
          <p:cNvPr id="22" name="Shape 17">
            <a:extLst>
              <a:ext uri="{FF2B5EF4-FFF2-40B4-BE49-F238E27FC236}">
                <a16:creationId xmlns:a16="http://schemas.microsoft.com/office/drawing/2014/main" id="{CE5E8ECB-A843-42FA-BBB9-88A9D24A0E62}"/>
              </a:ext>
            </a:extLst>
          </p:cNvPr>
          <p:cNvSpPr txBox="1">
            <a:spLocks noGrp="1"/>
          </p:cNvSpPr>
          <p:nvPr>
            <p:ph type="title"/>
          </p:nvPr>
        </p:nvSpPr>
        <p:spPr>
          <a:xfrm>
            <a:off x="133223" y="444711"/>
            <a:ext cx="5194478" cy="679249"/>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24" name="Shape 18">
            <a:extLst>
              <a:ext uri="{FF2B5EF4-FFF2-40B4-BE49-F238E27FC236}">
                <a16:creationId xmlns:a16="http://schemas.microsoft.com/office/drawing/2014/main" id="{462168C6-D0A1-432A-9C9F-5287E0423881}"/>
              </a:ext>
            </a:extLst>
          </p:cNvPr>
          <p:cNvSpPr txBox="1">
            <a:spLocks noGrp="1"/>
          </p:cNvSpPr>
          <p:nvPr>
            <p:ph type="body" idx="13"/>
          </p:nvPr>
        </p:nvSpPr>
        <p:spPr>
          <a:xfrm>
            <a:off x="0" y="-70896"/>
            <a:ext cx="2866034" cy="482103"/>
          </a:xfrm>
          <a:prstGeom prst="rect">
            <a:avLst/>
          </a:prstGeom>
          <a:noFill/>
          <a:ln>
            <a:noFill/>
          </a:ln>
        </p:spPr>
        <p:txBody>
          <a:bodyPr spcFirstLastPara="1" wrap="square" lIns="91425" tIns="91425" rIns="91425" bIns="91425" anchor="t" anchorCtr="0"/>
          <a:lstStyle>
            <a:lvl1pPr marL="50800" marR="0" lvl="0" indent="0" algn="l" rtl="0">
              <a:lnSpc>
                <a:spcPct val="90000"/>
              </a:lnSpc>
              <a:spcBef>
                <a:spcPts val="1000"/>
              </a:spcBef>
              <a:spcAft>
                <a:spcPts val="0"/>
              </a:spcAft>
              <a:buClr>
                <a:srgbClr val="0192BB"/>
              </a:buClr>
              <a:buSzPts val="2800"/>
              <a:buFont typeface="Arial"/>
              <a:buNone/>
              <a:defRPr sz="2000" b="1"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11023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3"/>
        <p:cNvGrpSpPr/>
        <p:nvPr/>
      </p:nvGrpSpPr>
      <p:grpSpPr>
        <a:xfrm>
          <a:off x="0" y="0"/>
          <a:ext cx="0" cy="0"/>
          <a:chOff x="0" y="0"/>
          <a:chExt cx="0" cy="0"/>
        </a:xfrm>
      </p:grpSpPr>
      <p:pic>
        <p:nvPicPr>
          <p:cNvPr id="19" name="Picture 18">
            <a:extLst>
              <a:ext uri="{FF2B5EF4-FFF2-40B4-BE49-F238E27FC236}">
                <a16:creationId xmlns:a16="http://schemas.microsoft.com/office/drawing/2014/main" id="{6A0DD1E6-A4E9-43EF-8591-F1AEA7724B8C}"/>
              </a:ext>
            </a:extLst>
          </p:cNvPr>
          <p:cNvPicPr>
            <a:picLocks noChangeAspect="1"/>
          </p:cNvPicPr>
          <p:nvPr userDrawn="1"/>
        </p:nvPicPr>
        <p:blipFill>
          <a:blip r:embed="rId2"/>
          <a:stretch>
            <a:fillRect/>
          </a:stretch>
        </p:blipFill>
        <p:spPr>
          <a:xfrm>
            <a:off x="6720621" y="229938"/>
            <a:ext cx="2118579" cy="894022"/>
          </a:xfrm>
          <a:prstGeom prst="rect">
            <a:avLst/>
          </a:prstGeom>
        </p:spPr>
      </p:pic>
      <p:pic>
        <p:nvPicPr>
          <p:cNvPr id="20" name="Picture 19">
            <a:extLst>
              <a:ext uri="{FF2B5EF4-FFF2-40B4-BE49-F238E27FC236}">
                <a16:creationId xmlns:a16="http://schemas.microsoft.com/office/drawing/2014/main" id="{591021EF-C11C-403E-9AEE-7FC4CC652414}"/>
              </a:ext>
            </a:extLst>
          </p:cNvPr>
          <p:cNvPicPr>
            <a:picLocks noChangeAspect="1"/>
          </p:cNvPicPr>
          <p:nvPr userDrawn="1"/>
        </p:nvPicPr>
        <p:blipFill>
          <a:blip r:embed="rId3"/>
          <a:stretch>
            <a:fillRect/>
          </a:stretch>
        </p:blipFill>
        <p:spPr>
          <a:xfrm>
            <a:off x="116730" y="419523"/>
            <a:ext cx="4403388" cy="4896255"/>
          </a:xfrm>
          <a:prstGeom prst="rect">
            <a:avLst/>
          </a:prstGeom>
        </p:spPr>
      </p:pic>
      <p:pic>
        <p:nvPicPr>
          <p:cNvPr id="21" name="Picture 20">
            <a:extLst>
              <a:ext uri="{FF2B5EF4-FFF2-40B4-BE49-F238E27FC236}">
                <a16:creationId xmlns:a16="http://schemas.microsoft.com/office/drawing/2014/main" id="{29A66C10-DC54-4291-8C36-D049FBECB4F6}"/>
              </a:ext>
            </a:extLst>
          </p:cNvPr>
          <p:cNvPicPr>
            <a:picLocks noChangeAspect="1"/>
          </p:cNvPicPr>
          <p:nvPr userDrawn="1"/>
        </p:nvPicPr>
        <p:blipFill>
          <a:blip r:embed="rId4"/>
          <a:stretch>
            <a:fillRect/>
          </a:stretch>
        </p:blipFill>
        <p:spPr>
          <a:xfrm>
            <a:off x="32425" y="51755"/>
            <a:ext cx="4876801" cy="629179"/>
          </a:xfrm>
          <a:prstGeom prst="rect">
            <a:avLst/>
          </a:prstGeom>
        </p:spPr>
      </p:pic>
      <p:sp>
        <p:nvSpPr>
          <p:cNvPr id="22" name="Shape 17">
            <a:extLst>
              <a:ext uri="{FF2B5EF4-FFF2-40B4-BE49-F238E27FC236}">
                <a16:creationId xmlns:a16="http://schemas.microsoft.com/office/drawing/2014/main" id="{CE5E8ECB-A843-42FA-BBB9-88A9D24A0E62}"/>
              </a:ext>
            </a:extLst>
          </p:cNvPr>
          <p:cNvSpPr txBox="1">
            <a:spLocks noGrp="1"/>
          </p:cNvSpPr>
          <p:nvPr>
            <p:ph type="title"/>
          </p:nvPr>
        </p:nvSpPr>
        <p:spPr>
          <a:xfrm>
            <a:off x="360198" y="1008915"/>
            <a:ext cx="3563288" cy="3258285"/>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24" name="Shape 18">
            <a:extLst>
              <a:ext uri="{FF2B5EF4-FFF2-40B4-BE49-F238E27FC236}">
                <a16:creationId xmlns:a16="http://schemas.microsoft.com/office/drawing/2014/main" id="{462168C6-D0A1-432A-9C9F-5287E0423881}"/>
              </a:ext>
            </a:extLst>
          </p:cNvPr>
          <p:cNvSpPr txBox="1">
            <a:spLocks noGrp="1"/>
          </p:cNvSpPr>
          <p:nvPr>
            <p:ph type="body" idx="13"/>
          </p:nvPr>
        </p:nvSpPr>
        <p:spPr>
          <a:xfrm>
            <a:off x="1" y="39468"/>
            <a:ext cx="2866034" cy="482103"/>
          </a:xfrm>
          <a:prstGeom prst="rect">
            <a:avLst/>
          </a:prstGeom>
          <a:noFill/>
          <a:ln>
            <a:noFill/>
          </a:ln>
        </p:spPr>
        <p:txBody>
          <a:bodyPr spcFirstLastPara="1" wrap="square" lIns="91425" tIns="91425" rIns="91425" bIns="91425" anchor="t" anchorCtr="0"/>
          <a:lstStyle>
            <a:lvl1pPr marL="50800" marR="0" lvl="0" indent="0" algn="l" rtl="0">
              <a:lnSpc>
                <a:spcPct val="90000"/>
              </a:lnSpc>
              <a:spcBef>
                <a:spcPts val="1000"/>
              </a:spcBef>
              <a:spcAft>
                <a:spcPts val="0"/>
              </a:spcAft>
              <a:buClr>
                <a:srgbClr val="0192BB"/>
              </a:buClr>
              <a:buSzPts val="2800"/>
              <a:buFont typeface="Arial"/>
              <a:buNone/>
              <a:defRPr sz="20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3611150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69245" y="151673"/>
            <a:ext cx="7886700" cy="731971"/>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18" name="Shape 18"/>
          <p:cNvSpPr txBox="1">
            <a:spLocks noGrp="1"/>
          </p:cNvSpPr>
          <p:nvPr>
            <p:ph type="body" idx="1"/>
          </p:nvPr>
        </p:nvSpPr>
        <p:spPr>
          <a:xfrm>
            <a:off x="369245" y="1194297"/>
            <a:ext cx="3867150" cy="32623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rgbClr val="0192BB"/>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20" name="Shape 2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Shape 2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Shape 2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
        <p:nvSpPr>
          <p:cNvPr id="11" name="Shape 18">
            <a:extLst>
              <a:ext uri="{FF2B5EF4-FFF2-40B4-BE49-F238E27FC236}">
                <a16:creationId xmlns:a16="http://schemas.microsoft.com/office/drawing/2014/main" id="{9943ED1E-42F9-4F77-9D08-872C6AF5CB9C}"/>
              </a:ext>
            </a:extLst>
          </p:cNvPr>
          <p:cNvSpPr txBox="1">
            <a:spLocks noGrp="1"/>
          </p:cNvSpPr>
          <p:nvPr>
            <p:ph type="body" idx="13"/>
          </p:nvPr>
        </p:nvSpPr>
        <p:spPr>
          <a:xfrm>
            <a:off x="4388795" y="1208923"/>
            <a:ext cx="3867150" cy="32623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rgbClr val="0192BB"/>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pic>
        <p:nvPicPr>
          <p:cNvPr id="9" name="Picture 8">
            <a:extLst>
              <a:ext uri="{FF2B5EF4-FFF2-40B4-BE49-F238E27FC236}">
                <a16:creationId xmlns:a16="http://schemas.microsoft.com/office/drawing/2014/main" id="{43C73991-F280-47D5-A2CC-27EF0C1C10B5}"/>
              </a:ext>
            </a:extLst>
          </p:cNvPr>
          <p:cNvPicPr>
            <a:picLocks noChangeAspect="1"/>
          </p:cNvPicPr>
          <p:nvPr userDrawn="1"/>
        </p:nvPicPr>
        <p:blipFill>
          <a:blip r:embed="rId2"/>
          <a:stretch>
            <a:fillRect/>
          </a:stretch>
        </p:blipFill>
        <p:spPr>
          <a:xfrm>
            <a:off x="8362517" y="188777"/>
            <a:ext cx="669036" cy="64479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69245" y="151673"/>
            <a:ext cx="7886700" cy="731971"/>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20" name="Shape 2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Shape 2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Shape 2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9" name="Picture 8">
            <a:extLst>
              <a:ext uri="{FF2B5EF4-FFF2-40B4-BE49-F238E27FC236}">
                <a16:creationId xmlns:a16="http://schemas.microsoft.com/office/drawing/2014/main" id="{43C73991-F280-47D5-A2CC-27EF0C1C10B5}"/>
              </a:ext>
            </a:extLst>
          </p:cNvPr>
          <p:cNvPicPr>
            <a:picLocks noChangeAspect="1"/>
          </p:cNvPicPr>
          <p:nvPr userDrawn="1"/>
        </p:nvPicPr>
        <p:blipFill>
          <a:blip r:embed="rId2"/>
          <a:stretch>
            <a:fillRect/>
          </a:stretch>
        </p:blipFill>
        <p:spPr>
          <a:xfrm>
            <a:off x="8362517" y="188777"/>
            <a:ext cx="669036" cy="644795"/>
          </a:xfrm>
          <a:prstGeom prst="rect">
            <a:avLst/>
          </a:prstGeom>
        </p:spPr>
      </p:pic>
      <p:sp>
        <p:nvSpPr>
          <p:cNvPr id="7" name="Shape 18">
            <a:extLst>
              <a:ext uri="{FF2B5EF4-FFF2-40B4-BE49-F238E27FC236}">
                <a16:creationId xmlns:a16="http://schemas.microsoft.com/office/drawing/2014/main" id="{E77D22BE-2158-42D1-B30C-41225653EB46}"/>
              </a:ext>
            </a:extLst>
          </p:cNvPr>
          <p:cNvSpPr txBox="1">
            <a:spLocks noGrp="1"/>
          </p:cNvSpPr>
          <p:nvPr>
            <p:ph type="body" idx="1"/>
          </p:nvPr>
        </p:nvSpPr>
        <p:spPr>
          <a:xfrm>
            <a:off x="369245" y="1194297"/>
            <a:ext cx="3867150" cy="32623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rgbClr val="0192BB"/>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2901478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69245" y="151673"/>
            <a:ext cx="7886700" cy="731971"/>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20" name="Shape 2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Shape 2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Shape 2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
        <p:nvSpPr>
          <p:cNvPr id="6" name="Shape 18">
            <a:extLst>
              <a:ext uri="{FF2B5EF4-FFF2-40B4-BE49-F238E27FC236}">
                <a16:creationId xmlns:a16="http://schemas.microsoft.com/office/drawing/2014/main" id="{8C4DF7C0-2CC5-4354-AA9B-37CE92C76A22}"/>
              </a:ext>
            </a:extLst>
          </p:cNvPr>
          <p:cNvSpPr txBox="1">
            <a:spLocks noGrp="1"/>
          </p:cNvSpPr>
          <p:nvPr>
            <p:ph type="body" idx="1"/>
          </p:nvPr>
        </p:nvSpPr>
        <p:spPr>
          <a:xfrm>
            <a:off x="369245" y="1194297"/>
            <a:ext cx="3867150" cy="32623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rgbClr val="0192BB"/>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1806912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69245" y="151673"/>
            <a:ext cx="7886700" cy="731971"/>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18" name="Shape 18"/>
          <p:cNvSpPr txBox="1">
            <a:spLocks noGrp="1"/>
          </p:cNvSpPr>
          <p:nvPr>
            <p:ph type="body" idx="1"/>
          </p:nvPr>
        </p:nvSpPr>
        <p:spPr>
          <a:xfrm>
            <a:off x="369245" y="1194297"/>
            <a:ext cx="3867150" cy="32623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rgbClr val="0192BB"/>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20" name="Shape 2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Shape 2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Shape 2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9" name="Picture 8">
            <a:extLst>
              <a:ext uri="{FF2B5EF4-FFF2-40B4-BE49-F238E27FC236}">
                <a16:creationId xmlns:a16="http://schemas.microsoft.com/office/drawing/2014/main" id="{43C73991-F280-47D5-A2CC-27EF0C1C10B5}"/>
              </a:ext>
            </a:extLst>
          </p:cNvPr>
          <p:cNvPicPr>
            <a:picLocks noChangeAspect="1"/>
          </p:cNvPicPr>
          <p:nvPr userDrawn="1"/>
        </p:nvPicPr>
        <p:blipFill>
          <a:blip r:embed="rId2"/>
          <a:stretch>
            <a:fillRect/>
          </a:stretch>
        </p:blipFill>
        <p:spPr>
          <a:xfrm>
            <a:off x="8362517" y="188777"/>
            <a:ext cx="669036" cy="644795"/>
          </a:xfrm>
          <a:prstGeom prst="rect">
            <a:avLst/>
          </a:prstGeom>
        </p:spPr>
      </p:pic>
      <p:pic>
        <p:nvPicPr>
          <p:cNvPr id="3" name="Picture 2">
            <a:extLst>
              <a:ext uri="{FF2B5EF4-FFF2-40B4-BE49-F238E27FC236}">
                <a16:creationId xmlns:a16="http://schemas.microsoft.com/office/drawing/2014/main" id="{363275FB-0A68-45FD-8530-536CBEC52755}"/>
              </a:ext>
            </a:extLst>
          </p:cNvPr>
          <p:cNvPicPr>
            <a:picLocks noChangeAspect="1"/>
          </p:cNvPicPr>
          <p:nvPr userDrawn="1"/>
        </p:nvPicPr>
        <p:blipFill>
          <a:blip r:embed="rId3"/>
          <a:stretch>
            <a:fillRect/>
          </a:stretch>
        </p:blipFill>
        <p:spPr>
          <a:xfrm>
            <a:off x="4907607" y="1144303"/>
            <a:ext cx="5309185" cy="3810420"/>
          </a:xfrm>
          <a:prstGeom prst="rect">
            <a:avLst/>
          </a:prstGeom>
        </p:spPr>
      </p:pic>
    </p:spTree>
    <p:extLst>
      <p:ext uri="{BB962C8B-B14F-4D97-AF65-F5344CB8AC3E}">
        <p14:creationId xmlns:p14="http://schemas.microsoft.com/office/powerpoint/2010/main" val="1245838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16"/>
        <p:cNvGrpSpPr/>
        <p:nvPr/>
      </p:nvGrpSpPr>
      <p:grpSpPr>
        <a:xfrm>
          <a:off x="0" y="0"/>
          <a:ext cx="0" cy="0"/>
          <a:chOff x="0" y="0"/>
          <a:chExt cx="0" cy="0"/>
        </a:xfrm>
      </p:grpSpPr>
      <p:sp>
        <p:nvSpPr>
          <p:cNvPr id="20" name="Shape 2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Shape 2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Shape 2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6" name="Picture 5">
            <a:extLst>
              <a:ext uri="{FF2B5EF4-FFF2-40B4-BE49-F238E27FC236}">
                <a16:creationId xmlns:a16="http://schemas.microsoft.com/office/drawing/2014/main" id="{4EC9892B-F871-4B5E-8DD9-55DBDF25264F}"/>
              </a:ext>
            </a:extLst>
          </p:cNvPr>
          <p:cNvPicPr>
            <a:picLocks noChangeAspect="1"/>
          </p:cNvPicPr>
          <p:nvPr userDrawn="1"/>
        </p:nvPicPr>
        <p:blipFill>
          <a:blip r:embed="rId2"/>
          <a:stretch>
            <a:fillRect/>
          </a:stretch>
        </p:blipFill>
        <p:spPr>
          <a:xfrm>
            <a:off x="181179" y="498498"/>
            <a:ext cx="5772149" cy="603969"/>
          </a:xfrm>
          <a:prstGeom prst="rect">
            <a:avLst/>
          </a:prstGeom>
        </p:spPr>
      </p:pic>
      <p:pic>
        <p:nvPicPr>
          <p:cNvPr id="4" name="Picture 3">
            <a:extLst>
              <a:ext uri="{FF2B5EF4-FFF2-40B4-BE49-F238E27FC236}">
                <a16:creationId xmlns:a16="http://schemas.microsoft.com/office/drawing/2014/main" id="{212B86A6-893E-4A87-BA59-7B3DA1619E9A}"/>
              </a:ext>
            </a:extLst>
          </p:cNvPr>
          <p:cNvPicPr>
            <a:picLocks noChangeAspect="1"/>
          </p:cNvPicPr>
          <p:nvPr userDrawn="1"/>
        </p:nvPicPr>
        <p:blipFill>
          <a:blip r:embed="rId3"/>
          <a:stretch>
            <a:fillRect/>
          </a:stretch>
        </p:blipFill>
        <p:spPr>
          <a:xfrm>
            <a:off x="158200" y="101601"/>
            <a:ext cx="3272421" cy="426894"/>
          </a:xfrm>
          <a:prstGeom prst="rect">
            <a:avLst/>
          </a:prstGeom>
        </p:spPr>
      </p:pic>
      <p:pic>
        <p:nvPicPr>
          <p:cNvPr id="8" name="Picture 7">
            <a:extLst>
              <a:ext uri="{FF2B5EF4-FFF2-40B4-BE49-F238E27FC236}">
                <a16:creationId xmlns:a16="http://schemas.microsoft.com/office/drawing/2014/main" id="{A29FB0CE-3758-41DC-9845-BF082BCFB730}"/>
              </a:ext>
            </a:extLst>
          </p:cNvPr>
          <p:cNvPicPr>
            <a:picLocks noChangeAspect="1"/>
          </p:cNvPicPr>
          <p:nvPr userDrawn="1"/>
        </p:nvPicPr>
        <p:blipFill>
          <a:blip r:embed="rId4"/>
          <a:stretch>
            <a:fillRect/>
          </a:stretch>
        </p:blipFill>
        <p:spPr>
          <a:xfrm>
            <a:off x="6769335" y="226979"/>
            <a:ext cx="2193486" cy="925632"/>
          </a:xfrm>
          <a:prstGeom prst="rect">
            <a:avLst/>
          </a:prstGeom>
        </p:spPr>
      </p:pic>
      <p:sp>
        <p:nvSpPr>
          <p:cNvPr id="17" name="Shape 17"/>
          <p:cNvSpPr txBox="1">
            <a:spLocks noGrp="1"/>
          </p:cNvSpPr>
          <p:nvPr>
            <p:ph type="title"/>
          </p:nvPr>
        </p:nvSpPr>
        <p:spPr>
          <a:xfrm>
            <a:off x="258997" y="494556"/>
            <a:ext cx="5648935" cy="679249"/>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16" name="Shape 17">
            <a:extLst>
              <a:ext uri="{FF2B5EF4-FFF2-40B4-BE49-F238E27FC236}">
                <a16:creationId xmlns:a16="http://schemas.microsoft.com/office/drawing/2014/main" id="{4FED39FE-7697-4A1C-9C7F-EE4039A2B216}"/>
              </a:ext>
            </a:extLst>
          </p:cNvPr>
          <p:cNvSpPr txBox="1">
            <a:spLocks/>
          </p:cNvSpPr>
          <p:nvPr userDrawn="1"/>
        </p:nvSpPr>
        <p:spPr>
          <a:xfrm>
            <a:off x="181179" y="119264"/>
            <a:ext cx="3197561" cy="409232"/>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lang="en-GB" sz="2000" dirty="0"/>
          </a:p>
        </p:txBody>
      </p:sp>
      <p:sp>
        <p:nvSpPr>
          <p:cNvPr id="19" name="Shape 18">
            <a:extLst>
              <a:ext uri="{FF2B5EF4-FFF2-40B4-BE49-F238E27FC236}">
                <a16:creationId xmlns:a16="http://schemas.microsoft.com/office/drawing/2014/main" id="{BB4A1D27-BC4C-4114-831E-78D1D945F4E5}"/>
              </a:ext>
            </a:extLst>
          </p:cNvPr>
          <p:cNvSpPr txBox="1">
            <a:spLocks noGrp="1"/>
          </p:cNvSpPr>
          <p:nvPr>
            <p:ph type="body" idx="1"/>
          </p:nvPr>
        </p:nvSpPr>
        <p:spPr>
          <a:xfrm>
            <a:off x="181180" y="1566760"/>
            <a:ext cx="3664491" cy="29075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rgbClr val="00B6C6"/>
              </a:buClr>
              <a:buSzPts val="2800"/>
              <a:buFont typeface="Arial"/>
              <a:buChar char="•"/>
              <a:defRPr sz="2800" b="0" i="0" u="none" strike="noStrike" cap="none">
                <a:solidFill>
                  <a:schemeClr val="tx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23" name="Shape 18">
            <a:extLst>
              <a:ext uri="{FF2B5EF4-FFF2-40B4-BE49-F238E27FC236}">
                <a16:creationId xmlns:a16="http://schemas.microsoft.com/office/drawing/2014/main" id="{50A990C5-4FA0-40C9-A6AA-2ACC8F6F0765}"/>
              </a:ext>
            </a:extLst>
          </p:cNvPr>
          <p:cNvSpPr txBox="1">
            <a:spLocks noGrp="1"/>
          </p:cNvSpPr>
          <p:nvPr>
            <p:ph type="body" idx="13"/>
          </p:nvPr>
        </p:nvSpPr>
        <p:spPr>
          <a:xfrm>
            <a:off x="125775" y="-7962"/>
            <a:ext cx="3116779" cy="482103"/>
          </a:xfrm>
          <a:prstGeom prst="rect">
            <a:avLst/>
          </a:prstGeom>
          <a:noFill/>
          <a:ln>
            <a:noFill/>
          </a:ln>
        </p:spPr>
        <p:txBody>
          <a:bodyPr spcFirstLastPara="1" wrap="square" lIns="91425" tIns="91425" rIns="91425" bIns="91425" anchor="t" anchorCtr="0"/>
          <a:lstStyle>
            <a:lvl1pPr marL="50800" marR="0" lvl="0" indent="0" algn="l" rtl="0">
              <a:lnSpc>
                <a:spcPct val="90000"/>
              </a:lnSpc>
              <a:spcBef>
                <a:spcPts val="1000"/>
              </a:spcBef>
              <a:spcAft>
                <a:spcPts val="0"/>
              </a:spcAft>
              <a:buClr>
                <a:srgbClr val="0192BB"/>
              </a:buClr>
              <a:buSzPts val="2800"/>
              <a:buFont typeface="Arial"/>
              <a:buNone/>
              <a:defRPr sz="20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1904063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69245" y="151673"/>
            <a:ext cx="7886700" cy="731971"/>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18" name="Shape 18"/>
          <p:cNvSpPr txBox="1">
            <a:spLocks noGrp="1"/>
          </p:cNvSpPr>
          <p:nvPr>
            <p:ph type="body" idx="1"/>
          </p:nvPr>
        </p:nvSpPr>
        <p:spPr>
          <a:xfrm>
            <a:off x="382214" y="1440729"/>
            <a:ext cx="5810302" cy="3262312"/>
          </a:xfrm>
          <a:prstGeom prst="rect">
            <a:avLst/>
          </a:prstGeom>
          <a:solidFill>
            <a:srgbClr val="F48220"/>
          </a:solidFill>
          <a:ln>
            <a:noFill/>
          </a:ln>
        </p:spPr>
        <p:txBody>
          <a:bodyPr spcFirstLastPara="1" wrap="square" lIns="91425" tIns="91425" rIns="91425" bIns="91425" anchor="t" anchorCtr="0"/>
          <a:lstStyle>
            <a:lvl1pPr marL="50800" marR="0" lvl="0" indent="0" algn="l" rtl="0">
              <a:lnSpc>
                <a:spcPct val="90000"/>
              </a:lnSpc>
              <a:spcBef>
                <a:spcPts val="1000"/>
              </a:spcBef>
              <a:spcAft>
                <a:spcPts val="0"/>
              </a:spcAft>
              <a:buClr>
                <a:srgbClr val="0192BB"/>
              </a:buClr>
              <a:buSzPts val="2800"/>
              <a:buFont typeface="Arial"/>
              <a:buNone/>
              <a:defRPr sz="28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20" name="Shape 2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Shape 2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Shape 2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9" name="Picture 8">
            <a:extLst>
              <a:ext uri="{FF2B5EF4-FFF2-40B4-BE49-F238E27FC236}">
                <a16:creationId xmlns:a16="http://schemas.microsoft.com/office/drawing/2014/main" id="{43C73991-F280-47D5-A2CC-27EF0C1C10B5}"/>
              </a:ext>
            </a:extLst>
          </p:cNvPr>
          <p:cNvPicPr>
            <a:picLocks noChangeAspect="1"/>
          </p:cNvPicPr>
          <p:nvPr userDrawn="1"/>
        </p:nvPicPr>
        <p:blipFill>
          <a:blip r:embed="rId2"/>
          <a:stretch>
            <a:fillRect/>
          </a:stretch>
        </p:blipFill>
        <p:spPr>
          <a:xfrm>
            <a:off x="8362517" y="188777"/>
            <a:ext cx="669036" cy="644795"/>
          </a:xfrm>
          <a:prstGeom prst="rect">
            <a:avLst/>
          </a:prstGeom>
        </p:spPr>
      </p:pic>
      <p:pic>
        <p:nvPicPr>
          <p:cNvPr id="3" name="Picture 2">
            <a:extLst>
              <a:ext uri="{FF2B5EF4-FFF2-40B4-BE49-F238E27FC236}">
                <a16:creationId xmlns:a16="http://schemas.microsoft.com/office/drawing/2014/main" id="{363275FB-0A68-45FD-8530-536CBEC52755}"/>
              </a:ext>
            </a:extLst>
          </p:cNvPr>
          <p:cNvPicPr>
            <a:picLocks noChangeAspect="1"/>
          </p:cNvPicPr>
          <p:nvPr userDrawn="1"/>
        </p:nvPicPr>
        <p:blipFill>
          <a:blip r:embed="rId3"/>
          <a:stretch>
            <a:fillRect/>
          </a:stretch>
        </p:blipFill>
        <p:spPr>
          <a:xfrm>
            <a:off x="6192516" y="1473152"/>
            <a:ext cx="2554226" cy="3312306"/>
          </a:xfrm>
          <a:prstGeom prst="rect">
            <a:avLst/>
          </a:prstGeom>
        </p:spPr>
      </p:pic>
    </p:spTree>
    <p:extLst>
      <p:ext uri="{BB962C8B-B14F-4D97-AF65-F5344CB8AC3E}">
        <p14:creationId xmlns:p14="http://schemas.microsoft.com/office/powerpoint/2010/main" val="337466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628650" y="274638"/>
            <a:ext cx="7886700" cy="993775"/>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25" name="Shape 25"/>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 name="Shape 26"/>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 name="Shape 27"/>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6" name="Shape 12">
            <a:extLst>
              <a:ext uri="{FF2B5EF4-FFF2-40B4-BE49-F238E27FC236}">
                <a16:creationId xmlns:a16="http://schemas.microsoft.com/office/drawing/2014/main" id="{5D22B041-6C5C-4987-9168-C47A6A53ACFA}"/>
              </a:ext>
            </a:extLst>
          </p:cNvPr>
          <p:cNvPicPr preferRelativeResize="0"/>
          <p:nvPr userDrawn="1"/>
        </p:nvPicPr>
        <p:blipFill rotWithShape="1">
          <a:blip r:embed="rId2">
            <a:alphaModFix/>
          </a:blip>
          <a:srcRect/>
          <a:stretch/>
        </p:blipFill>
        <p:spPr>
          <a:xfrm>
            <a:off x="7943398" y="444616"/>
            <a:ext cx="571952" cy="57195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628650" y="274638"/>
            <a:ext cx="7886700" cy="993775"/>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39" name="Shape 39"/>
          <p:cNvSpPr txBox="1">
            <a:spLocks noGrp="1"/>
          </p:cNvSpPr>
          <p:nvPr>
            <p:ph type="body" idx="1"/>
          </p:nvPr>
        </p:nvSpPr>
        <p:spPr>
          <a:xfrm rot="5400000">
            <a:off x="2940844" y="-942181"/>
            <a:ext cx="3262312" cy="78867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Shape 4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1" name="Shape 4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 name="Shape 4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7" name="Shape 12">
            <a:extLst>
              <a:ext uri="{FF2B5EF4-FFF2-40B4-BE49-F238E27FC236}">
                <a16:creationId xmlns:a16="http://schemas.microsoft.com/office/drawing/2014/main" id="{ECC06066-DDAF-436D-A2FC-11B5B401CCC9}"/>
              </a:ext>
            </a:extLst>
          </p:cNvPr>
          <p:cNvPicPr preferRelativeResize="0"/>
          <p:nvPr userDrawn="1"/>
        </p:nvPicPr>
        <p:blipFill rotWithShape="1">
          <a:blip r:embed="rId2">
            <a:alphaModFix/>
          </a:blip>
          <a:srcRect/>
          <a:stretch/>
        </p:blipFill>
        <p:spPr>
          <a:xfrm>
            <a:off x="7943398" y="444616"/>
            <a:ext cx="571952" cy="57195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preserve="1" userDrawn="1">
  <p:cSld name="1_Title and Vertical Text">
    <p:spTree>
      <p:nvGrpSpPr>
        <p:cNvPr id="1" name="Shape 37"/>
        <p:cNvGrpSpPr/>
        <p:nvPr/>
      </p:nvGrpSpPr>
      <p:grpSpPr>
        <a:xfrm>
          <a:off x="0" y="0"/>
          <a:ext cx="0" cy="0"/>
          <a:chOff x="0" y="0"/>
          <a:chExt cx="0" cy="0"/>
        </a:xfrm>
      </p:grpSpPr>
      <p:sp>
        <p:nvSpPr>
          <p:cNvPr id="40" name="Shape 40"/>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1" name="Shape 41"/>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 name="Shape 42"/>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
        <p:nvSpPr>
          <p:cNvPr id="5" name="Shape 18">
            <a:extLst>
              <a:ext uri="{FF2B5EF4-FFF2-40B4-BE49-F238E27FC236}">
                <a16:creationId xmlns:a16="http://schemas.microsoft.com/office/drawing/2014/main" id="{B1155839-2F7B-4898-8DD0-EE386F42F22C}"/>
              </a:ext>
            </a:extLst>
          </p:cNvPr>
          <p:cNvSpPr txBox="1">
            <a:spLocks noGrp="1"/>
          </p:cNvSpPr>
          <p:nvPr>
            <p:ph type="body" idx="1"/>
          </p:nvPr>
        </p:nvSpPr>
        <p:spPr>
          <a:xfrm>
            <a:off x="181180" y="1566760"/>
            <a:ext cx="3664491" cy="29075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rgbClr val="00B6C6"/>
              </a:buClr>
              <a:buSzPts val="2800"/>
              <a:buFont typeface="Arial"/>
              <a:buChar char="•"/>
              <a:defRPr sz="2800" b="0" i="0" u="none" strike="noStrike" cap="none">
                <a:solidFill>
                  <a:schemeClr val="tx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6" name="Shape 38">
            <a:extLst>
              <a:ext uri="{FF2B5EF4-FFF2-40B4-BE49-F238E27FC236}">
                <a16:creationId xmlns:a16="http://schemas.microsoft.com/office/drawing/2014/main" id="{11630397-D3C4-4413-9568-FA23A6BA7B1F}"/>
              </a:ext>
            </a:extLst>
          </p:cNvPr>
          <p:cNvSpPr txBox="1">
            <a:spLocks noGrp="1"/>
          </p:cNvSpPr>
          <p:nvPr>
            <p:ph type="title"/>
          </p:nvPr>
        </p:nvSpPr>
        <p:spPr>
          <a:xfrm>
            <a:off x="248717" y="274638"/>
            <a:ext cx="8266633" cy="993775"/>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Tree>
    <p:extLst>
      <p:ext uri="{BB962C8B-B14F-4D97-AF65-F5344CB8AC3E}">
        <p14:creationId xmlns:p14="http://schemas.microsoft.com/office/powerpoint/2010/main" val="3784698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
        <p:cNvGrpSpPr/>
        <p:nvPr/>
      </p:nvGrpSpPr>
      <p:grpSpPr>
        <a:xfrm>
          <a:off x="0" y="0"/>
          <a:ext cx="0" cy="0"/>
          <a:chOff x="0" y="0"/>
          <a:chExt cx="0" cy="0"/>
        </a:xfrm>
      </p:grpSpPr>
      <p:sp>
        <p:nvSpPr>
          <p:cNvPr id="70" name="Shape 70"/>
          <p:cNvSpPr txBox="1">
            <a:spLocks noGrp="1"/>
          </p:cNvSpPr>
          <p:nvPr>
            <p:ph type="title"/>
          </p:nvPr>
        </p:nvSpPr>
        <p:spPr>
          <a:xfrm rot="5400000">
            <a:off x="5542958" y="1275354"/>
            <a:ext cx="3973107" cy="1971675"/>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dirty="0"/>
          </a:p>
        </p:txBody>
      </p:sp>
      <p:sp>
        <p:nvSpPr>
          <p:cNvPr id="71" name="Shape 71"/>
          <p:cNvSpPr txBox="1">
            <a:spLocks noGrp="1"/>
          </p:cNvSpPr>
          <p:nvPr>
            <p:ph type="body" idx="1"/>
          </p:nvPr>
        </p:nvSpPr>
        <p:spPr>
          <a:xfrm rot="5400000">
            <a:off x="1331119" y="-427831"/>
            <a:ext cx="4357687" cy="5762625"/>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72" name="Shape 72"/>
          <p:cNvSpPr txBox="1">
            <a:spLocks noGrp="1"/>
          </p:cNvSpPr>
          <p:nvPr>
            <p:ph type="dt" idx="10"/>
          </p:nvPr>
        </p:nvSpPr>
        <p:spPr>
          <a:xfrm>
            <a:off x="628650" y="4767263"/>
            <a:ext cx="20574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3" name="Shape 73"/>
          <p:cNvSpPr txBox="1">
            <a:spLocks noGrp="1"/>
          </p:cNvSpPr>
          <p:nvPr>
            <p:ph type="ftr" idx="11"/>
          </p:nvPr>
        </p:nvSpPr>
        <p:spPr>
          <a:xfrm>
            <a:off x="3028950" y="4767263"/>
            <a:ext cx="3086100" cy="27463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4" name="Shape 74"/>
          <p:cNvSpPr txBox="1">
            <a:spLocks noGrp="1"/>
          </p:cNvSpPr>
          <p:nvPr>
            <p:ph type="sldNum" idx="12"/>
          </p:nvPr>
        </p:nvSpPr>
        <p:spPr>
          <a:xfrm>
            <a:off x="6457950" y="4767263"/>
            <a:ext cx="20574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3" name="Picture 2">
            <a:extLst>
              <a:ext uri="{FF2B5EF4-FFF2-40B4-BE49-F238E27FC236}">
                <a16:creationId xmlns:a16="http://schemas.microsoft.com/office/drawing/2014/main" id="{6ACA6EE1-0180-4C62-A385-7BC58CB13DA8}"/>
              </a:ext>
            </a:extLst>
          </p:cNvPr>
          <p:cNvPicPr>
            <a:picLocks noChangeAspect="1"/>
          </p:cNvPicPr>
          <p:nvPr userDrawn="1"/>
        </p:nvPicPr>
        <p:blipFill>
          <a:blip r:embed="rId2"/>
          <a:stretch>
            <a:fillRect/>
          </a:stretch>
        </p:blipFill>
        <p:spPr>
          <a:xfrm>
            <a:off x="6734175" y="4370833"/>
            <a:ext cx="1848053" cy="77986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28650" y="274638"/>
            <a:ext cx="7886700" cy="993775"/>
          </a:xfrm>
          <a:prstGeom prst="rect">
            <a:avLst/>
          </a:prstGeom>
          <a:noFill/>
          <a:ln>
            <a:noFill/>
          </a:ln>
        </p:spPr>
        <p:txBody>
          <a:bodyPr spcFirstLastPara="1" wrap="square" lIns="91425" tIns="91425" rIns="91425" bIns="91425" anchor="ctr" anchorCtr="0"/>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11" name="Shape 11"/>
          <p:cNvSpPr txBox="1">
            <a:spLocks noGrp="1"/>
          </p:cNvSpPr>
          <p:nvPr>
            <p:ph type="body" idx="1"/>
          </p:nvPr>
        </p:nvSpPr>
        <p:spPr>
          <a:xfrm>
            <a:off x="628650" y="1370013"/>
            <a:ext cx="7886700" cy="3262312"/>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7" r:id="rId2"/>
    <p:sldLayoutId id="2147483649" r:id="rId3"/>
    <p:sldLayoutId id="2147483668" r:id="rId4"/>
    <p:sldLayoutId id="2147483669" r:id="rId5"/>
    <p:sldLayoutId id="2147483664" r:id="rId6"/>
    <p:sldLayoutId id="2147483666" r:id="rId7"/>
    <p:sldLayoutId id="2147483665" r:id="rId8"/>
    <p:sldLayoutId id="2147483650" r:id="rId9"/>
    <p:sldLayoutId id="2147483652" r:id="rId10"/>
    <p:sldLayoutId id="2147483663"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3.jpe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17.jp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3.png"/><Relationship Id="rId7"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jp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7.jpe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D69F-2209-48BB-8AE6-4CCB95C06B2B}"/>
              </a:ext>
            </a:extLst>
          </p:cNvPr>
          <p:cNvSpPr>
            <a:spLocks noGrp="1"/>
          </p:cNvSpPr>
          <p:nvPr>
            <p:ph type="title"/>
          </p:nvPr>
        </p:nvSpPr>
        <p:spPr>
          <a:xfrm>
            <a:off x="133223" y="444711"/>
            <a:ext cx="5346646" cy="679249"/>
          </a:xfrm>
        </p:spPr>
        <p:txBody>
          <a:bodyPr/>
          <a:lstStyle/>
          <a:p>
            <a:r>
              <a:rPr lang="en-GB" dirty="0">
                <a:latin typeface="Segoe UI" panose="020B0502040204020203" pitchFamily="34" charset="0"/>
                <a:cs typeface="Segoe UI" panose="020B0502040204020203" pitchFamily="34" charset="0"/>
              </a:rPr>
              <a:t>TAKE FIVE Staff Training</a:t>
            </a:r>
          </a:p>
        </p:txBody>
      </p:sp>
      <p:sp>
        <p:nvSpPr>
          <p:cNvPr id="5" name="Text Placeholder 4">
            <a:extLst>
              <a:ext uri="{FF2B5EF4-FFF2-40B4-BE49-F238E27FC236}">
                <a16:creationId xmlns:a16="http://schemas.microsoft.com/office/drawing/2014/main" id="{AA814F4A-42AA-4393-BF01-1AAC86ED48EA}"/>
              </a:ext>
            </a:extLst>
          </p:cNvPr>
          <p:cNvSpPr>
            <a:spLocks noGrp="1"/>
          </p:cNvSpPr>
          <p:nvPr>
            <p:ph type="body" idx="13"/>
          </p:nvPr>
        </p:nvSpPr>
        <p:spPr>
          <a:xfrm>
            <a:off x="0" y="-57807"/>
            <a:ext cx="3174273" cy="482103"/>
          </a:xfrm>
        </p:spPr>
        <p:txBody>
          <a:bodyPr/>
          <a:lstStyle/>
          <a:p>
            <a:r>
              <a:rPr lang="en-GB" b="1" dirty="0"/>
              <a:t>GDPR Data Protection</a:t>
            </a:r>
          </a:p>
        </p:txBody>
      </p:sp>
      <p:sp>
        <p:nvSpPr>
          <p:cNvPr id="9" name="Title 1">
            <a:extLst>
              <a:ext uri="{FF2B5EF4-FFF2-40B4-BE49-F238E27FC236}">
                <a16:creationId xmlns:a16="http://schemas.microsoft.com/office/drawing/2014/main" id="{CE8E93E7-92A0-46AF-8CB6-0A52F27A43CD}"/>
              </a:ext>
            </a:extLst>
          </p:cNvPr>
          <p:cNvSpPr txBox="1">
            <a:spLocks/>
          </p:cNvSpPr>
          <p:nvPr/>
        </p:nvSpPr>
        <p:spPr>
          <a:xfrm>
            <a:off x="2618986" y="1794529"/>
            <a:ext cx="4161522" cy="1673659"/>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chemeClr val="bg1"/>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400" b="1" dirty="0">
                <a:solidFill>
                  <a:srgbClr val="F48220"/>
                </a:solidFill>
              </a:rPr>
              <a:t>FOCAL POINT</a:t>
            </a:r>
          </a:p>
          <a:p>
            <a:r>
              <a:rPr lang="en-GB" sz="4400" b="1" dirty="0">
                <a:solidFill>
                  <a:srgbClr val="00B6C6"/>
                </a:solidFill>
              </a:rPr>
              <a:t>A CLEAR DESK &amp; SCREEN POLICY</a:t>
            </a:r>
          </a:p>
        </p:txBody>
      </p:sp>
    </p:spTree>
    <p:extLst>
      <p:ext uri="{BB962C8B-B14F-4D97-AF65-F5344CB8AC3E}">
        <p14:creationId xmlns:p14="http://schemas.microsoft.com/office/powerpoint/2010/main" val="3959157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D69F-2209-48BB-8AE6-4CCB95C06B2B}"/>
              </a:ext>
            </a:extLst>
          </p:cNvPr>
          <p:cNvSpPr>
            <a:spLocks noGrp="1"/>
          </p:cNvSpPr>
          <p:nvPr>
            <p:ph type="title"/>
          </p:nvPr>
        </p:nvSpPr>
        <p:spPr>
          <a:xfrm>
            <a:off x="2085167" y="1545957"/>
            <a:ext cx="5183538" cy="2398363"/>
          </a:xfrm>
          <a:solidFill>
            <a:srgbClr val="FFFFFF">
              <a:alpha val="83000"/>
            </a:srgbClr>
          </a:solidFill>
        </p:spPr>
        <p:txBody>
          <a:bodyPr/>
          <a:lstStyle/>
          <a:p>
            <a:pPr algn="ctr"/>
            <a:r>
              <a:rPr lang="en-GB" sz="2400" b="1" dirty="0"/>
              <a:t>Is a clear desk policy </a:t>
            </a:r>
            <a:r>
              <a:rPr lang="en-GB" sz="2400" b="1" dirty="0">
                <a:solidFill>
                  <a:srgbClr val="F48220"/>
                </a:solidFill>
              </a:rPr>
              <a:t>more</a:t>
            </a:r>
            <a:r>
              <a:rPr lang="en-GB" sz="2400" b="1" dirty="0"/>
              <a:t> that </a:t>
            </a:r>
            <a:r>
              <a:rPr lang="en-GB" sz="2400" b="1" i="1" dirty="0"/>
              <a:t>just</a:t>
            </a:r>
            <a:r>
              <a:rPr lang="en-GB" sz="2400" b="1" dirty="0"/>
              <a:t> having a clear desk?</a:t>
            </a:r>
            <a:endParaRPr lang="en-GB" sz="24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51029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9054A-24E6-42D0-832A-479F05E7A8E8}"/>
              </a:ext>
            </a:extLst>
          </p:cNvPr>
          <p:cNvSpPr>
            <a:spLocks noGrp="1"/>
          </p:cNvSpPr>
          <p:nvPr>
            <p:ph type="title"/>
          </p:nvPr>
        </p:nvSpPr>
        <p:spPr>
          <a:xfrm>
            <a:off x="369245" y="241373"/>
            <a:ext cx="6558028" cy="731971"/>
          </a:xfrm>
        </p:spPr>
        <p:txBody>
          <a:bodyPr/>
          <a:lstStyle/>
          <a:p>
            <a:r>
              <a:rPr lang="en-GB" dirty="0"/>
              <a:t>So, what does a clear desk and screen policy ‘look like’?</a:t>
            </a:r>
          </a:p>
        </p:txBody>
      </p:sp>
      <p:sp>
        <p:nvSpPr>
          <p:cNvPr id="2" name="Text Placeholder 1">
            <a:extLst>
              <a:ext uri="{FF2B5EF4-FFF2-40B4-BE49-F238E27FC236}">
                <a16:creationId xmlns:a16="http://schemas.microsoft.com/office/drawing/2014/main" id="{9AB2E9CC-F9A9-4BEF-B328-C4359A43A454}"/>
              </a:ext>
            </a:extLst>
          </p:cNvPr>
          <p:cNvSpPr>
            <a:spLocks noGrp="1"/>
          </p:cNvSpPr>
          <p:nvPr>
            <p:ph type="body" idx="1"/>
          </p:nvPr>
        </p:nvSpPr>
        <p:spPr>
          <a:xfrm>
            <a:off x="382213" y="1443231"/>
            <a:ext cx="5852332" cy="3262312"/>
          </a:xfrm>
        </p:spPr>
        <p:txBody>
          <a:bodyPr/>
          <a:lstStyle/>
          <a:p>
            <a:pPr marL="0" lvl="0">
              <a:lnSpc>
                <a:spcPct val="100000"/>
              </a:lnSpc>
              <a:spcBef>
                <a:spcPts val="0"/>
              </a:spcBef>
              <a:buClr>
                <a:srgbClr val="000000"/>
              </a:buClr>
              <a:buSzPts val="1800"/>
            </a:pPr>
            <a:r>
              <a:rPr lang="en-GB" sz="2000" i="1" dirty="0">
                <a:latin typeface="Calibri"/>
                <a:ea typeface="Calibri"/>
                <a:cs typeface="Calibri"/>
              </a:rPr>
              <a:t>BRAINSTORM…</a:t>
            </a:r>
            <a:endParaRPr lang="en-GB" sz="3600" dirty="0">
              <a:latin typeface="Calibri"/>
              <a:ea typeface="Calibri"/>
              <a:cs typeface="Calibri"/>
            </a:endParaRPr>
          </a:p>
          <a:p>
            <a:pPr marL="0" lvl="0">
              <a:lnSpc>
                <a:spcPct val="100000"/>
              </a:lnSpc>
              <a:spcBef>
                <a:spcPts val="0"/>
              </a:spcBef>
              <a:buClr>
                <a:schemeClr val="bg1"/>
              </a:buClr>
              <a:buSzPts val="1800"/>
            </a:pPr>
            <a:r>
              <a:rPr lang="en-GB" sz="3600" dirty="0">
                <a:latin typeface="Calibri"/>
                <a:ea typeface="Calibri"/>
                <a:cs typeface="Calibri"/>
              </a:rPr>
              <a:t>Suggest </a:t>
            </a:r>
          </a:p>
          <a:p>
            <a:pPr marL="571500" lvl="0" indent="-571500">
              <a:lnSpc>
                <a:spcPct val="100000"/>
              </a:lnSpc>
              <a:spcBef>
                <a:spcPts val="0"/>
              </a:spcBef>
              <a:buClr>
                <a:schemeClr val="bg1"/>
              </a:buClr>
              <a:buSzPts val="1800"/>
              <a:buFontTx/>
              <a:buChar char="-"/>
            </a:pPr>
            <a:r>
              <a:rPr lang="en-GB" sz="3600" dirty="0">
                <a:latin typeface="Calibri"/>
                <a:ea typeface="Calibri"/>
                <a:cs typeface="Calibri"/>
              </a:rPr>
              <a:t>1 x benefit    </a:t>
            </a:r>
            <a:r>
              <a:rPr lang="en-GB" sz="3600" i="1" dirty="0">
                <a:latin typeface="Calibri"/>
                <a:ea typeface="Calibri"/>
                <a:cs typeface="Calibri"/>
              </a:rPr>
              <a:t>or</a:t>
            </a:r>
          </a:p>
          <a:p>
            <a:pPr marL="571500" lvl="0" indent="-571500">
              <a:lnSpc>
                <a:spcPct val="100000"/>
              </a:lnSpc>
              <a:spcBef>
                <a:spcPts val="0"/>
              </a:spcBef>
              <a:buClr>
                <a:schemeClr val="bg1"/>
              </a:buClr>
              <a:buSzPts val="1800"/>
              <a:buFontTx/>
              <a:buChar char="-"/>
            </a:pPr>
            <a:r>
              <a:rPr lang="en-GB" sz="3600" dirty="0">
                <a:latin typeface="Calibri"/>
                <a:ea typeface="Calibri"/>
                <a:cs typeface="Calibri"/>
              </a:rPr>
              <a:t>1 x element</a:t>
            </a:r>
            <a:br>
              <a:rPr lang="en-GB" sz="3600" dirty="0">
                <a:latin typeface="Calibri"/>
                <a:ea typeface="Calibri"/>
                <a:cs typeface="Calibri"/>
              </a:rPr>
            </a:br>
            <a:r>
              <a:rPr lang="en-GB" sz="3600" dirty="0">
                <a:latin typeface="Calibri"/>
                <a:ea typeface="Calibri"/>
                <a:cs typeface="Calibri"/>
              </a:rPr>
              <a:t>you associate with a clear desk and screen policy.</a:t>
            </a:r>
          </a:p>
          <a:p>
            <a:pPr marL="0" lvl="0">
              <a:lnSpc>
                <a:spcPct val="100000"/>
              </a:lnSpc>
              <a:spcBef>
                <a:spcPts val="0"/>
              </a:spcBef>
              <a:buClr>
                <a:schemeClr val="bg1"/>
              </a:buClr>
              <a:buSzPts val="1800"/>
            </a:pPr>
            <a:r>
              <a:rPr lang="en-GB" sz="3600" dirty="0">
                <a:latin typeface="Calibri"/>
                <a:cs typeface="Calibri"/>
              </a:rPr>
              <a:t>(can be a benefit or an</a:t>
            </a:r>
            <a:endParaRPr lang="en-GB" sz="3600" dirty="0"/>
          </a:p>
        </p:txBody>
      </p:sp>
    </p:spTree>
    <p:extLst>
      <p:ext uri="{BB962C8B-B14F-4D97-AF65-F5344CB8AC3E}">
        <p14:creationId xmlns:p14="http://schemas.microsoft.com/office/powerpoint/2010/main" val="28917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22E2D7-D14B-492A-AEF0-D1B0F35F774B}"/>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l="-80"/>
          <a:stretch/>
        </p:blipFill>
        <p:spPr>
          <a:xfrm flipH="1">
            <a:off x="999666" y="1104998"/>
            <a:ext cx="5891088" cy="4318584"/>
          </a:xfrm>
          <a:prstGeom prst="rect">
            <a:avLst/>
          </a:prstGeom>
        </p:spPr>
      </p:pic>
      <p:sp>
        <p:nvSpPr>
          <p:cNvPr id="8" name="Oval 7">
            <a:extLst>
              <a:ext uri="{FF2B5EF4-FFF2-40B4-BE49-F238E27FC236}">
                <a16:creationId xmlns:a16="http://schemas.microsoft.com/office/drawing/2014/main" id="{3D094AFD-6ABD-4B87-B851-E0BE9A83728F}"/>
              </a:ext>
            </a:extLst>
          </p:cNvPr>
          <p:cNvSpPr/>
          <p:nvPr/>
        </p:nvSpPr>
        <p:spPr>
          <a:xfrm>
            <a:off x="-119259" y="3086557"/>
            <a:ext cx="3111520" cy="22991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EC0EC5EE-0FA6-4FEB-97B1-E19E784616E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2708387"/>
            <a:ext cx="3324386" cy="2435113"/>
          </a:xfrm>
          <a:prstGeom prst="rect">
            <a:avLst/>
          </a:prstGeom>
        </p:spPr>
      </p:pic>
      <p:sp>
        <p:nvSpPr>
          <p:cNvPr id="13" name="Title 8">
            <a:extLst>
              <a:ext uri="{FF2B5EF4-FFF2-40B4-BE49-F238E27FC236}">
                <a16:creationId xmlns:a16="http://schemas.microsoft.com/office/drawing/2014/main" id="{C5B2000B-C90C-42EA-A91F-7EAC64934BFA}"/>
              </a:ext>
            </a:extLst>
          </p:cNvPr>
          <p:cNvSpPr txBox="1">
            <a:spLocks/>
          </p:cNvSpPr>
          <p:nvPr/>
        </p:nvSpPr>
        <p:spPr>
          <a:xfrm>
            <a:off x="404344" y="262648"/>
            <a:ext cx="7886700" cy="731971"/>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dirty="0"/>
              <a:t>I’m glad to see you’ve cleared everything off your desk</a:t>
            </a:r>
          </a:p>
        </p:txBody>
      </p:sp>
      <p:pic>
        <p:nvPicPr>
          <p:cNvPr id="14" name="Picture 13">
            <a:extLst>
              <a:ext uri="{FF2B5EF4-FFF2-40B4-BE49-F238E27FC236}">
                <a16:creationId xmlns:a16="http://schemas.microsoft.com/office/drawing/2014/main" id="{A0889B4D-F296-4792-BE18-1DD1CA2424B2}"/>
              </a:ext>
            </a:extLst>
          </p:cNvPr>
          <p:cNvPicPr>
            <a:picLocks noChangeAspect="1"/>
          </p:cNvPicPr>
          <p:nvPr/>
        </p:nvPicPr>
        <p:blipFill rotWithShape="1">
          <a:blip r:embed="rId5" cstate="screen">
            <a:extLst>
              <a:ext uri="{28A0092B-C50C-407E-A947-70E740481C1C}">
                <a14:useLocalDpi xmlns:a14="http://schemas.microsoft.com/office/drawing/2010/main" val="0"/>
              </a:ext>
            </a:extLst>
          </a:blip>
          <a:srcRect l="32075"/>
          <a:stretch/>
        </p:blipFill>
        <p:spPr>
          <a:xfrm>
            <a:off x="6738819" y="532385"/>
            <a:ext cx="562068" cy="1451734"/>
          </a:xfrm>
          <a:prstGeom prst="rect">
            <a:avLst/>
          </a:prstGeom>
        </p:spPr>
      </p:pic>
      <p:sp>
        <p:nvSpPr>
          <p:cNvPr id="15" name="Title 8">
            <a:extLst>
              <a:ext uri="{FF2B5EF4-FFF2-40B4-BE49-F238E27FC236}">
                <a16:creationId xmlns:a16="http://schemas.microsoft.com/office/drawing/2014/main" id="{E2DB12EB-D9DA-4CE5-87A5-F8236D1976EB}"/>
              </a:ext>
            </a:extLst>
          </p:cNvPr>
          <p:cNvSpPr txBox="1">
            <a:spLocks/>
          </p:cNvSpPr>
          <p:nvPr/>
        </p:nvSpPr>
        <p:spPr>
          <a:xfrm>
            <a:off x="6897954" y="2100727"/>
            <a:ext cx="2246046" cy="2510388"/>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0192BB"/>
              </a:buClr>
            </a:pPr>
            <a:r>
              <a:rPr lang="en-GB" sz="1800" dirty="0"/>
              <a:t>A clear desk policy is all about protecting information… </a:t>
            </a:r>
          </a:p>
          <a:p>
            <a:pPr>
              <a:buClr>
                <a:srgbClr val="0192BB"/>
              </a:buClr>
            </a:pPr>
            <a:endParaRPr lang="en-GB" sz="1800" dirty="0"/>
          </a:p>
          <a:p>
            <a:pPr>
              <a:buClr>
                <a:srgbClr val="0192BB"/>
              </a:buClr>
            </a:pPr>
            <a:r>
              <a:rPr lang="en-GB" sz="1800" dirty="0"/>
              <a:t>It’s one of the </a:t>
            </a:r>
            <a:r>
              <a:rPr lang="en-GB" sz="1800" b="1" dirty="0">
                <a:solidFill>
                  <a:srgbClr val="F48220"/>
                </a:solidFill>
              </a:rPr>
              <a:t>simplest ways </a:t>
            </a:r>
            <a:r>
              <a:rPr lang="en-GB" sz="1800" dirty="0"/>
              <a:t>to reduce the risk of a data breach.</a:t>
            </a:r>
          </a:p>
        </p:txBody>
      </p:sp>
    </p:spTree>
    <p:extLst>
      <p:ext uri="{BB962C8B-B14F-4D97-AF65-F5344CB8AC3E}">
        <p14:creationId xmlns:p14="http://schemas.microsoft.com/office/powerpoint/2010/main" val="29112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par>
                                <p:cTn id="13" presetID="42" presetClass="entr" presetSubtype="0" fill="hold" nodeType="with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13" name="Title 8">
            <a:extLst>
              <a:ext uri="{FF2B5EF4-FFF2-40B4-BE49-F238E27FC236}">
                <a16:creationId xmlns:a16="http://schemas.microsoft.com/office/drawing/2014/main" id="{C5B2000B-C90C-42EA-A91F-7EAC64934BFA}"/>
              </a:ext>
            </a:extLst>
          </p:cNvPr>
          <p:cNvSpPr txBox="1">
            <a:spLocks/>
          </p:cNvSpPr>
          <p:nvPr/>
        </p:nvSpPr>
        <p:spPr>
          <a:xfrm>
            <a:off x="94378" y="2316174"/>
            <a:ext cx="3811194" cy="2441806"/>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800" dirty="0"/>
              <a:t>A tidy desk also helps to </a:t>
            </a:r>
            <a:r>
              <a:rPr lang="en-GB" sz="2800" b="1" dirty="0">
                <a:solidFill>
                  <a:srgbClr val="F48220"/>
                </a:solidFill>
              </a:rPr>
              <a:t>reduce stress </a:t>
            </a:r>
            <a:r>
              <a:rPr lang="en-GB" sz="2800" dirty="0"/>
              <a:t>and to </a:t>
            </a:r>
            <a:r>
              <a:rPr lang="en-GB" sz="2800" b="1" dirty="0">
                <a:solidFill>
                  <a:srgbClr val="F48220"/>
                </a:solidFill>
              </a:rPr>
              <a:t>work smarter </a:t>
            </a:r>
            <a:r>
              <a:rPr lang="en-GB" sz="2800" dirty="0"/>
              <a:t>…as well as reducing workplace accidents and spills.</a:t>
            </a:r>
          </a:p>
        </p:txBody>
      </p:sp>
      <p:sp>
        <p:nvSpPr>
          <p:cNvPr id="9" name="Title 8">
            <a:extLst>
              <a:ext uri="{FF2B5EF4-FFF2-40B4-BE49-F238E27FC236}">
                <a16:creationId xmlns:a16="http://schemas.microsoft.com/office/drawing/2014/main" id="{1A04E839-73C5-4A17-8B0C-07DE5EF352F3}"/>
              </a:ext>
            </a:extLst>
          </p:cNvPr>
          <p:cNvSpPr txBox="1">
            <a:spLocks/>
          </p:cNvSpPr>
          <p:nvPr/>
        </p:nvSpPr>
        <p:spPr>
          <a:xfrm rot="260676">
            <a:off x="4874175" y="2081097"/>
            <a:ext cx="2319474" cy="2259507"/>
          </a:xfrm>
          <a:prstGeom prst="rect">
            <a:avLst/>
          </a:prstGeom>
          <a:noFill/>
          <a:ln>
            <a:noFill/>
          </a:ln>
        </p:spPr>
        <p:txBody>
          <a:bodyPr spcFirstLastPara="1" wrap="square" lIns="91425" tIns="91425" rIns="91425" bIns="91425" anchor="t"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50000"/>
              </a:lnSpc>
              <a:buClr>
                <a:srgbClr val="0192BB"/>
              </a:buClr>
              <a:buSzPct val="100000"/>
            </a:pPr>
            <a:r>
              <a:rPr lang="en-GB" sz="2400" dirty="0">
                <a:solidFill>
                  <a:schemeClr val="bg2"/>
                </a:solidFill>
                <a:latin typeface="AR CHRISTY" panose="02000000000000000000" pitchFamily="2" charset="0"/>
              </a:rPr>
              <a:t>Driving…</a:t>
            </a:r>
          </a:p>
          <a:p>
            <a:pPr marL="457200" indent="-457200">
              <a:lnSpc>
                <a:spcPct val="150000"/>
              </a:lnSpc>
              <a:buClr>
                <a:srgbClr val="0192BB"/>
              </a:buClr>
              <a:buSzPct val="100000"/>
              <a:buFont typeface="Wingdings" panose="05000000000000000000" pitchFamily="2" charset="2"/>
              <a:buChar char="ü"/>
            </a:pPr>
            <a:r>
              <a:rPr lang="en-GB" sz="2400" dirty="0">
                <a:solidFill>
                  <a:schemeClr val="bg2"/>
                </a:solidFill>
                <a:latin typeface="AR CHRISTY" panose="02000000000000000000" pitchFamily="2" charset="0"/>
              </a:rPr>
              <a:t>Productivity</a:t>
            </a:r>
          </a:p>
          <a:p>
            <a:pPr marL="457200" indent="-457200">
              <a:lnSpc>
                <a:spcPct val="150000"/>
              </a:lnSpc>
              <a:buClr>
                <a:srgbClr val="0192BB"/>
              </a:buClr>
              <a:buSzPct val="100000"/>
              <a:buFont typeface="Wingdings" panose="05000000000000000000" pitchFamily="2" charset="2"/>
              <a:buChar char="ü"/>
            </a:pPr>
            <a:r>
              <a:rPr lang="en-GB" sz="2400" dirty="0">
                <a:solidFill>
                  <a:schemeClr val="bg2"/>
                </a:solidFill>
                <a:latin typeface="AR CHRISTY" panose="02000000000000000000" pitchFamily="2" charset="0"/>
              </a:rPr>
              <a:t>Creativity</a:t>
            </a:r>
          </a:p>
        </p:txBody>
      </p:sp>
    </p:spTree>
    <p:extLst>
      <p:ext uri="{BB962C8B-B14F-4D97-AF65-F5344CB8AC3E}">
        <p14:creationId xmlns:p14="http://schemas.microsoft.com/office/powerpoint/2010/main" val="2833906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559E54D-E490-4E5D-AB86-F3D8F4536921}"/>
              </a:ext>
            </a:extLst>
          </p:cNvPr>
          <p:cNvSpPr>
            <a:spLocks noGrp="1"/>
          </p:cNvSpPr>
          <p:nvPr>
            <p:ph type="title"/>
          </p:nvPr>
        </p:nvSpPr>
        <p:spPr/>
        <p:txBody>
          <a:bodyPr/>
          <a:lstStyle/>
          <a:p>
            <a:r>
              <a:rPr lang="en-GB" sz="4000" dirty="0"/>
              <a:t>Clear desks…          Clear screens…</a:t>
            </a:r>
          </a:p>
        </p:txBody>
      </p:sp>
      <p:pic>
        <p:nvPicPr>
          <p:cNvPr id="15" name="Picture 14">
            <a:extLst>
              <a:ext uri="{FF2B5EF4-FFF2-40B4-BE49-F238E27FC236}">
                <a16:creationId xmlns:a16="http://schemas.microsoft.com/office/drawing/2014/main" id="{A6E340E0-B1D3-468E-9D90-5343F38766A2}"/>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09653" y="883644"/>
            <a:ext cx="1724673" cy="1721799"/>
          </a:xfrm>
          <a:prstGeom prst="rect">
            <a:avLst/>
          </a:prstGeom>
        </p:spPr>
      </p:pic>
      <p:pic>
        <p:nvPicPr>
          <p:cNvPr id="17" name="Picture 16">
            <a:extLst>
              <a:ext uri="{FF2B5EF4-FFF2-40B4-BE49-F238E27FC236}">
                <a16:creationId xmlns:a16="http://schemas.microsoft.com/office/drawing/2014/main" id="{FF1C99FE-BC04-46EE-9D23-CC68514C169D}"/>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65339" y="3542043"/>
            <a:ext cx="1803136" cy="1558425"/>
          </a:xfrm>
          <a:prstGeom prst="rect">
            <a:avLst/>
          </a:prstGeom>
        </p:spPr>
      </p:pic>
      <p:pic>
        <p:nvPicPr>
          <p:cNvPr id="10" name="Picture 9">
            <a:extLst>
              <a:ext uri="{FF2B5EF4-FFF2-40B4-BE49-F238E27FC236}">
                <a16:creationId xmlns:a16="http://schemas.microsoft.com/office/drawing/2014/main" id="{67612D81-7913-4702-8DAB-35ACD5FEA2A9}"/>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51942" y="151673"/>
            <a:ext cx="1850189" cy="2434848"/>
          </a:xfrm>
          <a:prstGeom prst="rect">
            <a:avLst/>
          </a:prstGeom>
        </p:spPr>
      </p:pic>
      <p:pic>
        <p:nvPicPr>
          <p:cNvPr id="19" name="Picture 18">
            <a:extLst>
              <a:ext uri="{FF2B5EF4-FFF2-40B4-BE49-F238E27FC236}">
                <a16:creationId xmlns:a16="http://schemas.microsoft.com/office/drawing/2014/main" id="{587F6160-A48B-47DD-BA0D-E9085465DFA8}"/>
              </a:ext>
            </a:extLst>
          </p:cNvPr>
          <p:cNvPicPr>
            <a:picLocks noChangeAspect="1"/>
          </p:cNvPicPr>
          <p:nvPr/>
        </p:nvPicPr>
        <p:blipFill>
          <a:blip r:embed="rId6" cstate="screen">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11220" y="1361458"/>
            <a:ext cx="2090294" cy="1392136"/>
          </a:xfrm>
          <a:prstGeom prst="rect">
            <a:avLst/>
          </a:prstGeom>
        </p:spPr>
      </p:pic>
      <p:pic>
        <p:nvPicPr>
          <p:cNvPr id="21" name="Picture 20">
            <a:extLst>
              <a:ext uri="{FF2B5EF4-FFF2-40B4-BE49-F238E27FC236}">
                <a16:creationId xmlns:a16="http://schemas.microsoft.com/office/drawing/2014/main" id="{2132CF12-C8E2-4E12-B243-2C855E1DAC7A}"/>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5419130" y="921579"/>
            <a:ext cx="3844388" cy="2763154"/>
          </a:xfrm>
          <a:prstGeom prst="rect">
            <a:avLst/>
          </a:prstGeom>
        </p:spPr>
      </p:pic>
      <p:pic>
        <p:nvPicPr>
          <p:cNvPr id="23" name="Picture 22">
            <a:extLst>
              <a:ext uri="{FF2B5EF4-FFF2-40B4-BE49-F238E27FC236}">
                <a16:creationId xmlns:a16="http://schemas.microsoft.com/office/drawing/2014/main" id="{D92A0723-32C2-43F1-8A0B-919844BA0196}"/>
              </a:ext>
            </a:extLst>
          </p:cNvPr>
          <p:cNvPicPr>
            <a:picLocks noChangeAspect="1"/>
          </p:cNvPicPr>
          <p:nvPr/>
        </p:nvPicPr>
        <p:blipFill>
          <a:blip r:embed="rId8" cstate="screen">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53917" y="2972887"/>
            <a:ext cx="2133600" cy="2133600"/>
          </a:xfrm>
          <a:prstGeom prst="rect">
            <a:avLst/>
          </a:prstGeom>
        </p:spPr>
      </p:pic>
      <p:sp>
        <p:nvSpPr>
          <p:cNvPr id="24" name="TextBox 23">
            <a:extLst>
              <a:ext uri="{FF2B5EF4-FFF2-40B4-BE49-F238E27FC236}">
                <a16:creationId xmlns:a16="http://schemas.microsoft.com/office/drawing/2014/main" id="{EA7D85DB-DA2B-4949-87D9-EA857F60CC99}"/>
              </a:ext>
            </a:extLst>
          </p:cNvPr>
          <p:cNvSpPr txBox="1"/>
          <p:nvPr/>
        </p:nvSpPr>
        <p:spPr>
          <a:xfrm>
            <a:off x="4917022" y="966313"/>
            <a:ext cx="3130494" cy="1323439"/>
          </a:xfrm>
          <a:prstGeom prst="rect">
            <a:avLst/>
          </a:prstGeom>
          <a:noFill/>
        </p:spPr>
        <p:txBody>
          <a:bodyPr wrap="square" rtlCol="0">
            <a:spAutoFit/>
          </a:bodyPr>
          <a:lstStyle/>
          <a:p>
            <a:r>
              <a:rPr lang="en-GB" sz="1600" dirty="0">
                <a:solidFill>
                  <a:srgbClr val="F48220"/>
                </a:solidFill>
                <a:latin typeface="Segoe UI" panose="020B0502040204020203" pitchFamily="34" charset="0"/>
                <a:cs typeface="Segoe UI" panose="020B0502040204020203" pitchFamily="34" charset="0"/>
              </a:rPr>
              <a:t>Angle screens away from view</a:t>
            </a:r>
          </a:p>
          <a:p>
            <a:endParaRPr lang="en-GB" sz="1600" dirty="0">
              <a:solidFill>
                <a:srgbClr val="F48220"/>
              </a:solidFill>
              <a:latin typeface="Segoe UI" panose="020B0502040204020203" pitchFamily="34" charset="0"/>
              <a:cs typeface="Segoe UI" panose="020B0502040204020203" pitchFamily="34" charset="0"/>
            </a:endParaRPr>
          </a:p>
          <a:p>
            <a:r>
              <a:rPr lang="en-GB" sz="1600" dirty="0">
                <a:solidFill>
                  <a:srgbClr val="F48220"/>
                </a:solidFill>
                <a:latin typeface="Segoe UI" panose="020B0502040204020203" pitchFamily="34" charset="0"/>
                <a:cs typeface="Segoe UI" panose="020B0502040204020203" pitchFamily="34" charset="0"/>
              </a:rPr>
              <a:t>Lock screens </a:t>
            </a:r>
            <a:br>
              <a:rPr lang="en-GB" sz="1600" dirty="0">
                <a:solidFill>
                  <a:srgbClr val="F48220"/>
                </a:solidFill>
                <a:latin typeface="Segoe UI" panose="020B0502040204020203" pitchFamily="34" charset="0"/>
                <a:cs typeface="Segoe UI" panose="020B0502040204020203" pitchFamily="34" charset="0"/>
              </a:rPr>
            </a:br>
            <a:r>
              <a:rPr lang="en-GB" sz="1600" dirty="0">
                <a:solidFill>
                  <a:srgbClr val="F48220"/>
                </a:solidFill>
                <a:latin typeface="Segoe UI" panose="020B0502040204020203" pitchFamily="34" charset="0"/>
                <a:cs typeface="Segoe UI" panose="020B0502040204020203" pitchFamily="34" charset="0"/>
              </a:rPr>
              <a:t>     when not </a:t>
            </a:r>
            <a:br>
              <a:rPr lang="en-GB" sz="1600" dirty="0">
                <a:solidFill>
                  <a:srgbClr val="F48220"/>
                </a:solidFill>
                <a:latin typeface="Segoe UI" panose="020B0502040204020203" pitchFamily="34" charset="0"/>
                <a:cs typeface="Segoe UI" panose="020B0502040204020203" pitchFamily="34" charset="0"/>
              </a:rPr>
            </a:br>
            <a:r>
              <a:rPr lang="en-GB" sz="1600" dirty="0">
                <a:solidFill>
                  <a:srgbClr val="F48220"/>
                </a:solidFill>
                <a:latin typeface="Segoe UI" panose="020B0502040204020203" pitchFamily="34" charset="0"/>
                <a:cs typeface="Segoe UI" panose="020B0502040204020203" pitchFamily="34" charset="0"/>
              </a:rPr>
              <a:t>          in use</a:t>
            </a:r>
          </a:p>
        </p:txBody>
      </p:sp>
      <p:sp>
        <p:nvSpPr>
          <p:cNvPr id="25" name="TextBox 24">
            <a:extLst>
              <a:ext uri="{FF2B5EF4-FFF2-40B4-BE49-F238E27FC236}">
                <a16:creationId xmlns:a16="http://schemas.microsoft.com/office/drawing/2014/main" id="{74F7382A-68B4-498F-8F2E-A50FF30B13D7}"/>
              </a:ext>
            </a:extLst>
          </p:cNvPr>
          <p:cNvSpPr txBox="1"/>
          <p:nvPr/>
        </p:nvSpPr>
        <p:spPr>
          <a:xfrm>
            <a:off x="3725521" y="2501107"/>
            <a:ext cx="2383003" cy="830997"/>
          </a:xfrm>
          <a:prstGeom prst="rect">
            <a:avLst/>
          </a:prstGeom>
          <a:noFill/>
        </p:spPr>
        <p:txBody>
          <a:bodyPr wrap="square" rtlCol="0">
            <a:spAutoFit/>
          </a:bodyPr>
          <a:lstStyle/>
          <a:p>
            <a:r>
              <a:rPr lang="en-GB" sz="1600" dirty="0">
                <a:solidFill>
                  <a:srgbClr val="F48220"/>
                </a:solidFill>
                <a:latin typeface="Segoe UI" panose="020B0502040204020203" pitchFamily="34" charset="0"/>
                <a:cs typeface="Segoe UI" panose="020B0502040204020203" pitchFamily="34" charset="0"/>
              </a:rPr>
              <a:t>Securely dispose of information that is no longer needed</a:t>
            </a:r>
          </a:p>
        </p:txBody>
      </p:sp>
      <p:sp>
        <p:nvSpPr>
          <p:cNvPr id="26" name="TextBox 25">
            <a:extLst>
              <a:ext uri="{FF2B5EF4-FFF2-40B4-BE49-F238E27FC236}">
                <a16:creationId xmlns:a16="http://schemas.microsoft.com/office/drawing/2014/main" id="{67E8305E-DB38-465A-85A5-609DFF22FB07}"/>
              </a:ext>
            </a:extLst>
          </p:cNvPr>
          <p:cNvSpPr txBox="1"/>
          <p:nvPr/>
        </p:nvSpPr>
        <p:spPr>
          <a:xfrm>
            <a:off x="6241233" y="3722669"/>
            <a:ext cx="2652410" cy="1938992"/>
          </a:xfrm>
          <a:prstGeom prst="rect">
            <a:avLst/>
          </a:prstGeom>
          <a:noFill/>
        </p:spPr>
        <p:txBody>
          <a:bodyPr wrap="square" rtlCol="0">
            <a:spAutoFit/>
          </a:bodyPr>
          <a:lstStyle/>
          <a:p>
            <a:r>
              <a:rPr lang="en-GB" sz="4000" b="1" dirty="0">
                <a:solidFill>
                  <a:srgbClr val="F48220"/>
                </a:solidFill>
                <a:latin typeface="Segoe UI" panose="020B0502040204020203" pitchFamily="34" charset="0"/>
                <a:cs typeface="Segoe UI" panose="020B0502040204020203" pitchFamily="34" charset="0"/>
              </a:rPr>
              <a:t>LEAVE IT – LOCK IT!</a:t>
            </a:r>
          </a:p>
          <a:p>
            <a:endParaRPr lang="en-GB" sz="4000" b="1" dirty="0">
              <a:solidFill>
                <a:srgbClr val="F48220"/>
              </a:solidFill>
              <a:latin typeface="Segoe UI" panose="020B0502040204020203" pitchFamily="34" charset="0"/>
              <a:cs typeface="Segoe UI" panose="020B0502040204020203" pitchFamily="34" charset="0"/>
            </a:endParaRPr>
          </a:p>
        </p:txBody>
      </p:sp>
      <p:sp>
        <p:nvSpPr>
          <p:cNvPr id="27" name="TextBox 26">
            <a:extLst>
              <a:ext uri="{FF2B5EF4-FFF2-40B4-BE49-F238E27FC236}">
                <a16:creationId xmlns:a16="http://schemas.microsoft.com/office/drawing/2014/main" id="{7BF6FBB5-89DB-42BA-8F0F-3829278125BD}"/>
              </a:ext>
            </a:extLst>
          </p:cNvPr>
          <p:cNvSpPr txBox="1"/>
          <p:nvPr/>
        </p:nvSpPr>
        <p:spPr>
          <a:xfrm>
            <a:off x="2134326" y="3592268"/>
            <a:ext cx="2683921" cy="1569660"/>
          </a:xfrm>
          <a:prstGeom prst="rect">
            <a:avLst/>
          </a:prstGeom>
          <a:noFill/>
        </p:spPr>
        <p:txBody>
          <a:bodyPr wrap="square" rtlCol="0">
            <a:spAutoFit/>
          </a:bodyPr>
          <a:lstStyle/>
          <a:p>
            <a:r>
              <a:rPr lang="en-GB" sz="1600" dirty="0">
                <a:solidFill>
                  <a:srgbClr val="F48220"/>
                </a:solidFill>
                <a:latin typeface="Segoe UI" panose="020B0502040204020203" pitchFamily="34" charset="0"/>
                <a:cs typeface="Segoe UI" panose="020B0502040204020203" pitchFamily="34" charset="0"/>
              </a:rPr>
              <a:t>Keep private information out of sight and confidential information in locked storage at ALL times when not in use</a:t>
            </a:r>
          </a:p>
          <a:p>
            <a:endParaRPr lang="en-GB" sz="1600" dirty="0">
              <a:solidFill>
                <a:srgbClr val="F48220"/>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95536D14-B2C6-4E38-BAE5-54A2F12F1543}"/>
              </a:ext>
            </a:extLst>
          </p:cNvPr>
          <p:cNvSpPr txBox="1"/>
          <p:nvPr/>
        </p:nvSpPr>
        <p:spPr>
          <a:xfrm>
            <a:off x="119056" y="2587936"/>
            <a:ext cx="2917071" cy="830997"/>
          </a:xfrm>
          <a:prstGeom prst="rect">
            <a:avLst/>
          </a:prstGeom>
          <a:noFill/>
        </p:spPr>
        <p:txBody>
          <a:bodyPr wrap="square" rtlCol="0">
            <a:spAutoFit/>
          </a:bodyPr>
          <a:lstStyle/>
          <a:p>
            <a:r>
              <a:rPr lang="en-GB" sz="1600" dirty="0">
                <a:solidFill>
                  <a:srgbClr val="F48220"/>
                </a:solidFill>
                <a:latin typeface="Segoe UI" panose="020B0502040204020203" pitchFamily="34" charset="0"/>
                <a:cs typeface="Segoe UI" panose="020B0502040204020203" pitchFamily="34" charset="0"/>
              </a:rPr>
              <a:t>Put away all documents and files from desks and worktops at the end of the day</a:t>
            </a:r>
          </a:p>
        </p:txBody>
      </p:sp>
    </p:spTree>
    <p:extLst>
      <p:ext uri="{BB962C8B-B14F-4D97-AF65-F5344CB8AC3E}">
        <p14:creationId xmlns:p14="http://schemas.microsoft.com/office/powerpoint/2010/main" val="275745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D69F-2209-48BB-8AE6-4CCB95C06B2B}"/>
              </a:ext>
            </a:extLst>
          </p:cNvPr>
          <p:cNvSpPr>
            <a:spLocks noGrp="1"/>
          </p:cNvSpPr>
          <p:nvPr>
            <p:ph type="title"/>
          </p:nvPr>
        </p:nvSpPr>
        <p:spPr>
          <a:xfrm>
            <a:off x="321539" y="151673"/>
            <a:ext cx="7886700" cy="731971"/>
          </a:xfrm>
        </p:spPr>
        <p:txBody>
          <a:bodyPr/>
          <a:lstStyle/>
          <a:p>
            <a:r>
              <a:rPr lang="en-GB" dirty="0"/>
              <a:t>Tools – The 3Ps </a:t>
            </a:r>
            <a:endParaRPr lang="en-GB" dirty="0">
              <a:latin typeface="Segoe UI" panose="020B0502040204020203" pitchFamily="34" charset="0"/>
              <a:cs typeface="Segoe UI" panose="020B0502040204020203" pitchFamily="34" charset="0"/>
            </a:endParaRPr>
          </a:p>
        </p:txBody>
      </p:sp>
      <p:sp>
        <p:nvSpPr>
          <p:cNvPr id="3" name="Text Placeholder 2">
            <a:extLst>
              <a:ext uri="{FF2B5EF4-FFF2-40B4-BE49-F238E27FC236}">
                <a16:creationId xmlns:a16="http://schemas.microsoft.com/office/drawing/2014/main" id="{12B491EC-7134-463F-B845-E2A4DAAF617B}"/>
              </a:ext>
            </a:extLst>
          </p:cNvPr>
          <p:cNvSpPr>
            <a:spLocks noGrp="1"/>
          </p:cNvSpPr>
          <p:nvPr>
            <p:ph type="body" idx="1"/>
          </p:nvPr>
        </p:nvSpPr>
        <p:spPr>
          <a:xfrm>
            <a:off x="87789" y="3101139"/>
            <a:ext cx="2461819" cy="455446"/>
          </a:xfrm>
        </p:spPr>
        <p:txBody>
          <a:bodyPr/>
          <a:lstStyle/>
          <a:p>
            <a:r>
              <a:rPr lang="en-GB" sz="1800" b="1" dirty="0">
                <a:solidFill>
                  <a:schemeClr val="tx1"/>
                </a:solidFill>
              </a:rPr>
              <a:t>In the morning</a:t>
            </a:r>
            <a:r>
              <a:rPr lang="en-GB" sz="1800" dirty="0">
                <a:solidFill>
                  <a:schemeClr val="tx1"/>
                </a:solidFill>
              </a:rPr>
              <a:t>… Just have out what you need.</a:t>
            </a:r>
          </a:p>
        </p:txBody>
      </p:sp>
      <p:pic>
        <p:nvPicPr>
          <p:cNvPr id="13" name="Picture 12">
            <a:extLst>
              <a:ext uri="{FF2B5EF4-FFF2-40B4-BE49-F238E27FC236}">
                <a16:creationId xmlns:a16="http://schemas.microsoft.com/office/drawing/2014/main" id="{FA139CF6-60D1-498B-BF7D-F8C0C68AB709}"/>
              </a:ext>
            </a:extLst>
          </p:cNvPr>
          <p:cNvPicPr>
            <a:picLocks noChangeAspect="1"/>
          </p:cNvPicPr>
          <p:nvPr/>
        </p:nvPicPr>
        <p:blipFill>
          <a:blip r:embed="rId3"/>
          <a:stretch>
            <a:fillRect/>
          </a:stretch>
        </p:blipFill>
        <p:spPr>
          <a:xfrm>
            <a:off x="242769" y="883644"/>
            <a:ext cx="2739924" cy="2162013"/>
          </a:xfrm>
          <a:prstGeom prst="rect">
            <a:avLst/>
          </a:prstGeom>
        </p:spPr>
      </p:pic>
      <p:sp>
        <p:nvSpPr>
          <p:cNvPr id="14" name="TextBox 13">
            <a:extLst>
              <a:ext uri="{FF2B5EF4-FFF2-40B4-BE49-F238E27FC236}">
                <a16:creationId xmlns:a16="http://schemas.microsoft.com/office/drawing/2014/main" id="{E18F78FB-F14E-4FA9-B962-4FE1400E0DF8}"/>
              </a:ext>
            </a:extLst>
          </p:cNvPr>
          <p:cNvSpPr txBox="1"/>
          <p:nvPr/>
        </p:nvSpPr>
        <p:spPr>
          <a:xfrm>
            <a:off x="768112" y="1630421"/>
            <a:ext cx="1745672" cy="769441"/>
          </a:xfrm>
          <a:prstGeom prst="rect">
            <a:avLst/>
          </a:prstGeom>
          <a:noFill/>
        </p:spPr>
        <p:txBody>
          <a:bodyPr wrap="square" rtlCol="0" anchor="ctr">
            <a:spAutoFit/>
          </a:bodyPr>
          <a:lstStyle/>
          <a:p>
            <a:pPr algn="ctr"/>
            <a:r>
              <a:rPr lang="en-GB" sz="4400" dirty="0"/>
              <a:t>Plan</a:t>
            </a:r>
          </a:p>
        </p:txBody>
      </p:sp>
      <p:pic>
        <p:nvPicPr>
          <p:cNvPr id="23" name="Picture 22">
            <a:extLst>
              <a:ext uri="{FF2B5EF4-FFF2-40B4-BE49-F238E27FC236}">
                <a16:creationId xmlns:a16="http://schemas.microsoft.com/office/drawing/2014/main" id="{5CBD7B9E-B75E-4374-9B7E-37E2D170B428}"/>
              </a:ext>
            </a:extLst>
          </p:cNvPr>
          <p:cNvPicPr>
            <a:picLocks noChangeAspect="1"/>
          </p:cNvPicPr>
          <p:nvPr/>
        </p:nvPicPr>
        <p:blipFill>
          <a:blip r:embed="rId3"/>
          <a:stretch>
            <a:fillRect/>
          </a:stretch>
        </p:blipFill>
        <p:spPr>
          <a:xfrm>
            <a:off x="3232921" y="883644"/>
            <a:ext cx="2739924" cy="2162013"/>
          </a:xfrm>
          <a:prstGeom prst="rect">
            <a:avLst/>
          </a:prstGeom>
        </p:spPr>
      </p:pic>
      <p:pic>
        <p:nvPicPr>
          <p:cNvPr id="24" name="Picture 23">
            <a:extLst>
              <a:ext uri="{FF2B5EF4-FFF2-40B4-BE49-F238E27FC236}">
                <a16:creationId xmlns:a16="http://schemas.microsoft.com/office/drawing/2014/main" id="{CC16BF7D-4EB5-4B0C-816F-8430C4630C01}"/>
              </a:ext>
            </a:extLst>
          </p:cNvPr>
          <p:cNvPicPr>
            <a:picLocks noChangeAspect="1"/>
          </p:cNvPicPr>
          <p:nvPr/>
        </p:nvPicPr>
        <p:blipFill>
          <a:blip r:embed="rId3"/>
          <a:stretch>
            <a:fillRect/>
          </a:stretch>
        </p:blipFill>
        <p:spPr>
          <a:xfrm>
            <a:off x="6223073" y="883644"/>
            <a:ext cx="2739924" cy="2162013"/>
          </a:xfrm>
          <a:prstGeom prst="rect">
            <a:avLst/>
          </a:prstGeom>
        </p:spPr>
      </p:pic>
      <p:sp>
        <p:nvSpPr>
          <p:cNvPr id="25" name="TextBox 24">
            <a:extLst>
              <a:ext uri="{FF2B5EF4-FFF2-40B4-BE49-F238E27FC236}">
                <a16:creationId xmlns:a16="http://schemas.microsoft.com/office/drawing/2014/main" id="{F3148307-82DE-4EC2-8DAF-0C8572DEBD94}"/>
              </a:ext>
            </a:extLst>
          </p:cNvPr>
          <p:cNvSpPr txBox="1"/>
          <p:nvPr/>
        </p:nvSpPr>
        <p:spPr>
          <a:xfrm>
            <a:off x="3641525" y="1630421"/>
            <a:ext cx="1994440" cy="769441"/>
          </a:xfrm>
          <a:prstGeom prst="rect">
            <a:avLst/>
          </a:prstGeom>
          <a:noFill/>
        </p:spPr>
        <p:txBody>
          <a:bodyPr wrap="square" rtlCol="0" anchor="ctr">
            <a:spAutoFit/>
          </a:bodyPr>
          <a:lstStyle/>
          <a:p>
            <a:pPr algn="ctr"/>
            <a:r>
              <a:rPr lang="en-GB" sz="4400" dirty="0"/>
              <a:t>Protect</a:t>
            </a:r>
          </a:p>
        </p:txBody>
      </p:sp>
      <p:sp>
        <p:nvSpPr>
          <p:cNvPr id="26" name="TextBox 25">
            <a:extLst>
              <a:ext uri="{FF2B5EF4-FFF2-40B4-BE49-F238E27FC236}">
                <a16:creationId xmlns:a16="http://schemas.microsoft.com/office/drawing/2014/main" id="{417FE4DA-E253-4FD7-A5D4-0E95C1418F78}"/>
              </a:ext>
            </a:extLst>
          </p:cNvPr>
          <p:cNvSpPr txBox="1"/>
          <p:nvPr/>
        </p:nvSpPr>
        <p:spPr>
          <a:xfrm>
            <a:off x="6614717" y="1630421"/>
            <a:ext cx="2017839" cy="769441"/>
          </a:xfrm>
          <a:prstGeom prst="rect">
            <a:avLst/>
          </a:prstGeom>
          <a:noFill/>
        </p:spPr>
        <p:txBody>
          <a:bodyPr wrap="square" rtlCol="0" anchor="ctr">
            <a:spAutoFit/>
          </a:bodyPr>
          <a:lstStyle/>
          <a:p>
            <a:pPr algn="ctr"/>
            <a:r>
              <a:rPr lang="en-GB" sz="4400" dirty="0"/>
              <a:t>Pick up</a:t>
            </a:r>
          </a:p>
        </p:txBody>
      </p:sp>
      <p:sp>
        <p:nvSpPr>
          <p:cNvPr id="27" name="Text Placeholder 2">
            <a:extLst>
              <a:ext uri="{FF2B5EF4-FFF2-40B4-BE49-F238E27FC236}">
                <a16:creationId xmlns:a16="http://schemas.microsoft.com/office/drawing/2014/main" id="{C8435A73-A689-4617-99A6-25060B8466D1}"/>
              </a:ext>
            </a:extLst>
          </p:cNvPr>
          <p:cNvSpPr txBox="1">
            <a:spLocks/>
          </p:cNvSpPr>
          <p:nvPr/>
        </p:nvSpPr>
        <p:spPr>
          <a:xfrm>
            <a:off x="6098775" y="3101139"/>
            <a:ext cx="3262205" cy="455446"/>
          </a:xfrm>
          <a:prstGeom prst="rect">
            <a:avLst/>
          </a:prstGeom>
          <a:noFill/>
          <a:ln>
            <a:noFill/>
          </a:ln>
        </p:spPr>
        <p:txBody>
          <a:bodyPr spcFirstLastPara="1" wrap="square" lIns="91425" tIns="91425" rIns="91425" bIns="91425" anchor="t" anchorCtr="0"/>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0192BB"/>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GB" sz="1800" b="1" dirty="0">
                <a:solidFill>
                  <a:schemeClr val="tx1"/>
                </a:solidFill>
              </a:rPr>
              <a:t>At the end of the day</a:t>
            </a:r>
            <a:r>
              <a:rPr lang="en-GB" sz="1800" dirty="0">
                <a:solidFill>
                  <a:schemeClr val="tx1"/>
                </a:solidFill>
              </a:rPr>
              <a:t>… dispose of unneeded documents, file and lock away the rest.</a:t>
            </a:r>
          </a:p>
        </p:txBody>
      </p:sp>
      <p:sp>
        <p:nvSpPr>
          <p:cNvPr id="28" name="Text Placeholder 2">
            <a:extLst>
              <a:ext uri="{FF2B5EF4-FFF2-40B4-BE49-F238E27FC236}">
                <a16:creationId xmlns:a16="http://schemas.microsoft.com/office/drawing/2014/main" id="{92ED8E88-113C-418B-B694-3DC408BDDFCA}"/>
              </a:ext>
            </a:extLst>
          </p:cNvPr>
          <p:cNvSpPr txBox="1">
            <a:spLocks/>
          </p:cNvSpPr>
          <p:nvPr/>
        </p:nvSpPr>
        <p:spPr>
          <a:xfrm>
            <a:off x="2619035" y="3101139"/>
            <a:ext cx="3394307" cy="455446"/>
          </a:xfrm>
          <a:prstGeom prst="rect">
            <a:avLst/>
          </a:prstGeom>
          <a:noFill/>
          <a:ln>
            <a:noFill/>
          </a:ln>
        </p:spPr>
        <p:txBody>
          <a:bodyPr spcFirstLastPara="1" wrap="square" lIns="91425" tIns="91425" rIns="91425" bIns="91425" anchor="t" anchorCtr="0"/>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0192BB"/>
              </a:buClr>
              <a:buSzPts val="2800"/>
              <a:buFont typeface="Arial"/>
              <a:buChar char="•"/>
              <a:defRPr sz="2800" b="0" i="0" u="none" strike="noStrike" cap="none">
                <a:solidFill>
                  <a:schemeClr val="dk1"/>
                </a:solidFill>
                <a:latin typeface="Segoe UI" panose="020B0502040204020203" pitchFamily="34" charset="0"/>
                <a:ea typeface="Segoe UI" panose="020B0502040204020203" pitchFamily="34" charset="0"/>
                <a:cs typeface="Segoe UI" panose="020B0502040204020203" pitchFamily="34" charset="0"/>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ctr"/>
            <a:r>
              <a:rPr lang="en-GB" sz="1800" b="1" dirty="0">
                <a:solidFill>
                  <a:schemeClr val="tx1"/>
                </a:solidFill>
              </a:rPr>
              <a:t>When leaving your desk or room </a:t>
            </a:r>
            <a:r>
              <a:rPr lang="en-GB" sz="1800" dirty="0">
                <a:solidFill>
                  <a:schemeClr val="tx1"/>
                </a:solidFill>
              </a:rPr>
              <a:t>… </a:t>
            </a:r>
            <a:r>
              <a:rPr lang="en-GB" sz="1800" b="1" dirty="0">
                <a:solidFill>
                  <a:schemeClr val="tx1"/>
                </a:solidFill>
              </a:rPr>
              <a:t>Lock it!   </a:t>
            </a:r>
            <a:r>
              <a:rPr lang="en-GB" sz="1800" dirty="0">
                <a:solidFill>
                  <a:schemeClr val="tx1"/>
                </a:solidFill>
              </a:rPr>
              <a:t>Information/door/screen:</a:t>
            </a:r>
          </a:p>
        </p:txBody>
      </p:sp>
      <p:pic>
        <p:nvPicPr>
          <p:cNvPr id="5" name="Picture 4">
            <a:extLst>
              <a:ext uri="{FF2B5EF4-FFF2-40B4-BE49-F238E27FC236}">
                <a16:creationId xmlns:a16="http://schemas.microsoft.com/office/drawing/2014/main" id="{61459D4B-9F95-40C9-906D-9C580DA7F5ED}"/>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641525" y="4126046"/>
            <a:ext cx="1632263" cy="982622"/>
          </a:xfrm>
          <a:prstGeom prst="rect">
            <a:avLst/>
          </a:prstGeom>
        </p:spPr>
      </p:pic>
    </p:spTree>
    <p:extLst>
      <p:ext uri="{BB962C8B-B14F-4D97-AF65-F5344CB8AC3E}">
        <p14:creationId xmlns:p14="http://schemas.microsoft.com/office/powerpoint/2010/main" val="68298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15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400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40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15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xEl>
                                              <p:pRg st="0" end="0"/>
                                            </p:txEl>
                                          </p:spTgt>
                                        </p:tgtEl>
                                        <p:attrNameLst>
                                          <p:attrName>style.visibility</p:attrName>
                                        </p:attrNameLst>
                                      </p:cBhvr>
                                      <p:to>
                                        <p:strVal val="visible"/>
                                      </p:to>
                                    </p:set>
                                    <p:animEffect transition="in" filter="fade">
                                      <p:cBhvr>
                                        <p:cTn id="28" dur="500"/>
                                        <p:tgtEl>
                                          <p:spTgt spid="27">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xEl>
                                              <p:pRg st="0" end="0"/>
                                            </p:txEl>
                                          </p:spTgt>
                                        </p:tgtEl>
                                        <p:attrNameLst>
                                          <p:attrName>style.visibility</p:attrName>
                                        </p:attrNameLst>
                                      </p:cBhvr>
                                      <p:to>
                                        <p:strVal val="visible"/>
                                      </p:to>
                                    </p:set>
                                    <p:animEffect transition="in" filter="fade">
                                      <p:cBhvr>
                                        <p:cTn id="31"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4" grpId="0"/>
      <p:bldP spid="25" grpId="0"/>
      <p:bldP spid="26" grpId="0"/>
      <p:bldP spid="27" grpId="0" build="p"/>
      <p:bldP spid="2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Folded Corner 20">
            <a:extLst>
              <a:ext uri="{FF2B5EF4-FFF2-40B4-BE49-F238E27FC236}">
                <a16:creationId xmlns:a16="http://schemas.microsoft.com/office/drawing/2014/main" id="{FE3B9FC7-2B9C-4AAE-B954-2AFAE53DD023}"/>
              </a:ext>
            </a:extLst>
          </p:cNvPr>
          <p:cNvSpPr/>
          <p:nvPr/>
        </p:nvSpPr>
        <p:spPr>
          <a:xfrm>
            <a:off x="3241213" y="1866150"/>
            <a:ext cx="2650917" cy="3090634"/>
          </a:xfrm>
          <a:prstGeom prst="foldedCorner">
            <a:avLst/>
          </a:prstGeom>
        </p:spPr>
        <p:style>
          <a:lnRef idx="2">
            <a:schemeClr val="accent3"/>
          </a:lnRef>
          <a:fillRef idx="1">
            <a:schemeClr val="lt1"/>
          </a:fillRef>
          <a:effectRef idx="0">
            <a:schemeClr val="accent3"/>
          </a:effectRef>
          <a:fontRef idx="minor">
            <a:schemeClr val="dk1"/>
          </a:fontRef>
        </p:style>
        <p:txBody>
          <a:bodyPr rtlCol="0" anchor="b"/>
          <a:lstStyle/>
          <a:p>
            <a:pPr algn="ctr"/>
            <a:r>
              <a:rPr lang="en-GB" dirty="0">
                <a:solidFill>
                  <a:srgbClr val="00B6C6"/>
                </a:solidFill>
              </a:rPr>
              <a:t>Keep out of sight and store securely</a:t>
            </a:r>
          </a:p>
        </p:txBody>
      </p:sp>
      <p:sp>
        <p:nvSpPr>
          <p:cNvPr id="20" name="Rectangle: Folded Corner 19">
            <a:extLst>
              <a:ext uri="{FF2B5EF4-FFF2-40B4-BE49-F238E27FC236}">
                <a16:creationId xmlns:a16="http://schemas.microsoft.com/office/drawing/2014/main" id="{1EFE877E-6BEF-4A44-ACD1-51DCD00E3BC1}"/>
              </a:ext>
            </a:extLst>
          </p:cNvPr>
          <p:cNvSpPr/>
          <p:nvPr/>
        </p:nvSpPr>
        <p:spPr>
          <a:xfrm>
            <a:off x="200702" y="1870977"/>
            <a:ext cx="2650917" cy="3090634"/>
          </a:xfrm>
          <a:prstGeom prst="foldedCorner">
            <a:avLst/>
          </a:prstGeom>
        </p:spPr>
        <p:style>
          <a:lnRef idx="2">
            <a:schemeClr val="accent3"/>
          </a:lnRef>
          <a:fillRef idx="1">
            <a:schemeClr val="lt1"/>
          </a:fillRef>
          <a:effectRef idx="0">
            <a:schemeClr val="accent3"/>
          </a:effectRef>
          <a:fontRef idx="minor">
            <a:schemeClr val="dk1"/>
          </a:fontRef>
        </p:style>
        <p:txBody>
          <a:bodyPr rtlCol="0" anchor="b"/>
          <a:lstStyle/>
          <a:p>
            <a:pPr algn="ctr"/>
            <a:r>
              <a:rPr lang="en-GB" dirty="0"/>
              <a:t>Tidy/file at end of day</a:t>
            </a:r>
          </a:p>
        </p:txBody>
      </p:sp>
      <p:sp>
        <p:nvSpPr>
          <p:cNvPr id="2" name="Title 1">
            <a:extLst>
              <a:ext uri="{FF2B5EF4-FFF2-40B4-BE49-F238E27FC236}">
                <a16:creationId xmlns:a16="http://schemas.microsoft.com/office/drawing/2014/main" id="{4F79D69F-2209-48BB-8AE6-4CCB95C06B2B}"/>
              </a:ext>
            </a:extLst>
          </p:cNvPr>
          <p:cNvSpPr>
            <a:spLocks noGrp="1"/>
          </p:cNvSpPr>
          <p:nvPr>
            <p:ph type="title"/>
          </p:nvPr>
        </p:nvSpPr>
        <p:spPr>
          <a:xfrm>
            <a:off x="321538" y="151673"/>
            <a:ext cx="8870367" cy="731971"/>
          </a:xfrm>
        </p:spPr>
        <p:txBody>
          <a:bodyPr/>
          <a:lstStyle/>
          <a:p>
            <a:r>
              <a:rPr lang="en-GB" dirty="0"/>
              <a:t>Tools – Information classification</a:t>
            </a:r>
            <a:endParaRPr lang="en-GB" dirty="0">
              <a:latin typeface="Segoe UI" panose="020B0502040204020203" pitchFamily="34" charset="0"/>
              <a:cs typeface="Segoe UI" panose="020B0502040204020203" pitchFamily="34" charset="0"/>
            </a:endParaRPr>
          </a:p>
        </p:txBody>
      </p:sp>
      <p:sp>
        <p:nvSpPr>
          <p:cNvPr id="3" name="Text Placeholder 2">
            <a:extLst>
              <a:ext uri="{FF2B5EF4-FFF2-40B4-BE49-F238E27FC236}">
                <a16:creationId xmlns:a16="http://schemas.microsoft.com/office/drawing/2014/main" id="{12B491EC-7134-463F-B845-E2A4DAAF617B}"/>
              </a:ext>
            </a:extLst>
          </p:cNvPr>
          <p:cNvSpPr>
            <a:spLocks noGrp="1"/>
          </p:cNvSpPr>
          <p:nvPr>
            <p:ph type="body" idx="1"/>
          </p:nvPr>
        </p:nvSpPr>
        <p:spPr>
          <a:xfrm>
            <a:off x="210022" y="803026"/>
            <a:ext cx="7932114" cy="3262312"/>
          </a:xfrm>
        </p:spPr>
        <p:txBody>
          <a:bodyPr/>
          <a:lstStyle/>
          <a:p>
            <a:pPr marL="50800" indent="0">
              <a:buNone/>
            </a:pPr>
            <a:r>
              <a:rPr lang="en-GB" sz="2000" dirty="0">
                <a:solidFill>
                  <a:schemeClr val="tx1"/>
                </a:solidFill>
              </a:rPr>
              <a:t>Tip: have a clean up and prioritise lockable storage for confidential &amp; private records.</a:t>
            </a:r>
          </a:p>
        </p:txBody>
      </p:sp>
      <p:sp>
        <p:nvSpPr>
          <p:cNvPr id="12" name="Rectangle 11">
            <a:extLst>
              <a:ext uri="{FF2B5EF4-FFF2-40B4-BE49-F238E27FC236}">
                <a16:creationId xmlns:a16="http://schemas.microsoft.com/office/drawing/2014/main" id="{AA8CD12E-106F-4E41-9990-4818C34291E0}"/>
              </a:ext>
            </a:extLst>
          </p:cNvPr>
          <p:cNvSpPr/>
          <p:nvPr/>
        </p:nvSpPr>
        <p:spPr>
          <a:xfrm rot="20674146">
            <a:off x="80700" y="2606917"/>
            <a:ext cx="2762296" cy="923330"/>
          </a:xfrm>
          <a:prstGeom prst="rect">
            <a:avLst/>
          </a:prstGeom>
          <a:noFill/>
        </p:spPr>
        <p:txBody>
          <a:bodyPr wrap="none" lIns="91440" tIns="45720" rIns="91440" bIns="45720">
            <a:spAutoFit/>
          </a:bodyPr>
          <a:lstStyle/>
          <a:p>
            <a:pPr algn="ctr"/>
            <a:r>
              <a:rPr lang="en-US" sz="54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PUBLIC</a:t>
            </a:r>
          </a:p>
        </p:txBody>
      </p:sp>
      <p:sp>
        <p:nvSpPr>
          <p:cNvPr id="17" name="Rectangle: Rounded Corners 16">
            <a:extLst>
              <a:ext uri="{FF2B5EF4-FFF2-40B4-BE49-F238E27FC236}">
                <a16:creationId xmlns:a16="http://schemas.microsoft.com/office/drawing/2014/main" id="{91B9AD5E-FE40-4FA3-8C7C-C92953F37F80}"/>
              </a:ext>
            </a:extLst>
          </p:cNvPr>
          <p:cNvSpPr/>
          <p:nvPr/>
        </p:nvSpPr>
        <p:spPr>
          <a:xfrm rot="20674146">
            <a:off x="-365384" y="2645680"/>
            <a:ext cx="3654464" cy="860714"/>
          </a:xfrm>
          <a:prstGeom prst="round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2" name="Rectangle: Folded Corner 21">
            <a:extLst>
              <a:ext uri="{FF2B5EF4-FFF2-40B4-BE49-F238E27FC236}">
                <a16:creationId xmlns:a16="http://schemas.microsoft.com/office/drawing/2014/main" id="{F4AD6FDC-14A2-4F2E-8F12-65D1191EC156}"/>
              </a:ext>
            </a:extLst>
          </p:cNvPr>
          <p:cNvSpPr/>
          <p:nvPr/>
        </p:nvSpPr>
        <p:spPr>
          <a:xfrm>
            <a:off x="6283060" y="1870975"/>
            <a:ext cx="2650917" cy="3090634"/>
          </a:xfrm>
          <a:prstGeom prst="foldedCorner">
            <a:avLst/>
          </a:prstGeom>
        </p:spPr>
        <p:style>
          <a:lnRef idx="2">
            <a:schemeClr val="accent3"/>
          </a:lnRef>
          <a:fillRef idx="1">
            <a:schemeClr val="lt1"/>
          </a:fillRef>
          <a:effectRef idx="0">
            <a:schemeClr val="accent3"/>
          </a:effectRef>
          <a:fontRef idx="minor">
            <a:schemeClr val="dk1"/>
          </a:fontRef>
        </p:style>
        <p:txBody>
          <a:bodyPr rtlCol="0" anchor="b"/>
          <a:lstStyle/>
          <a:p>
            <a:pPr algn="ctr"/>
            <a:r>
              <a:rPr lang="en-GB" dirty="0">
                <a:solidFill>
                  <a:srgbClr val="C00000"/>
                </a:solidFill>
              </a:rPr>
              <a:t>Keep in locked storage whenever it is not in use</a:t>
            </a:r>
          </a:p>
        </p:txBody>
      </p:sp>
      <p:sp>
        <p:nvSpPr>
          <p:cNvPr id="15" name="Rectangle 14">
            <a:extLst>
              <a:ext uri="{FF2B5EF4-FFF2-40B4-BE49-F238E27FC236}">
                <a16:creationId xmlns:a16="http://schemas.microsoft.com/office/drawing/2014/main" id="{46D5FE7B-824A-42AA-A99A-90B140549BA7}"/>
              </a:ext>
            </a:extLst>
          </p:cNvPr>
          <p:cNvSpPr/>
          <p:nvPr/>
        </p:nvSpPr>
        <p:spPr>
          <a:xfrm rot="20648244">
            <a:off x="3208225" y="2767373"/>
            <a:ext cx="2787944" cy="769441"/>
          </a:xfrm>
          <a:prstGeom prst="rect">
            <a:avLst/>
          </a:prstGeom>
          <a:noFill/>
        </p:spPr>
        <p:txBody>
          <a:bodyPr wrap="none" lIns="91440" tIns="45720" rIns="91440" bIns="45720">
            <a:spAutoFit/>
          </a:bodyPr>
          <a:lstStyle/>
          <a:p>
            <a:pPr algn="ctr"/>
            <a:r>
              <a:rPr lang="en-US" sz="4400" b="1" dirty="0">
                <a:ln/>
                <a:solidFill>
                  <a:srgbClr val="00B6C6"/>
                </a:solidFill>
                <a:effectLst>
                  <a:outerShdw blurRad="38100" dist="19050" dir="2700000" algn="tl" rotWithShape="0">
                    <a:schemeClr val="dk1">
                      <a:lumMod val="50000"/>
                      <a:alpha val="40000"/>
                    </a:schemeClr>
                  </a:outerShdw>
                </a:effectLst>
              </a:rPr>
              <a:t>PRI</a:t>
            </a:r>
            <a:r>
              <a:rPr lang="en-US" sz="4400" b="1" cap="none" spc="0" dirty="0">
                <a:ln/>
                <a:solidFill>
                  <a:srgbClr val="00B6C6"/>
                </a:solidFill>
                <a:effectLst>
                  <a:outerShdw blurRad="38100" dist="19050" dir="2700000" algn="tl" rotWithShape="0">
                    <a:schemeClr val="dk1">
                      <a:lumMod val="50000"/>
                      <a:alpha val="40000"/>
                    </a:schemeClr>
                  </a:outerShdw>
                </a:effectLst>
              </a:rPr>
              <a:t>VATE </a:t>
            </a:r>
          </a:p>
        </p:txBody>
      </p:sp>
      <p:sp>
        <p:nvSpPr>
          <p:cNvPr id="18" name="Rectangle: Rounded Corners 17">
            <a:extLst>
              <a:ext uri="{FF2B5EF4-FFF2-40B4-BE49-F238E27FC236}">
                <a16:creationId xmlns:a16="http://schemas.microsoft.com/office/drawing/2014/main" id="{A58133C8-D68F-4C4C-8033-B36D2F634DCD}"/>
              </a:ext>
            </a:extLst>
          </p:cNvPr>
          <p:cNvSpPr/>
          <p:nvPr/>
        </p:nvSpPr>
        <p:spPr>
          <a:xfrm rot="20648244">
            <a:off x="2765966" y="2735626"/>
            <a:ext cx="3654464" cy="860714"/>
          </a:xfrm>
          <a:prstGeom prst="round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8173AC36-6FD9-4E3C-A447-706E4AD4802C}"/>
              </a:ext>
            </a:extLst>
          </p:cNvPr>
          <p:cNvSpPr/>
          <p:nvPr/>
        </p:nvSpPr>
        <p:spPr>
          <a:xfrm rot="20638554">
            <a:off x="5667845" y="2986303"/>
            <a:ext cx="3603259" cy="646331"/>
          </a:xfrm>
          <a:prstGeom prst="rect">
            <a:avLst/>
          </a:prstGeom>
          <a:noFill/>
        </p:spPr>
        <p:txBody>
          <a:bodyPr wrap="square" lIns="91440" tIns="45720" rIns="91440" bIns="45720">
            <a:spAutoFit/>
          </a:bodyPr>
          <a:lstStyle/>
          <a:p>
            <a:pPr algn="ctr"/>
            <a:r>
              <a:rPr lang="en-US" sz="3600" b="1" cap="none" spc="0" dirty="0">
                <a:ln/>
                <a:solidFill>
                  <a:srgbClr val="C00000"/>
                </a:solidFill>
                <a:effectLst>
                  <a:outerShdw blurRad="38100" dist="19050" dir="2700000" algn="tl" rotWithShape="0">
                    <a:schemeClr val="dk1">
                      <a:lumMod val="50000"/>
                      <a:alpha val="40000"/>
                    </a:schemeClr>
                  </a:outerShdw>
                </a:effectLst>
              </a:rPr>
              <a:t>CONFIDENTIAL</a:t>
            </a:r>
          </a:p>
        </p:txBody>
      </p:sp>
      <p:sp>
        <p:nvSpPr>
          <p:cNvPr id="19" name="Rectangle: Rounded Corners 18">
            <a:extLst>
              <a:ext uri="{FF2B5EF4-FFF2-40B4-BE49-F238E27FC236}">
                <a16:creationId xmlns:a16="http://schemas.microsoft.com/office/drawing/2014/main" id="{8C103D66-142E-4A29-9F2B-87B63CA65AC0}"/>
              </a:ext>
            </a:extLst>
          </p:cNvPr>
          <p:cNvSpPr/>
          <p:nvPr/>
        </p:nvSpPr>
        <p:spPr>
          <a:xfrm rot="20638554">
            <a:off x="5676721" y="2867396"/>
            <a:ext cx="3733700" cy="860714"/>
          </a:xfrm>
          <a:prstGeom prst="round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sz="3200">
              <a:solidFill>
                <a:srgbClr val="C00000"/>
              </a:solidFill>
            </a:endParaRPr>
          </a:p>
        </p:txBody>
      </p:sp>
    </p:spTree>
    <p:extLst>
      <p:ext uri="{BB962C8B-B14F-4D97-AF65-F5344CB8AC3E}">
        <p14:creationId xmlns:p14="http://schemas.microsoft.com/office/powerpoint/2010/main" val="273303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D69F-2209-48BB-8AE6-4CCB95C06B2B}"/>
              </a:ext>
            </a:extLst>
          </p:cNvPr>
          <p:cNvSpPr>
            <a:spLocks noGrp="1"/>
          </p:cNvSpPr>
          <p:nvPr>
            <p:ph type="title"/>
          </p:nvPr>
        </p:nvSpPr>
        <p:spPr/>
        <p:txBody>
          <a:bodyPr/>
          <a:lstStyle/>
          <a:p>
            <a:r>
              <a:rPr lang="en-GB" dirty="0"/>
              <a:t>Tools – Retention policy</a:t>
            </a:r>
            <a:endParaRPr lang="en-GB"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09B14016-A66B-4860-9354-D648D5EBABBA}"/>
              </a:ext>
            </a:extLst>
          </p:cNvPr>
          <p:cNvPicPr>
            <a:picLocks noChangeAspect="1"/>
          </p:cNvPicPr>
          <p:nvPr/>
        </p:nvPicPr>
        <p:blipFill>
          <a:blip r:embed="rId3"/>
          <a:stretch>
            <a:fillRect/>
          </a:stretch>
        </p:blipFill>
        <p:spPr>
          <a:xfrm>
            <a:off x="447937" y="1961719"/>
            <a:ext cx="3881019" cy="2167323"/>
          </a:xfrm>
          <a:prstGeom prst="rect">
            <a:avLst/>
          </a:prstGeom>
        </p:spPr>
      </p:pic>
      <p:pic>
        <p:nvPicPr>
          <p:cNvPr id="6" name="Graphic 5" descr="Magnifying glass">
            <a:extLst>
              <a:ext uri="{FF2B5EF4-FFF2-40B4-BE49-F238E27FC236}">
                <a16:creationId xmlns:a16="http://schemas.microsoft.com/office/drawing/2014/main" id="{ABF62A08-B2F9-4C72-A7EA-CDC0923F32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2054" y="2318336"/>
            <a:ext cx="2149085" cy="2149085"/>
          </a:xfrm>
          <a:prstGeom prst="rect">
            <a:avLst/>
          </a:prstGeom>
        </p:spPr>
      </p:pic>
      <p:sp>
        <p:nvSpPr>
          <p:cNvPr id="7" name="Oval 6">
            <a:extLst>
              <a:ext uri="{FF2B5EF4-FFF2-40B4-BE49-F238E27FC236}">
                <a16:creationId xmlns:a16="http://schemas.microsoft.com/office/drawing/2014/main" id="{761EBE1B-2EBC-4E50-98A2-B7B0B43D4D43}"/>
              </a:ext>
            </a:extLst>
          </p:cNvPr>
          <p:cNvSpPr/>
          <p:nvPr/>
        </p:nvSpPr>
        <p:spPr>
          <a:xfrm>
            <a:off x="3373510" y="2586974"/>
            <a:ext cx="1188000" cy="1151196"/>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lIns="36000" rIns="36000" rtlCol="0" anchor="ctr"/>
          <a:lstStyle/>
          <a:p>
            <a:pPr algn="ctr"/>
            <a:r>
              <a:rPr lang="en-GB" sz="1200" dirty="0"/>
              <a:t>SECURE DISPOSAL</a:t>
            </a:r>
          </a:p>
        </p:txBody>
      </p:sp>
      <p:sp>
        <p:nvSpPr>
          <p:cNvPr id="9" name="Rectangle 8">
            <a:extLst>
              <a:ext uri="{FF2B5EF4-FFF2-40B4-BE49-F238E27FC236}">
                <a16:creationId xmlns:a16="http://schemas.microsoft.com/office/drawing/2014/main" id="{5850EA4E-288B-4394-8797-8B73A64FD0F9}"/>
              </a:ext>
            </a:extLst>
          </p:cNvPr>
          <p:cNvSpPr/>
          <p:nvPr/>
        </p:nvSpPr>
        <p:spPr>
          <a:xfrm>
            <a:off x="369245" y="4214085"/>
            <a:ext cx="3268844" cy="307777"/>
          </a:xfrm>
          <a:prstGeom prst="rect">
            <a:avLst/>
          </a:prstGeom>
        </p:spPr>
        <p:txBody>
          <a:bodyPr wrap="none">
            <a:spAutoFit/>
          </a:bodyPr>
          <a:lstStyle/>
          <a:p>
            <a:r>
              <a:rPr lang="en-GB" dirty="0"/>
              <a:t>https://irms.org.uk/page/SchoolsToolkit</a:t>
            </a:r>
          </a:p>
        </p:txBody>
      </p:sp>
      <p:pic>
        <p:nvPicPr>
          <p:cNvPr id="23" name="Picture 22">
            <a:extLst>
              <a:ext uri="{FF2B5EF4-FFF2-40B4-BE49-F238E27FC236}">
                <a16:creationId xmlns:a16="http://schemas.microsoft.com/office/drawing/2014/main" id="{83F100C3-ABCE-48EB-B1A9-7F34259D53E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30451" y="843773"/>
            <a:ext cx="2090294" cy="2750825"/>
          </a:xfrm>
          <a:prstGeom prst="rect">
            <a:avLst/>
          </a:prstGeom>
        </p:spPr>
      </p:pic>
      <p:pic>
        <p:nvPicPr>
          <p:cNvPr id="24" name="Picture 23">
            <a:extLst>
              <a:ext uri="{FF2B5EF4-FFF2-40B4-BE49-F238E27FC236}">
                <a16:creationId xmlns:a16="http://schemas.microsoft.com/office/drawing/2014/main" id="{C7D8F6EE-0203-455A-857D-3FD89A36E96E}"/>
              </a:ext>
            </a:extLst>
          </p:cNvPr>
          <p:cNvPicPr>
            <a:picLocks noChangeAspect="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40822" y="2788183"/>
            <a:ext cx="2090294" cy="1392136"/>
          </a:xfrm>
          <a:prstGeom prst="rect">
            <a:avLst/>
          </a:prstGeom>
        </p:spPr>
      </p:pic>
      <p:pic>
        <p:nvPicPr>
          <p:cNvPr id="11" name="Picture 10">
            <a:extLst>
              <a:ext uri="{FF2B5EF4-FFF2-40B4-BE49-F238E27FC236}">
                <a16:creationId xmlns:a16="http://schemas.microsoft.com/office/drawing/2014/main" id="{37402D3D-5251-4D74-9731-28CCD6C66A60}"/>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7602632" y="3388499"/>
            <a:ext cx="1629591" cy="1392136"/>
          </a:xfrm>
          <a:prstGeom prst="rect">
            <a:avLst/>
          </a:prstGeom>
        </p:spPr>
      </p:pic>
      <p:pic>
        <p:nvPicPr>
          <p:cNvPr id="14" name="Picture 13">
            <a:extLst>
              <a:ext uri="{FF2B5EF4-FFF2-40B4-BE49-F238E27FC236}">
                <a16:creationId xmlns:a16="http://schemas.microsoft.com/office/drawing/2014/main" id="{FE548720-C7EB-407F-BB1B-A47B1A144D7B}"/>
              </a:ext>
            </a:extLst>
          </p:cNvPr>
          <p:cNvPicPr>
            <a:picLocks noChangeAspect="1"/>
          </p:cNvPicPr>
          <p:nvPr/>
        </p:nvPicPr>
        <p:blipFill>
          <a:blip r:embed="rId9" cstate="screen">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04461" y="2147256"/>
            <a:ext cx="1244660" cy="1456253"/>
          </a:xfrm>
          <a:prstGeom prst="rect">
            <a:avLst/>
          </a:prstGeom>
        </p:spPr>
      </p:pic>
      <p:sp>
        <p:nvSpPr>
          <p:cNvPr id="27" name="Text Placeholder 2">
            <a:extLst>
              <a:ext uri="{FF2B5EF4-FFF2-40B4-BE49-F238E27FC236}">
                <a16:creationId xmlns:a16="http://schemas.microsoft.com/office/drawing/2014/main" id="{CC1A2196-6039-49C6-8898-7CC65FD817C4}"/>
              </a:ext>
            </a:extLst>
          </p:cNvPr>
          <p:cNvSpPr>
            <a:spLocks noGrp="1"/>
          </p:cNvSpPr>
          <p:nvPr>
            <p:ph type="body" idx="1"/>
          </p:nvPr>
        </p:nvSpPr>
        <p:spPr>
          <a:xfrm>
            <a:off x="210023" y="803026"/>
            <a:ext cx="5041116" cy="3262312"/>
          </a:xfrm>
        </p:spPr>
        <p:txBody>
          <a:bodyPr/>
          <a:lstStyle/>
          <a:p>
            <a:pPr marL="50800" indent="0">
              <a:buNone/>
            </a:pPr>
            <a:r>
              <a:rPr lang="en-GB" sz="2000" dirty="0">
                <a:solidFill>
                  <a:schemeClr val="tx1"/>
                </a:solidFill>
              </a:rPr>
              <a:t>Tip: Get rid of any duplicate documents or those you no longer need to keep…</a:t>
            </a:r>
          </a:p>
        </p:txBody>
      </p:sp>
      <p:sp>
        <p:nvSpPr>
          <p:cNvPr id="28" name="TextBox 27">
            <a:extLst>
              <a:ext uri="{FF2B5EF4-FFF2-40B4-BE49-F238E27FC236}">
                <a16:creationId xmlns:a16="http://schemas.microsoft.com/office/drawing/2014/main" id="{D2F9D661-689A-4FAD-8A06-2CEE7880C216}"/>
              </a:ext>
            </a:extLst>
          </p:cNvPr>
          <p:cNvSpPr txBox="1"/>
          <p:nvPr/>
        </p:nvSpPr>
        <p:spPr>
          <a:xfrm>
            <a:off x="7446666" y="1707812"/>
            <a:ext cx="1820927" cy="584775"/>
          </a:xfrm>
          <a:prstGeom prst="rect">
            <a:avLst/>
          </a:prstGeom>
          <a:noFill/>
        </p:spPr>
        <p:txBody>
          <a:bodyPr wrap="square" rtlCol="0">
            <a:spAutoFit/>
          </a:bodyPr>
          <a:lstStyle/>
          <a:p>
            <a:r>
              <a:rPr lang="en-GB" sz="1600" dirty="0">
                <a:solidFill>
                  <a:srgbClr val="F48220"/>
                </a:solidFill>
                <a:latin typeface="Segoe UI" panose="020B0502040204020203" pitchFamily="34" charset="0"/>
                <a:cs typeface="Segoe UI" panose="020B0502040204020203" pitchFamily="34" charset="0"/>
              </a:rPr>
              <a:t>General waste - Public info only</a:t>
            </a:r>
          </a:p>
        </p:txBody>
      </p:sp>
      <p:sp>
        <p:nvSpPr>
          <p:cNvPr id="29" name="TextBox 28">
            <a:extLst>
              <a:ext uri="{FF2B5EF4-FFF2-40B4-BE49-F238E27FC236}">
                <a16:creationId xmlns:a16="http://schemas.microsoft.com/office/drawing/2014/main" id="{74A65C27-F0BD-497A-9DDA-A786E31929B3}"/>
              </a:ext>
            </a:extLst>
          </p:cNvPr>
          <p:cNvSpPr txBox="1"/>
          <p:nvPr/>
        </p:nvSpPr>
        <p:spPr>
          <a:xfrm>
            <a:off x="5153186" y="4064445"/>
            <a:ext cx="2367559" cy="830997"/>
          </a:xfrm>
          <a:prstGeom prst="rect">
            <a:avLst/>
          </a:prstGeom>
          <a:noFill/>
        </p:spPr>
        <p:txBody>
          <a:bodyPr wrap="square" rtlCol="0">
            <a:spAutoFit/>
          </a:bodyPr>
          <a:lstStyle/>
          <a:p>
            <a:r>
              <a:rPr lang="en-GB" sz="1600" dirty="0">
                <a:solidFill>
                  <a:srgbClr val="F48220"/>
                </a:solidFill>
                <a:latin typeface="Segoe UI" panose="020B0502040204020203" pitchFamily="34" charset="0"/>
                <a:cs typeface="Segoe UI" panose="020B0502040204020203" pitchFamily="34" charset="0"/>
              </a:rPr>
              <a:t>Secure disposal – Private and Confidential documents</a:t>
            </a:r>
          </a:p>
        </p:txBody>
      </p:sp>
    </p:spTree>
    <p:extLst>
      <p:ext uri="{BB962C8B-B14F-4D97-AF65-F5344CB8AC3E}">
        <p14:creationId xmlns:p14="http://schemas.microsoft.com/office/powerpoint/2010/main" val="65897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29F4222-B30F-41C3-BF38-1E971D2C0C4B}"/>
              </a:ext>
            </a:extLst>
          </p:cNvPr>
          <p:cNvSpPr>
            <a:spLocks noGrp="1"/>
          </p:cNvSpPr>
          <p:nvPr>
            <p:ph type="body" idx="1"/>
          </p:nvPr>
        </p:nvSpPr>
        <p:spPr>
          <a:xfrm>
            <a:off x="686960" y="883644"/>
            <a:ext cx="7139684" cy="3967325"/>
          </a:xfrm>
          <a:solidFill>
            <a:srgbClr val="F48220"/>
          </a:solidFill>
        </p:spPr>
        <p:txBody>
          <a:bodyPr rIns="972000"/>
          <a:lstStyle/>
          <a:p>
            <a:pPr marL="50800" indent="0">
              <a:buNone/>
              <a:tabLst>
                <a:tab pos="6191250" algn="l"/>
              </a:tabLst>
            </a:pPr>
            <a:r>
              <a:rPr lang="en-GB" sz="2400" b="1" dirty="0">
                <a:solidFill>
                  <a:schemeClr val="bg1"/>
                </a:solidFill>
              </a:rPr>
              <a:t>Which team can best follow the policy over the next XXX WEEKS?</a:t>
            </a:r>
          </a:p>
          <a:p>
            <a:pPr marL="50800" indent="0">
              <a:buNone/>
              <a:tabLst>
                <a:tab pos="6191250" algn="l"/>
              </a:tabLst>
            </a:pPr>
            <a:br>
              <a:rPr lang="en-GB" sz="1600" dirty="0">
                <a:solidFill>
                  <a:schemeClr val="bg1"/>
                </a:solidFill>
              </a:rPr>
            </a:br>
            <a:r>
              <a:rPr lang="en-GB" sz="1600" dirty="0">
                <a:solidFill>
                  <a:schemeClr val="bg1"/>
                </a:solidFill>
              </a:rPr>
              <a:t>Points awarded for e.g. best clean up, team work</a:t>
            </a:r>
          </a:p>
          <a:p>
            <a:pPr marL="50800" indent="0">
              <a:buNone/>
              <a:tabLst>
                <a:tab pos="6191250" algn="l"/>
              </a:tabLst>
            </a:pPr>
            <a:r>
              <a:rPr lang="en-GB" sz="1600" dirty="0">
                <a:solidFill>
                  <a:schemeClr val="bg1"/>
                </a:solidFill>
              </a:rPr>
              <a:t>Points awarded for clear desks, work areas and use of available storage</a:t>
            </a:r>
          </a:p>
          <a:p>
            <a:pPr marL="50800" indent="0">
              <a:buNone/>
              <a:tabLst>
                <a:tab pos="6191250" algn="l"/>
              </a:tabLst>
            </a:pPr>
            <a:r>
              <a:rPr lang="en-GB" sz="1600" dirty="0">
                <a:solidFill>
                  <a:schemeClr val="bg1"/>
                </a:solidFill>
              </a:rPr>
              <a:t>Points deducted for things left out at end of the day e.g.</a:t>
            </a:r>
          </a:p>
          <a:p>
            <a:pPr>
              <a:buClr>
                <a:schemeClr val="bg1"/>
              </a:buClr>
              <a:tabLst>
                <a:tab pos="6191250" algn="l"/>
              </a:tabLst>
            </a:pPr>
            <a:r>
              <a:rPr lang="en-GB" sz="1600" dirty="0">
                <a:solidFill>
                  <a:schemeClr val="bg1"/>
                </a:solidFill>
              </a:rPr>
              <a:t>Papers, Notes, Post-its </a:t>
            </a:r>
          </a:p>
          <a:p>
            <a:pPr>
              <a:buClr>
                <a:schemeClr val="bg1"/>
              </a:buClr>
              <a:tabLst>
                <a:tab pos="6191250" algn="l"/>
              </a:tabLst>
            </a:pPr>
            <a:r>
              <a:rPr lang="en-GB" sz="1600" dirty="0">
                <a:solidFill>
                  <a:schemeClr val="bg1"/>
                </a:solidFill>
              </a:rPr>
              <a:t>Any other documents containing private or sensitive information left on desks or insecurely at any time….</a:t>
            </a:r>
            <a:br>
              <a:rPr lang="en-GB" sz="1600" dirty="0">
                <a:solidFill>
                  <a:schemeClr val="bg1"/>
                </a:solidFill>
              </a:rPr>
            </a:br>
            <a:endParaRPr lang="en-GB" sz="1600" dirty="0">
              <a:solidFill>
                <a:schemeClr val="bg1"/>
              </a:solidFill>
            </a:endParaRPr>
          </a:p>
          <a:p>
            <a:pPr marL="50800" indent="0">
              <a:buNone/>
              <a:tabLst>
                <a:tab pos="6191250" algn="l"/>
              </a:tabLst>
            </a:pPr>
            <a:r>
              <a:rPr lang="en-GB" sz="1600" b="1" dirty="0">
                <a:solidFill>
                  <a:schemeClr val="bg1"/>
                </a:solidFill>
              </a:rPr>
              <a:t>PRIZE - XXXXX</a:t>
            </a:r>
          </a:p>
          <a:p>
            <a:endParaRPr lang="en-GB" sz="1600" dirty="0">
              <a:solidFill>
                <a:schemeClr val="bg1"/>
              </a:solidFill>
            </a:endParaRPr>
          </a:p>
        </p:txBody>
      </p:sp>
      <p:sp>
        <p:nvSpPr>
          <p:cNvPr id="7" name="Title 6">
            <a:extLst>
              <a:ext uri="{FF2B5EF4-FFF2-40B4-BE49-F238E27FC236}">
                <a16:creationId xmlns:a16="http://schemas.microsoft.com/office/drawing/2014/main" id="{2489054A-24E6-42D0-832A-479F05E7A8E8}"/>
              </a:ext>
            </a:extLst>
          </p:cNvPr>
          <p:cNvSpPr>
            <a:spLocks noGrp="1"/>
          </p:cNvSpPr>
          <p:nvPr>
            <p:ph type="title"/>
          </p:nvPr>
        </p:nvSpPr>
        <p:spPr>
          <a:xfrm>
            <a:off x="686959" y="151673"/>
            <a:ext cx="7568985" cy="731971"/>
          </a:xfrm>
        </p:spPr>
        <p:txBody>
          <a:bodyPr/>
          <a:lstStyle/>
          <a:p>
            <a:r>
              <a:rPr lang="en-GB" dirty="0"/>
              <a:t>COMPETITION TIME!</a:t>
            </a:r>
          </a:p>
        </p:txBody>
      </p:sp>
      <p:pic>
        <p:nvPicPr>
          <p:cNvPr id="4" name="Picture 3">
            <a:extLst>
              <a:ext uri="{FF2B5EF4-FFF2-40B4-BE49-F238E27FC236}">
                <a16:creationId xmlns:a16="http://schemas.microsoft.com/office/drawing/2014/main" id="{5D4F2828-C575-4AB4-A9D7-F9ABF7077898}"/>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781036" y="1669859"/>
            <a:ext cx="797287" cy="2644241"/>
          </a:xfrm>
          <a:prstGeom prst="rect">
            <a:avLst/>
          </a:prstGeom>
        </p:spPr>
      </p:pic>
    </p:spTree>
    <p:extLst>
      <p:ext uri="{BB962C8B-B14F-4D97-AF65-F5344CB8AC3E}">
        <p14:creationId xmlns:p14="http://schemas.microsoft.com/office/powerpoint/2010/main" val="156781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D69F-2209-48BB-8AE6-4CCB95C06B2B}"/>
              </a:ext>
            </a:extLst>
          </p:cNvPr>
          <p:cNvSpPr>
            <a:spLocks noGrp="1"/>
          </p:cNvSpPr>
          <p:nvPr>
            <p:ph type="title"/>
          </p:nvPr>
        </p:nvSpPr>
        <p:spPr>
          <a:xfrm>
            <a:off x="736171" y="1266987"/>
            <a:ext cx="7782732" cy="1053884"/>
          </a:xfrm>
          <a:solidFill>
            <a:srgbClr val="FFFFFF">
              <a:alpha val="83000"/>
            </a:srgbClr>
          </a:solidFill>
        </p:spPr>
        <p:txBody>
          <a:bodyPr/>
          <a:lstStyle/>
          <a:p>
            <a:pPr algn="ctr"/>
            <a:r>
              <a:rPr lang="en-GB" sz="2400" b="1" dirty="0"/>
              <a:t>SUMMARY</a:t>
            </a:r>
            <a:br>
              <a:rPr lang="en-GB" sz="2400" b="1" dirty="0"/>
            </a:br>
            <a:r>
              <a:rPr lang="en-GB" sz="2400" b="1" dirty="0"/>
              <a:t>A clear desk policy is </a:t>
            </a:r>
            <a:r>
              <a:rPr lang="en-GB" sz="2400" b="1" dirty="0">
                <a:solidFill>
                  <a:srgbClr val="F48220"/>
                </a:solidFill>
              </a:rPr>
              <a:t>more</a:t>
            </a:r>
            <a:r>
              <a:rPr lang="en-GB" sz="2400" b="1" dirty="0"/>
              <a:t> that </a:t>
            </a:r>
            <a:r>
              <a:rPr lang="en-GB" sz="2400" b="1" i="1" dirty="0"/>
              <a:t>just</a:t>
            </a:r>
            <a:r>
              <a:rPr lang="en-GB" sz="2400" b="1" dirty="0"/>
              <a:t> having a clear desk…</a:t>
            </a:r>
            <a:endParaRPr lang="en-GB" sz="2400" b="1" dirty="0">
              <a:latin typeface="Segoe UI" panose="020B0502040204020203" pitchFamily="34" charset="0"/>
              <a:cs typeface="Segoe UI" panose="020B0502040204020203" pitchFamily="34" charset="0"/>
            </a:endParaRPr>
          </a:p>
        </p:txBody>
      </p:sp>
      <p:sp>
        <p:nvSpPr>
          <p:cNvPr id="3" name="Title 1">
            <a:extLst>
              <a:ext uri="{FF2B5EF4-FFF2-40B4-BE49-F238E27FC236}">
                <a16:creationId xmlns:a16="http://schemas.microsoft.com/office/drawing/2014/main" id="{65AFED7F-420D-4851-A7EA-C6EB5EDF086C}"/>
              </a:ext>
            </a:extLst>
          </p:cNvPr>
          <p:cNvSpPr txBox="1">
            <a:spLocks/>
          </p:cNvSpPr>
          <p:nvPr/>
        </p:nvSpPr>
        <p:spPr>
          <a:xfrm>
            <a:off x="736170" y="2486510"/>
            <a:ext cx="2518475" cy="1390003"/>
          </a:xfrm>
          <a:prstGeom prst="rect">
            <a:avLst/>
          </a:prstGeom>
          <a:solidFill>
            <a:srgbClr val="FFFFFF">
              <a:alpha val="83000"/>
            </a:srgbClr>
          </a:solid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t>Take back </a:t>
            </a:r>
            <a:r>
              <a:rPr lang="en-GB" sz="2400" b="1" dirty="0">
                <a:solidFill>
                  <a:srgbClr val="F48220"/>
                </a:solidFill>
              </a:rPr>
              <a:t>control</a:t>
            </a:r>
            <a:r>
              <a:rPr lang="en-GB" sz="2400" b="1" dirty="0"/>
              <a:t> of paperwork and information</a:t>
            </a:r>
          </a:p>
        </p:txBody>
      </p:sp>
      <p:sp>
        <p:nvSpPr>
          <p:cNvPr id="5" name="Title 1">
            <a:extLst>
              <a:ext uri="{FF2B5EF4-FFF2-40B4-BE49-F238E27FC236}">
                <a16:creationId xmlns:a16="http://schemas.microsoft.com/office/drawing/2014/main" id="{7A88A54F-C36C-4CC6-934C-608A9B58EC9F}"/>
              </a:ext>
            </a:extLst>
          </p:cNvPr>
          <p:cNvSpPr txBox="1">
            <a:spLocks/>
          </p:cNvSpPr>
          <p:nvPr/>
        </p:nvSpPr>
        <p:spPr>
          <a:xfrm>
            <a:off x="736170" y="3981129"/>
            <a:ext cx="2518475" cy="1053884"/>
          </a:xfrm>
          <a:prstGeom prst="rect">
            <a:avLst/>
          </a:prstGeom>
          <a:solidFill>
            <a:srgbClr val="FFFFFF">
              <a:alpha val="83000"/>
            </a:srgbClr>
          </a:solid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solidFill>
                  <a:srgbClr val="F48220"/>
                </a:solidFill>
              </a:rPr>
              <a:t>Reduce</a:t>
            </a:r>
            <a:r>
              <a:rPr lang="en-GB" sz="2400" b="1" dirty="0"/>
              <a:t> paper and printouts</a:t>
            </a:r>
          </a:p>
        </p:txBody>
      </p:sp>
      <p:sp>
        <p:nvSpPr>
          <p:cNvPr id="6" name="Title 1">
            <a:extLst>
              <a:ext uri="{FF2B5EF4-FFF2-40B4-BE49-F238E27FC236}">
                <a16:creationId xmlns:a16="http://schemas.microsoft.com/office/drawing/2014/main" id="{A36EC276-AC64-4196-ACE2-88DDF161FC95}"/>
              </a:ext>
            </a:extLst>
          </p:cNvPr>
          <p:cNvSpPr txBox="1">
            <a:spLocks/>
          </p:cNvSpPr>
          <p:nvPr/>
        </p:nvSpPr>
        <p:spPr>
          <a:xfrm>
            <a:off x="3368299" y="2486510"/>
            <a:ext cx="2518475" cy="1390002"/>
          </a:xfrm>
          <a:prstGeom prst="rect">
            <a:avLst/>
          </a:prstGeom>
          <a:solidFill>
            <a:srgbClr val="FFFFFF">
              <a:alpha val="83000"/>
            </a:srgbClr>
          </a:solid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t>Keep sensitive information </a:t>
            </a:r>
            <a:r>
              <a:rPr lang="en-GB" sz="2400" b="1" dirty="0">
                <a:solidFill>
                  <a:srgbClr val="F48220"/>
                </a:solidFill>
              </a:rPr>
              <a:t>securely locked</a:t>
            </a:r>
          </a:p>
        </p:txBody>
      </p:sp>
      <p:sp>
        <p:nvSpPr>
          <p:cNvPr id="7" name="Title 1">
            <a:extLst>
              <a:ext uri="{FF2B5EF4-FFF2-40B4-BE49-F238E27FC236}">
                <a16:creationId xmlns:a16="http://schemas.microsoft.com/office/drawing/2014/main" id="{70549CFA-9AED-4C3D-AE89-D2D85A171D1C}"/>
              </a:ext>
            </a:extLst>
          </p:cNvPr>
          <p:cNvSpPr txBox="1">
            <a:spLocks/>
          </p:cNvSpPr>
          <p:nvPr/>
        </p:nvSpPr>
        <p:spPr>
          <a:xfrm>
            <a:off x="6000428" y="2486510"/>
            <a:ext cx="2518475" cy="1390002"/>
          </a:xfrm>
          <a:prstGeom prst="rect">
            <a:avLst/>
          </a:prstGeom>
          <a:solidFill>
            <a:srgbClr val="FFFFFF">
              <a:alpha val="83000"/>
            </a:srgbClr>
          </a:solid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solidFill>
                  <a:srgbClr val="F48220"/>
                </a:solidFill>
              </a:rPr>
              <a:t>Dispose</a:t>
            </a:r>
            <a:r>
              <a:rPr lang="en-GB" sz="2400" b="1" dirty="0"/>
              <a:t> of all information that’s no longer needed</a:t>
            </a:r>
          </a:p>
        </p:txBody>
      </p:sp>
      <p:sp>
        <p:nvSpPr>
          <p:cNvPr id="8" name="Title 1">
            <a:extLst>
              <a:ext uri="{FF2B5EF4-FFF2-40B4-BE49-F238E27FC236}">
                <a16:creationId xmlns:a16="http://schemas.microsoft.com/office/drawing/2014/main" id="{E7AF4ABE-B933-4E3B-8576-563527675BB7}"/>
              </a:ext>
            </a:extLst>
          </p:cNvPr>
          <p:cNvSpPr txBox="1">
            <a:spLocks/>
          </p:cNvSpPr>
          <p:nvPr/>
        </p:nvSpPr>
        <p:spPr>
          <a:xfrm>
            <a:off x="3435458" y="3981129"/>
            <a:ext cx="2518475" cy="1053884"/>
          </a:xfrm>
          <a:prstGeom prst="rect">
            <a:avLst/>
          </a:prstGeom>
          <a:solidFill>
            <a:srgbClr val="FFFFFF">
              <a:alpha val="83000"/>
            </a:srgbClr>
          </a:solid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t>..at ALL times</a:t>
            </a:r>
          </a:p>
        </p:txBody>
      </p:sp>
      <p:sp>
        <p:nvSpPr>
          <p:cNvPr id="9" name="Title 1">
            <a:extLst>
              <a:ext uri="{FF2B5EF4-FFF2-40B4-BE49-F238E27FC236}">
                <a16:creationId xmlns:a16="http://schemas.microsoft.com/office/drawing/2014/main" id="{BDE40538-6AD9-467C-8737-F4391B50CBD1}"/>
              </a:ext>
            </a:extLst>
          </p:cNvPr>
          <p:cNvSpPr txBox="1">
            <a:spLocks/>
          </p:cNvSpPr>
          <p:nvPr/>
        </p:nvSpPr>
        <p:spPr>
          <a:xfrm>
            <a:off x="6018510" y="3981129"/>
            <a:ext cx="2518475" cy="1053884"/>
          </a:xfrm>
          <a:prstGeom prst="rect">
            <a:avLst/>
          </a:prstGeom>
          <a:solidFill>
            <a:srgbClr val="FFFFFF">
              <a:alpha val="83000"/>
            </a:srgbClr>
          </a:solid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SzPts val="4400"/>
              <a:buFont typeface="Calibri"/>
              <a:buNone/>
              <a:defRPr sz="3600" b="0" i="0" u="none" strike="noStrike" cap="none">
                <a:solidFill>
                  <a:srgbClr val="0192BB"/>
                </a:solidFill>
                <a:latin typeface="Segoe UI" panose="020B0502040204020203" pitchFamily="34" charset="0"/>
                <a:ea typeface="Segoe UI" panose="020B0502040204020203" pitchFamily="34" charset="0"/>
                <a:cs typeface="Segoe UI" panose="020B0502040204020203" pitchFamily="34" charset="0"/>
                <a:sym typeface="Calibri"/>
              </a:defRPr>
            </a:lvl1pPr>
            <a:lvl2pPr marR="0" lvl="1"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indent="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t>Create a </a:t>
            </a:r>
            <a:r>
              <a:rPr lang="en-GB" sz="2400" b="1" dirty="0">
                <a:solidFill>
                  <a:srgbClr val="F48220"/>
                </a:solidFill>
              </a:rPr>
              <a:t>better environment </a:t>
            </a:r>
            <a:r>
              <a:rPr lang="en-GB" sz="2400" b="1" dirty="0"/>
              <a:t>&amp;</a:t>
            </a:r>
            <a:r>
              <a:rPr lang="en-GB" sz="2400" b="1" dirty="0">
                <a:solidFill>
                  <a:srgbClr val="F48220"/>
                </a:solidFill>
              </a:rPr>
              <a:t> reduce stress</a:t>
            </a:r>
          </a:p>
        </p:txBody>
      </p:sp>
    </p:spTree>
    <p:extLst>
      <p:ext uri="{BB962C8B-B14F-4D97-AF65-F5344CB8AC3E}">
        <p14:creationId xmlns:p14="http://schemas.microsoft.com/office/powerpoint/2010/main" val="4246815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grpId="0" nodeType="withEffect">
                                  <p:stCondLst>
                                    <p:cond delay="10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pic>
        <p:nvPicPr>
          <p:cNvPr id="5" name="Picture 4">
            <a:extLst>
              <a:ext uri="{FF2B5EF4-FFF2-40B4-BE49-F238E27FC236}">
                <a16:creationId xmlns:a16="http://schemas.microsoft.com/office/drawing/2014/main" id="{CBF0419A-780B-4E7B-AE30-E3C76B0893FC}"/>
              </a:ext>
            </a:extLst>
          </p:cNvPr>
          <p:cNvPicPr>
            <a:picLocks noChangeAspect="1"/>
          </p:cNvPicPr>
          <p:nvPr/>
        </p:nvPicPr>
        <p:blipFill>
          <a:blip r:embed="rId3"/>
          <a:stretch>
            <a:fillRect/>
          </a:stretch>
        </p:blipFill>
        <p:spPr>
          <a:xfrm rot="1720739">
            <a:off x="5836663" y="157936"/>
            <a:ext cx="2952972" cy="3460762"/>
          </a:xfrm>
          <a:prstGeom prst="rect">
            <a:avLst/>
          </a:prstGeom>
          <a:effectLst>
            <a:glow>
              <a:schemeClr val="bg1">
                <a:lumMod val="65000"/>
              </a:schemeClr>
            </a:glow>
          </a:effectLst>
        </p:spPr>
      </p:pic>
      <p:sp>
        <p:nvSpPr>
          <p:cNvPr id="415" name="Shape 415"/>
          <p:cNvSpPr txBox="1"/>
          <p:nvPr/>
        </p:nvSpPr>
        <p:spPr>
          <a:xfrm>
            <a:off x="1004575" y="4212709"/>
            <a:ext cx="5528400" cy="500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accent1"/>
              </a:buClr>
              <a:buSzPts val="500"/>
              <a:buFont typeface="Arial"/>
              <a:buNone/>
            </a:pPr>
            <a:endParaRPr sz="2000" b="0" i="0" u="none" strike="noStrike" cap="none">
              <a:solidFill>
                <a:schemeClr val="accent1"/>
              </a:solidFill>
              <a:latin typeface="Arial"/>
              <a:ea typeface="Arial"/>
              <a:cs typeface="Arial"/>
              <a:sym typeface="Arial"/>
            </a:endParaRPr>
          </a:p>
        </p:txBody>
      </p:sp>
      <p:sp>
        <p:nvSpPr>
          <p:cNvPr id="416" name="Shape 416"/>
          <p:cNvSpPr txBox="1">
            <a:spLocks noGrp="1"/>
          </p:cNvSpPr>
          <p:nvPr>
            <p:ph type="title"/>
          </p:nvPr>
        </p:nvSpPr>
        <p:spPr>
          <a:xfrm>
            <a:off x="817577" y="945091"/>
            <a:ext cx="5120534" cy="173860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8800" dirty="0">
                <a:solidFill>
                  <a:srgbClr val="0192BB"/>
                </a:solidFill>
                <a:latin typeface="Segoe UI" panose="020B0502040204020203" pitchFamily="34" charset="0"/>
                <a:cs typeface="Segoe UI" panose="020B0502040204020203" pitchFamily="34" charset="0"/>
              </a:rPr>
              <a:t>Any questions</a:t>
            </a:r>
            <a:endParaRPr sz="8800" i="0" u="none" strike="noStrike" cap="none" dirty="0">
              <a:solidFill>
                <a:srgbClr val="0192BB"/>
              </a:solidFill>
              <a:latin typeface="Segoe UI" panose="020B0502040204020203" pitchFamily="34" charset="0"/>
              <a:cs typeface="Segoe UI" panose="020B0502040204020203" pitchFamily="34" charset="0"/>
              <a:sym typeface="Calibri"/>
            </a:endParaRPr>
          </a:p>
        </p:txBody>
      </p:sp>
      <p:pic>
        <p:nvPicPr>
          <p:cNvPr id="7" name="Picture 6">
            <a:extLst>
              <a:ext uri="{FF2B5EF4-FFF2-40B4-BE49-F238E27FC236}">
                <a16:creationId xmlns:a16="http://schemas.microsoft.com/office/drawing/2014/main" id="{F5C5FA34-1465-49B4-BC2B-B0A6FC23D00D}"/>
              </a:ext>
            </a:extLst>
          </p:cNvPr>
          <p:cNvPicPr>
            <a:picLocks noChangeAspect="1"/>
          </p:cNvPicPr>
          <p:nvPr/>
        </p:nvPicPr>
        <p:blipFill>
          <a:blip r:embed="rId4"/>
          <a:stretch>
            <a:fillRect/>
          </a:stretch>
        </p:blipFill>
        <p:spPr>
          <a:xfrm>
            <a:off x="2702817" y="3731387"/>
            <a:ext cx="3167265" cy="133655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Shape 415"/>
          <p:cNvSpPr txBox="1"/>
          <p:nvPr/>
        </p:nvSpPr>
        <p:spPr>
          <a:xfrm>
            <a:off x="1004575" y="4212709"/>
            <a:ext cx="5528400" cy="500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accent1"/>
              </a:buClr>
              <a:buSzPts val="500"/>
              <a:buFont typeface="Arial"/>
              <a:buNone/>
            </a:pPr>
            <a:endParaRPr sz="2000" b="0" i="0" u="none" strike="noStrike" cap="none">
              <a:solidFill>
                <a:schemeClr val="accent1"/>
              </a:solidFill>
              <a:latin typeface="Arial"/>
              <a:ea typeface="Arial"/>
              <a:cs typeface="Arial"/>
              <a:sym typeface="Arial"/>
            </a:endParaRPr>
          </a:p>
        </p:txBody>
      </p:sp>
      <p:sp>
        <p:nvSpPr>
          <p:cNvPr id="416" name="Shape 416"/>
          <p:cNvSpPr txBox="1">
            <a:spLocks noGrp="1"/>
          </p:cNvSpPr>
          <p:nvPr>
            <p:ph type="title"/>
          </p:nvPr>
        </p:nvSpPr>
        <p:spPr>
          <a:xfrm>
            <a:off x="465365" y="430091"/>
            <a:ext cx="7886700" cy="99377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en-US" sz="7200" dirty="0">
                <a:solidFill>
                  <a:srgbClr val="0192BB"/>
                </a:solidFill>
                <a:latin typeface="Segoe UI" panose="020B0502040204020203" pitchFamily="34" charset="0"/>
                <a:cs typeface="Segoe UI" panose="020B0502040204020203" pitchFamily="34" charset="0"/>
              </a:rPr>
              <a:t>Thank you!</a:t>
            </a:r>
            <a:endParaRPr sz="7200" i="0" u="none" strike="noStrike" cap="none" dirty="0">
              <a:solidFill>
                <a:srgbClr val="0192BB"/>
              </a:solidFill>
              <a:latin typeface="Segoe UI" panose="020B0502040204020203" pitchFamily="34" charset="0"/>
              <a:cs typeface="Segoe UI" panose="020B0502040204020203" pitchFamily="34" charset="0"/>
              <a:sym typeface="Calibri"/>
            </a:endParaRPr>
          </a:p>
        </p:txBody>
      </p:sp>
      <p:sp>
        <p:nvSpPr>
          <p:cNvPr id="417" name="Shape 417"/>
          <p:cNvSpPr txBox="1">
            <a:spLocks noGrp="1"/>
          </p:cNvSpPr>
          <p:nvPr>
            <p:ph type="body" idx="1"/>
          </p:nvPr>
        </p:nvSpPr>
        <p:spPr>
          <a:xfrm>
            <a:off x="535659" y="1416091"/>
            <a:ext cx="7391724" cy="294068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800"/>
              <a:buFont typeface="Arial"/>
              <a:buNone/>
            </a:pPr>
            <a:r>
              <a:rPr lang="en-GB" sz="1600" dirty="0">
                <a:latin typeface="Segoe UI" panose="020B0502040204020203" pitchFamily="34" charset="0"/>
                <a:cs typeface="Segoe UI" panose="020B0502040204020203" pitchFamily="34" charset="0"/>
              </a:rPr>
              <a:t>Need independent advice or more information? </a:t>
            </a:r>
            <a:r>
              <a:rPr lang="en-GB" sz="1600" dirty="0"/>
              <a:t>Need </a:t>
            </a:r>
            <a:r>
              <a:rPr lang="en-GB" sz="1600" dirty="0">
                <a:latin typeface="Segoe UI" panose="020B0502040204020203" pitchFamily="34" charset="0"/>
                <a:cs typeface="Segoe UI" panose="020B0502040204020203" pitchFamily="34" charset="0"/>
              </a:rPr>
              <a:t>GDPR awareness </a:t>
            </a:r>
            <a:br>
              <a:rPr lang="en-GB" sz="1600" dirty="0">
                <a:latin typeface="Segoe UI" panose="020B0502040204020203" pitchFamily="34" charset="0"/>
                <a:cs typeface="Segoe UI" panose="020B0502040204020203" pitchFamily="34" charset="0"/>
              </a:rPr>
            </a:br>
            <a:r>
              <a:rPr lang="en-GB" sz="1600" dirty="0">
                <a:latin typeface="Segoe UI" panose="020B0502040204020203" pitchFamily="34" charset="0"/>
                <a:cs typeface="Segoe UI" panose="020B0502040204020203" pitchFamily="34" charset="0"/>
              </a:rPr>
              <a:t>e-learning for your staff? Or a Policy Check/DPO service?</a:t>
            </a:r>
          </a:p>
          <a:p>
            <a:pPr marL="0" marR="0" lvl="0" indent="0" algn="l" rtl="0">
              <a:lnSpc>
                <a:spcPct val="90000"/>
              </a:lnSpc>
              <a:spcBef>
                <a:spcPts val="1000"/>
              </a:spcBef>
              <a:spcAft>
                <a:spcPts val="0"/>
              </a:spcAft>
              <a:buClr>
                <a:schemeClr val="dk1"/>
              </a:buClr>
              <a:buSzPts val="2800"/>
              <a:buFont typeface="Arial"/>
              <a:buNone/>
            </a:pPr>
            <a:r>
              <a:rPr lang="en-GB" sz="1600" b="1" dirty="0">
                <a:latin typeface="Segoe UI" panose="020B0502040204020203" pitchFamily="34" charset="0"/>
                <a:cs typeface="Segoe UI" panose="020B0502040204020203" pitchFamily="34" charset="0"/>
              </a:rPr>
              <a:t>Email: </a:t>
            </a:r>
            <a:r>
              <a:rPr lang="en-GB" sz="1600" b="1" dirty="0" err="1">
                <a:latin typeface="Segoe UI" panose="020B0502040204020203" pitchFamily="34" charset="0"/>
                <a:cs typeface="Segoe UI" panose="020B0502040204020203" pitchFamily="34" charset="0"/>
              </a:rPr>
              <a:t>dpo@dataprotection.education</a:t>
            </a:r>
            <a:endParaRPr lang="en-GB" sz="1600" b="1" i="0" u="none" strike="noStrike" cap="none" dirty="0">
              <a:solidFill>
                <a:schemeClr val="dk1"/>
              </a:solidFill>
              <a:latin typeface="Segoe UI" panose="020B0502040204020203" pitchFamily="34" charset="0"/>
              <a:cs typeface="Segoe UI" panose="020B0502040204020203" pitchFamily="34" charset="0"/>
              <a:sym typeface="Calibri"/>
            </a:endParaRPr>
          </a:p>
          <a:p>
            <a:pPr marL="0" marR="0" lvl="0" indent="0" algn="l" rtl="0">
              <a:lnSpc>
                <a:spcPct val="90000"/>
              </a:lnSpc>
              <a:spcBef>
                <a:spcPts val="1000"/>
              </a:spcBef>
              <a:spcAft>
                <a:spcPts val="0"/>
              </a:spcAft>
              <a:buClr>
                <a:schemeClr val="dk1"/>
              </a:buClr>
              <a:buSzPts val="2800"/>
              <a:buFont typeface="Arial"/>
              <a:buNone/>
            </a:pPr>
            <a:r>
              <a:rPr lang="en-US" sz="1600" b="1" i="0" u="none" strike="noStrike" cap="none" dirty="0">
                <a:solidFill>
                  <a:schemeClr val="dk1"/>
                </a:solidFill>
                <a:latin typeface="Segoe UI" panose="020B0502040204020203" pitchFamily="34" charset="0"/>
                <a:cs typeface="Segoe UI" panose="020B0502040204020203" pitchFamily="34" charset="0"/>
                <a:sym typeface="Calibri"/>
              </a:rPr>
              <a:t>Tel: 0800 0862018</a:t>
            </a:r>
            <a:br>
              <a:rPr lang="en-US" sz="1800" b="1" i="0" u="none" strike="noStrike" cap="none" dirty="0">
                <a:solidFill>
                  <a:schemeClr val="dk1"/>
                </a:solidFill>
                <a:latin typeface="Segoe UI" panose="020B0502040204020203" pitchFamily="34" charset="0"/>
                <a:cs typeface="Segoe UI" panose="020B0502040204020203" pitchFamily="34" charset="0"/>
                <a:sym typeface="Calibri"/>
              </a:rPr>
            </a:br>
            <a:endParaRPr lang="en-US" sz="1800" b="1" i="0" u="none" strike="noStrike" cap="none" dirty="0">
              <a:solidFill>
                <a:schemeClr val="dk1"/>
              </a:solidFill>
              <a:latin typeface="Segoe UI" panose="020B0502040204020203" pitchFamily="34" charset="0"/>
              <a:cs typeface="Segoe UI" panose="020B0502040204020203" pitchFamily="34" charset="0"/>
              <a:sym typeface="Calibri"/>
            </a:endParaRPr>
          </a:p>
          <a:p>
            <a:pPr marL="0" marR="0" lvl="0" indent="0" algn="l" rtl="0">
              <a:lnSpc>
                <a:spcPct val="90000"/>
              </a:lnSpc>
              <a:spcBef>
                <a:spcPts val="1000"/>
              </a:spcBef>
              <a:spcAft>
                <a:spcPts val="0"/>
              </a:spcAft>
              <a:buClr>
                <a:schemeClr val="dk1"/>
              </a:buClr>
              <a:buSzPts val="2800"/>
              <a:buFont typeface="Arial"/>
              <a:buNone/>
            </a:pPr>
            <a:endParaRPr lang="en-US" sz="1800" b="1" dirty="0"/>
          </a:p>
          <a:p>
            <a:pPr marL="0" marR="0" lvl="0" indent="0" algn="l" rtl="0">
              <a:lnSpc>
                <a:spcPct val="90000"/>
              </a:lnSpc>
              <a:spcBef>
                <a:spcPts val="1000"/>
              </a:spcBef>
              <a:spcAft>
                <a:spcPts val="0"/>
              </a:spcAft>
              <a:buClr>
                <a:schemeClr val="dk1"/>
              </a:buClr>
              <a:buSzPts val="2800"/>
              <a:buFont typeface="Arial"/>
              <a:buNone/>
            </a:pPr>
            <a:endParaRPr lang="en-US" sz="1800" b="1" i="0" u="none" strike="noStrike" cap="none" dirty="0">
              <a:solidFill>
                <a:schemeClr val="dk1"/>
              </a:solidFill>
              <a:latin typeface="Segoe UI" panose="020B0502040204020203" pitchFamily="34" charset="0"/>
              <a:cs typeface="Segoe UI" panose="020B0502040204020203" pitchFamily="34" charset="0"/>
              <a:sym typeface="Calibri"/>
            </a:endParaRPr>
          </a:p>
          <a:p>
            <a:pPr marL="0" marR="0" lvl="0" indent="0" algn="l" rtl="0">
              <a:lnSpc>
                <a:spcPct val="90000"/>
              </a:lnSpc>
              <a:spcBef>
                <a:spcPts val="1000"/>
              </a:spcBef>
              <a:spcAft>
                <a:spcPts val="0"/>
              </a:spcAft>
              <a:buClr>
                <a:schemeClr val="dk1"/>
              </a:buClr>
              <a:buSzPts val="2800"/>
              <a:buFont typeface="Arial"/>
              <a:buNone/>
            </a:pPr>
            <a:endParaRPr lang="en-US" sz="1800" b="1" dirty="0"/>
          </a:p>
          <a:p>
            <a:pPr marL="0" marR="0" lvl="0" indent="0" algn="l" rtl="0">
              <a:lnSpc>
                <a:spcPct val="90000"/>
              </a:lnSpc>
              <a:spcBef>
                <a:spcPts val="1000"/>
              </a:spcBef>
              <a:spcAft>
                <a:spcPts val="0"/>
              </a:spcAft>
              <a:buClr>
                <a:schemeClr val="dk1"/>
              </a:buClr>
              <a:buSzPts val="2800"/>
              <a:buFont typeface="Arial"/>
              <a:buNone/>
            </a:pPr>
            <a:br>
              <a:rPr lang="en-US" sz="1200" dirty="0"/>
            </a:br>
            <a:br>
              <a:rPr lang="en-US" sz="1200" dirty="0"/>
            </a:br>
            <a:r>
              <a:rPr lang="en-US" sz="1000" dirty="0"/>
              <a:t>Author: Jo Kaptijn, Director, Data Protection Education.</a:t>
            </a:r>
          </a:p>
          <a:p>
            <a:pPr marL="0" lvl="0" indent="0">
              <a:buClr>
                <a:schemeClr val="dk1"/>
              </a:buClr>
              <a:buNone/>
            </a:pPr>
            <a:r>
              <a:rPr lang="en-US" sz="1000" i="1" u="none" strike="noStrike" cap="none" dirty="0">
                <a:solidFill>
                  <a:schemeClr val="dk1"/>
                </a:solidFill>
                <a:latin typeface="Segoe UI" panose="020B0502040204020203" pitchFamily="34" charset="0"/>
                <a:cs typeface="Segoe UI" panose="020B0502040204020203" pitchFamily="34" charset="0"/>
                <a:sym typeface="Calibri"/>
              </a:rPr>
              <a:t>Disclaimer: </a:t>
            </a:r>
            <a:r>
              <a:rPr lang="en-GB" sz="1000" i="1" u="none" strike="noStrike" cap="none" dirty="0">
                <a:solidFill>
                  <a:schemeClr val="dk1"/>
                </a:solidFill>
                <a:latin typeface="Segoe UI" panose="020B0502040204020203" pitchFamily="34" charset="0"/>
                <a:cs typeface="Segoe UI" panose="020B0502040204020203" pitchFamily="34" charset="0"/>
                <a:sym typeface="Calibri"/>
              </a:rPr>
              <a:t>T</a:t>
            </a:r>
            <a:r>
              <a:rPr lang="en-GB" sz="1000" i="1" dirty="0"/>
              <a:t>his content is provided for information and training purposes only and should not be relied upon as legal advice or to determine how GDPR might apply to you and your organisation. </a:t>
            </a:r>
            <a:endParaRPr sz="1000" i="1" u="none" strike="noStrike" cap="none" dirty="0">
              <a:solidFill>
                <a:schemeClr val="dk1"/>
              </a:solidFill>
              <a:latin typeface="Segoe UI" panose="020B0502040204020203" pitchFamily="34" charset="0"/>
              <a:cs typeface="Segoe UI" panose="020B0502040204020203" pitchFamily="34" charset="0"/>
              <a:sym typeface="Calibri"/>
            </a:endParaRPr>
          </a:p>
        </p:txBody>
      </p:sp>
      <p:pic>
        <p:nvPicPr>
          <p:cNvPr id="6" name="Picture 5">
            <a:extLst>
              <a:ext uri="{FF2B5EF4-FFF2-40B4-BE49-F238E27FC236}">
                <a16:creationId xmlns:a16="http://schemas.microsoft.com/office/drawing/2014/main" id="{C662B53C-FBCF-4C70-AB19-A1D0858B8D28}"/>
              </a:ext>
            </a:extLst>
          </p:cNvPr>
          <p:cNvPicPr>
            <a:picLocks noChangeAspect="1"/>
          </p:cNvPicPr>
          <p:nvPr/>
        </p:nvPicPr>
        <p:blipFill>
          <a:blip r:embed="rId3"/>
          <a:stretch>
            <a:fillRect/>
          </a:stretch>
        </p:blipFill>
        <p:spPr>
          <a:xfrm>
            <a:off x="736984" y="3163204"/>
            <a:ext cx="4819158" cy="1193572"/>
          </a:xfrm>
          <a:prstGeom prst="rect">
            <a:avLst/>
          </a:prstGeom>
        </p:spPr>
      </p:pic>
    </p:spTree>
    <p:extLst>
      <p:ext uri="{BB962C8B-B14F-4D97-AF65-F5344CB8AC3E}">
        <p14:creationId xmlns:p14="http://schemas.microsoft.com/office/powerpoint/2010/main" val="2419058383"/>
      </p:ext>
    </p:extLst>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794</Words>
  <Application>Microsoft Office PowerPoint</Application>
  <PresentationFormat>On-screen Show (16:9)</PresentationFormat>
  <Paragraphs>129</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 CHRISTY</vt:lpstr>
      <vt:lpstr>Arial</vt:lpstr>
      <vt:lpstr>Calibri</vt:lpstr>
      <vt:lpstr>Segoe UI</vt:lpstr>
      <vt:lpstr>Wingdings</vt:lpstr>
      <vt:lpstr>Custom Design</vt:lpstr>
      <vt:lpstr>TAKE FIVE Staff Training</vt:lpstr>
      <vt:lpstr>Is a clear desk policy more that just having a clear desk?</vt:lpstr>
      <vt:lpstr>So, what does a clear desk and screen policy ‘look like’?</vt:lpstr>
      <vt:lpstr>PowerPoint Presentation</vt:lpstr>
      <vt:lpstr>PowerPoint Presentation</vt:lpstr>
      <vt:lpstr>Clear desks…          Clear screens…</vt:lpstr>
      <vt:lpstr>Tools – The 3Ps </vt:lpstr>
      <vt:lpstr>Tools – Information classification</vt:lpstr>
      <vt:lpstr>Tools – Retention policy</vt:lpstr>
      <vt:lpstr>COMPETITION TIME!</vt:lpstr>
      <vt:lpstr>SUMMARY A clear desk policy is more that just having a clear desk…</vt:lpstr>
      <vt:lpstr>Any questions</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2018-07-16T10:14:30Z</dcterms:modified>
</cp:coreProperties>
</file>