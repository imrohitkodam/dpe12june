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Schoolbell"/>
      <p:regular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96877413-0A6A-44EB-BF4E-155E3BCF56B8}">
  <a:tblStyle styleId="{96877413-0A6A-44EB-BF4E-155E3BCF56B8}" styleName="Table_0">
    <a:wholeTbl>
      <a:tcTxStyle b="off" i="off">
        <a:font>
          <a:latin typeface="Calibri"/>
          <a:ea typeface="Calibri"/>
          <a:cs typeface="Calibri"/>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lastCol>
    <a:firstCol>
      <a:tcTxStyle b="on" i="off"/>
    </a:firstCol>
    <a:lastRow>
      <a:tcTxStyle b="on" i="off"/>
      <a:tcStyle>
        <a:tcBdr>
          <a:top>
            <a:ln cap="flat" cmpd="sng" w="25400">
              <a:solidFill>
                <a:schemeClr val="accent1"/>
              </a:solidFill>
              <a:prstDash val="solid"/>
              <a:round/>
              <a:headEnd len="sm" w="sm" type="none"/>
              <a:tailEnd len="sm" w="sm" type="none"/>
            </a:ln>
          </a:top>
        </a:tcBdr>
        <a:fill>
          <a:solidFill>
            <a:srgbClr val="E8EBF5"/>
          </a:solidFill>
        </a:fill>
      </a:tcStyle>
    </a:lastRow>
    <a:seCell>
      <a:tcTxStyle b="off" i="off"/>
    </a:seCell>
    <a:swCell>
      <a:tcTxStyle b="off" i="off"/>
    </a:swCell>
    <a:firstRow>
      <a:tcTxStyle b="on" i="off"/>
      <a:tcStyle>
        <a:fill>
          <a:solidFill>
            <a:srgbClr val="E8EBF5"/>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Schoolbell-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Shape 3"/>
          <p:cNvSpPr txBox="1"/>
          <p:nvPr>
            <p:ph idx="2" type="hdr"/>
          </p:nvPr>
        </p:nvSpPr>
        <p:spPr>
          <a:xfrm>
            <a:off x="0" y="0"/>
            <a:ext cx="2971799" cy="457200"/>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4" name="Shape 4"/>
          <p:cNvSpPr txBox="1"/>
          <p:nvPr>
            <p:ph idx="10" type="dt"/>
          </p:nvPr>
        </p:nvSpPr>
        <p:spPr>
          <a:xfrm>
            <a:off x="3884612" y="0"/>
            <a:ext cx="2971799" cy="457200"/>
          </a:xfrm>
          <a:prstGeom prst="rect">
            <a:avLst/>
          </a:prstGeom>
          <a:noFill/>
          <a:ln>
            <a:noFill/>
          </a:ln>
        </p:spPr>
        <p:txBody>
          <a:bodyPr anchorCtr="0" anchor="t" bIns="91425" lIns="91425" spcFirstLastPara="1" rIns="91425" wrap="square" tIns="91425"/>
          <a:lstStyle>
            <a:lvl1pPr lvl="0" marR="0" rtl="0" algn="r">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5" name="Shape 5"/>
          <p:cNvSpPr/>
          <p:nvPr>
            <p:ph idx="3"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Shape 6"/>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lstStyle>
            <a:lvl1pPr indent="-304800" lvl="0" marL="4572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1pPr>
            <a:lvl2pPr indent="-304800" lvl="1" marL="9144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3pPr>
            <a:lvl4pPr indent="-304800" lvl="3" marL="18288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4pPr>
            <a:lvl5pPr indent="-304800" lvl="4" marL="22860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5pPr>
            <a:lvl6pPr indent="-304800" lvl="5" marL="27432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6pPr>
            <a:lvl7pPr indent="-304800" lvl="6" marL="32004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7pPr>
            <a:lvl8pPr indent="-304800" lvl="7" marL="36576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8pPr>
            <a:lvl9pPr indent="-304800" lvl="8" marL="4114800" marR="0" rtl="0" algn="l">
              <a:lnSpc>
                <a:spcPct val="100000"/>
              </a:lnSpc>
              <a:spcBef>
                <a:spcPts val="0"/>
              </a:spcBef>
              <a:spcAft>
                <a:spcPts val="0"/>
              </a:spcAft>
              <a:buClr>
                <a:schemeClr val="dk1"/>
              </a:buClr>
              <a:buSzPts val="1200"/>
              <a:buFont typeface="Calibri"/>
              <a:buChar char="■"/>
              <a:defRPr b="0" i="0" sz="1200" u="none" cap="none" strike="noStrike">
                <a:solidFill>
                  <a:schemeClr val="dk1"/>
                </a:solidFill>
                <a:latin typeface="Calibri"/>
                <a:ea typeface="Calibri"/>
                <a:cs typeface="Calibri"/>
                <a:sym typeface="Calibri"/>
              </a:defRPr>
            </a:lvl9pPr>
          </a:lstStyle>
          <a:p/>
        </p:txBody>
      </p:sp>
      <p:sp>
        <p:nvSpPr>
          <p:cNvPr id="7" name="Shape 7"/>
          <p:cNvSpPr txBox="1"/>
          <p:nvPr>
            <p:ph idx="11" type="ftr"/>
          </p:nvPr>
        </p:nvSpPr>
        <p:spPr>
          <a:xfrm>
            <a:off x="0" y="8685213"/>
            <a:ext cx="2971799" cy="457200"/>
          </a:xfrm>
          <a:prstGeom prst="rect">
            <a:avLst/>
          </a:prstGeom>
          <a:noFill/>
          <a:ln>
            <a:noFill/>
          </a:ln>
        </p:spPr>
        <p:txBody>
          <a:bodyPr anchorCtr="0" anchor="b" bIns="91425" lIns="91425" spcFirstLastPara="1" rIns="91425" wrap="square" tIns="91425"/>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9pPr>
          </a:lstStyle>
          <a:p/>
        </p:txBody>
      </p:sp>
      <p:sp>
        <p:nvSpPr>
          <p:cNvPr id="8" name="Shape 8"/>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8" name="Shape 78"/>
        <p:cNvGrpSpPr/>
        <p:nvPr/>
      </p:nvGrpSpPr>
      <p:grpSpPr>
        <a:xfrm>
          <a:off x="0" y="0"/>
          <a:ext cx="0" cy="0"/>
          <a:chOff x="0" y="0"/>
          <a:chExt cx="0" cy="0"/>
        </a:xfrm>
      </p:grpSpPr>
      <p:sp>
        <p:nvSpPr>
          <p:cNvPr id="79" name="Shape 79"/>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7620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80" name="Shape 8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3" name="Shape 83"/>
        <p:cNvGrpSpPr/>
        <p:nvPr/>
      </p:nvGrpSpPr>
      <p:grpSpPr>
        <a:xfrm>
          <a:off x="0" y="0"/>
          <a:ext cx="0" cy="0"/>
          <a:chOff x="0" y="0"/>
          <a:chExt cx="0" cy="0"/>
        </a:xfrm>
      </p:grpSpPr>
      <p:sp>
        <p:nvSpPr>
          <p:cNvPr id="84" name="Shape 84"/>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Shape 85"/>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Calibri"/>
              <a:buNone/>
            </a:pPr>
            <a:r>
              <a:rPr lang="en-US"/>
              <a:t>Highlighting abuses of data.</a:t>
            </a:r>
            <a:endParaRPr/>
          </a:p>
          <a:p>
            <a:pPr indent="-228600" lvl="0" marL="457200" marR="0" rtl="0" algn="l">
              <a:lnSpc>
                <a:spcPct val="100000"/>
              </a:lnSpc>
              <a:spcBef>
                <a:spcPts val="0"/>
              </a:spcBef>
              <a:spcAft>
                <a:spcPts val="0"/>
              </a:spcAft>
              <a:buClr>
                <a:schemeClr val="dk1"/>
              </a:buClr>
              <a:buSzPts val="1200"/>
              <a:buFont typeface="Calibri"/>
              <a:buNone/>
            </a:pPr>
            <a:r>
              <a:rPr lang="en-US"/>
              <a:t>First Story - Facebook, Cambridge Analytica - ask who has FB account. then who had read FB ts and Cs</a:t>
            </a:r>
            <a:endParaRPr/>
          </a:p>
          <a:p>
            <a:pPr indent="-228600" lvl="0" marL="457200" marR="0" rtl="0" algn="l">
              <a:lnSpc>
                <a:spcPct val="100000"/>
              </a:lnSpc>
              <a:spcBef>
                <a:spcPts val="0"/>
              </a:spcBef>
              <a:spcAft>
                <a:spcPts val="0"/>
              </a:spcAft>
              <a:buClr>
                <a:schemeClr val="dk1"/>
              </a:buClr>
              <a:buSzPts val="1200"/>
              <a:buFont typeface="Calibri"/>
              <a:buNone/>
            </a:pPr>
            <a:r>
              <a:rPr lang="en-US"/>
              <a:t>Second - Talk Talk - 400K fine, largest issues by ICO - ask if there are TT customers</a:t>
            </a:r>
            <a:endParaRPr/>
          </a:p>
          <a:p>
            <a:pPr indent="-228600" lvl="0" marL="457200" marR="0" rtl="0" algn="l">
              <a:lnSpc>
                <a:spcPct val="100000"/>
              </a:lnSpc>
              <a:spcBef>
                <a:spcPts val="0"/>
              </a:spcBef>
              <a:spcAft>
                <a:spcPts val="0"/>
              </a:spcAft>
              <a:buClr>
                <a:schemeClr val="dk1"/>
              </a:buClr>
              <a:buSzPts val="1200"/>
              <a:buFont typeface="Calibri"/>
              <a:buNone/>
            </a:pPr>
            <a:r>
              <a:rPr lang="en-US"/>
              <a:t>Third - story of lost terrorism paper...an example of “it will never happen to me”</a:t>
            </a:r>
            <a:endParaRPr/>
          </a:p>
          <a:p>
            <a:pPr indent="-228600" lvl="0" marL="457200" marR="0" rtl="0" algn="l">
              <a:lnSpc>
                <a:spcPct val="100000"/>
              </a:lnSpc>
              <a:spcBef>
                <a:spcPts val="0"/>
              </a:spcBef>
              <a:spcAft>
                <a:spcPts val="0"/>
              </a:spcAft>
              <a:buClr>
                <a:schemeClr val="dk1"/>
              </a:buClr>
              <a:buSzPts val="1200"/>
              <a:buFont typeface="Calibri"/>
              <a:buNone/>
            </a:pPr>
            <a:r>
              <a:rPr lang="en-US"/>
              <a:t>Point out rising awareness of GDPR...Cliff Richard, suing under DPA</a:t>
            </a:r>
            <a:endParaRPr/>
          </a:p>
        </p:txBody>
      </p:sp>
      <p:sp>
        <p:nvSpPr>
          <p:cNvPr id="86" name="Shape 86"/>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Shape 9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Shape 94"/>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Comes into force on May 25</a:t>
            </a:r>
            <a:r>
              <a:rPr b="0" baseline="30000" i="0" lang="en-US" sz="1200" u="none" cap="none" strike="noStrike">
                <a:solidFill>
                  <a:schemeClr val="dk1"/>
                </a:solidFill>
                <a:latin typeface="Calibri"/>
                <a:ea typeface="Calibri"/>
                <a:cs typeface="Calibri"/>
                <a:sym typeface="Calibri"/>
              </a:rPr>
              <a:t>th</a:t>
            </a:r>
            <a:endParaRPr b="0" i="0" sz="12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Is a law and all schools must be compliant</a:t>
            </a:r>
            <a:endParaRPr b="0" i="0" sz="12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Additional accountability</a:t>
            </a:r>
            <a:endParaRPr b="0" i="0" sz="12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A higher profile for data protection</a:t>
            </a:r>
            <a:endParaRPr b="0" i="0" sz="12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Enhanced rights for data subjects</a:t>
            </a:r>
            <a:endParaRPr b="0" i="0" sz="1200" u="none" cap="none" strike="noStrike">
              <a:solidFill>
                <a:schemeClr val="dk1"/>
              </a:solidFill>
              <a:latin typeface="Calibri"/>
              <a:ea typeface="Calibri"/>
              <a:cs typeface="Calibri"/>
              <a:sym typeface="Calibri"/>
            </a:endParaRPr>
          </a:p>
          <a:p>
            <a:pPr indent="-457200" lvl="0" marL="457200" marR="0" rtl="0" algn="l">
              <a:lnSpc>
                <a:spcPct val="100000"/>
              </a:lnSpc>
              <a:spcBef>
                <a:spcPts val="0"/>
              </a:spcBef>
              <a:spcAft>
                <a:spcPts val="0"/>
              </a:spcAft>
              <a:buClr>
                <a:schemeClr val="dk1"/>
              </a:buClr>
              <a:buSzPts val="1200"/>
              <a:buFont typeface="Arial"/>
              <a:buChar char="•"/>
            </a:pPr>
            <a:r>
              <a:rPr b="0" i="0" lang="en-US" sz="1200" u="none" cap="none" strike="noStrike">
                <a:solidFill>
                  <a:schemeClr val="dk1"/>
                </a:solidFill>
                <a:latin typeface="Calibri"/>
                <a:ea typeface="Calibri"/>
                <a:cs typeface="Calibri"/>
                <a:sym typeface="Calibri"/>
              </a:rPr>
              <a:t>Higher expectations from everyone</a:t>
            </a:r>
            <a:endParaRPr b="0" i="0" sz="1200" u="none" cap="none" strike="noStrike">
              <a:solidFill>
                <a:schemeClr val="dk1"/>
              </a:solidFill>
              <a:latin typeface="Calibri"/>
              <a:ea typeface="Calibri"/>
              <a:cs typeface="Calibri"/>
              <a:sym typeface="Calibri"/>
            </a:endParaRPr>
          </a:p>
          <a:p>
            <a:pPr indent="7620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95" name="Shape 95"/>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Shape 102"/>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Shape 103"/>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Char char="●"/>
            </a:pPr>
            <a:r>
              <a:rPr lang="en-US"/>
              <a:t>Ask who knows any</a:t>
            </a:r>
            <a:endParaRPr/>
          </a:p>
          <a:p>
            <a:pPr indent="0" lvl="0" marL="0" marR="0" rtl="0" algn="l">
              <a:lnSpc>
                <a:spcPct val="100000"/>
              </a:lnSpc>
              <a:spcBef>
                <a:spcPts val="0"/>
              </a:spcBef>
              <a:spcAft>
                <a:spcPts val="0"/>
              </a:spcAft>
              <a:buClr>
                <a:schemeClr val="dk1"/>
              </a:buClr>
              <a:buSzPts val="1200"/>
              <a:buFont typeface="Calibri"/>
              <a:buChar char="●"/>
            </a:pPr>
            <a:r>
              <a:rPr lang="en-US"/>
              <a:t>Talk through Personal Data, Data Subject</a:t>
            </a:r>
            <a:endParaRPr/>
          </a:p>
          <a:p>
            <a:pPr indent="0" lvl="0" marL="0" marR="0" rtl="0" algn="l">
              <a:lnSpc>
                <a:spcPct val="100000"/>
              </a:lnSpc>
              <a:spcBef>
                <a:spcPts val="0"/>
              </a:spcBef>
              <a:spcAft>
                <a:spcPts val="0"/>
              </a:spcAft>
              <a:buClr>
                <a:schemeClr val="dk1"/>
              </a:buClr>
              <a:buSzPts val="1200"/>
              <a:buFont typeface="Calibri"/>
              <a:buChar char="●"/>
            </a:pPr>
            <a:r>
              <a:rPr lang="en-US"/>
              <a:t>Point out most of these aren’t new, expect for accountability and Right of Erasure...tell the story of Snr Gonzales the most famous bankrupt in the world:</a:t>
            </a:r>
            <a:endParaRPr/>
          </a:p>
          <a:p>
            <a:pPr indent="0" lvl="0" marL="0" marR="0" rtl="0" algn="l">
              <a:lnSpc>
                <a:spcPct val="100000"/>
              </a:lnSpc>
              <a:spcBef>
                <a:spcPts val="0"/>
              </a:spcBef>
              <a:spcAft>
                <a:spcPts val="0"/>
              </a:spcAft>
              <a:buClr>
                <a:schemeClr val="dk1"/>
              </a:buClr>
              <a:buSzPts val="1200"/>
              <a:buFont typeface="Calibri"/>
              <a:buChar char="●"/>
            </a:pPr>
            <a:r>
              <a:rPr lang="en-US"/>
              <a:t>https://www.wikiwand.com/en/Google_Spain_v_AEPD_and_Mario_Costeja_Gonz%C3%A1lez</a:t>
            </a:r>
            <a:endParaRPr/>
          </a:p>
        </p:txBody>
      </p:sp>
      <p:sp>
        <p:nvSpPr>
          <p:cNvPr id="104" name="Shape 104"/>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Shape 109"/>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7620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0" name="Shape 11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7" name="Shape 117"/>
        <p:cNvGrpSpPr/>
        <p:nvPr/>
      </p:nvGrpSpPr>
      <p:grpSpPr>
        <a:xfrm>
          <a:off x="0" y="0"/>
          <a:ext cx="0" cy="0"/>
          <a:chOff x="0" y="0"/>
          <a:chExt cx="0" cy="0"/>
        </a:xfrm>
      </p:grpSpPr>
      <p:sp>
        <p:nvSpPr>
          <p:cNvPr id="118" name="Shape 118"/>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7620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19" name="Shape 11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2" name="Shape 122"/>
        <p:cNvGrpSpPr/>
        <p:nvPr/>
      </p:nvGrpSpPr>
      <p:grpSpPr>
        <a:xfrm>
          <a:off x="0" y="0"/>
          <a:ext cx="0" cy="0"/>
          <a:chOff x="0" y="0"/>
          <a:chExt cx="0" cy="0"/>
        </a:xfrm>
      </p:grpSpPr>
      <p:sp>
        <p:nvSpPr>
          <p:cNvPr id="123" name="Shape 12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Shape 124"/>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Calibri"/>
              <a:buNone/>
            </a:pPr>
            <a:r>
              <a:rPr lang="en-US"/>
              <a:t>Data Subject = natural living person...be careful what you teach in British Values :)</a:t>
            </a:r>
            <a:endParaRPr b="0" i="0" sz="1200" u="none" cap="none" strike="noStrike">
              <a:solidFill>
                <a:schemeClr val="dk1"/>
              </a:solidFill>
              <a:latin typeface="Calibri"/>
              <a:ea typeface="Calibri"/>
              <a:cs typeface="Calibri"/>
              <a:sym typeface="Calibri"/>
            </a:endParaRPr>
          </a:p>
        </p:txBody>
      </p:sp>
      <p:sp>
        <p:nvSpPr>
          <p:cNvPr id="125" name="Shape 125"/>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Shape 12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Shape 130"/>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Calibri"/>
              <a:buNone/>
            </a:pPr>
            <a:r>
              <a:rPr lang="en-US"/>
              <a:t>Tell the story:</a:t>
            </a:r>
            <a:endParaRPr/>
          </a:p>
          <a:p>
            <a:pPr indent="-228600" lvl="0" marL="457200" marR="0" rtl="0" algn="l">
              <a:lnSpc>
                <a:spcPct val="100000"/>
              </a:lnSpc>
              <a:spcBef>
                <a:spcPts val="0"/>
              </a:spcBef>
              <a:spcAft>
                <a:spcPts val="0"/>
              </a:spcAft>
              <a:buClr>
                <a:schemeClr val="dk1"/>
              </a:buClr>
              <a:buSzPts val="1200"/>
              <a:buFont typeface="Calibri"/>
              <a:buNone/>
            </a:pPr>
            <a:r>
              <a:rPr lang="en-US"/>
              <a:t>http://www.bbc.co.uk/news/uk-england-leicestershire-42667451</a:t>
            </a:r>
            <a:endParaRPr/>
          </a:p>
        </p:txBody>
      </p:sp>
      <p:sp>
        <p:nvSpPr>
          <p:cNvPr id="131" name="Shape 131"/>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Shape 137"/>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76200" lvl="0" marL="0" marR="0" rtl="0" algn="l">
              <a:lnSpc>
                <a:spcPct val="100000"/>
              </a:lnSpc>
              <a:spcBef>
                <a:spcPts val="0"/>
              </a:spcBef>
              <a:spcAft>
                <a:spcPts val="0"/>
              </a:spcAft>
              <a:buClr>
                <a:schemeClr val="dk1"/>
              </a:buClr>
              <a:buSzPts val="1200"/>
              <a:buFont typeface="Calibri"/>
              <a:buNone/>
            </a:pPr>
            <a:r>
              <a:rPr lang="en-US"/>
              <a:t>There’s an increase in awareness...reflect on how that might materialise with greater awareness in parents and pupils</a:t>
            </a:r>
            <a:endParaRPr/>
          </a:p>
          <a:p>
            <a:pPr indent="76200" lvl="0" marL="0" marR="0" rtl="0" algn="l">
              <a:lnSpc>
                <a:spcPct val="100000"/>
              </a:lnSpc>
              <a:spcBef>
                <a:spcPts val="0"/>
              </a:spcBef>
              <a:spcAft>
                <a:spcPts val="0"/>
              </a:spcAft>
              <a:buClr>
                <a:schemeClr val="dk1"/>
              </a:buClr>
              <a:buSzPts val="1200"/>
              <a:buFont typeface="Calibri"/>
              <a:buNone/>
            </a:pPr>
            <a:r>
              <a:t/>
            </a:r>
            <a:endParaRPr/>
          </a:p>
        </p:txBody>
      </p:sp>
      <p:sp>
        <p:nvSpPr>
          <p:cNvPr id="138" name="Shape 13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Shape 147"/>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76200" lvl="0" marL="0" marR="0" rtl="0" algn="l">
              <a:lnSpc>
                <a:spcPct val="100000"/>
              </a:lnSpc>
              <a:spcBef>
                <a:spcPts val="0"/>
              </a:spcBef>
              <a:spcAft>
                <a:spcPts val="0"/>
              </a:spcAft>
              <a:buClr>
                <a:schemeClr val="dk1"/>
              </a:buClr>
              <a:buSzPts val="1200"/>
              <a:buFont typeface="Calibri"/>
              <a:buNone/>
            </a:pPr>
            <a:r>
              <a:rPr lang="en-US"/>
              <a:t>GDPR is principle based...it makes it aspirational</a:t>
            </a:r>
            <a:r>
              <a:rPr lang="en-US"/>
              <a:t>...</a:t>
            </a:r>
            <a:r>
              <a:rPr lang="en-US"/>
              <a:t>.we have to demonstrate a commitment to GDPR</a:t>
            </a:r>
            <a:endParaRPr b="0" i="0" sz="1200" u="none" cap="none" strike="noStrike">
              <a:solidFill>
                <a:schemeClr val="dk1"/>
              </a:solidFill>
              <a:latin typeface="Calibri"/>
              <a:ea typeface="Calibri"/>
              <a:cs typeface="Calibri"/>
              <a:sym typeface="Calibri"/>
            </a:endParaRPr>
          </a:p>
        </p:txBody>
      </p:sp>
      <p:sp>
        <p:nvSpPr>
          <p:cNvPr id="148" name="Shape 14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Shape 15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Shape 156"/>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Known as the lawful basis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rgbClr val="024663"/>
                </a:solidFill>
                <a:latin typeface="Calibri"/>
                <a:ea typeface="Calibri"/>
                <a:cs typeface="Calibri"/>
                <a:sym typeface="Calibri"/>
              </a:rPr>
              <a:t>Contractual</a:t>
            </a:r>
            <a:br>
              <a:rPr b="0" i="0" lang="en-US" sz="1200" u="none" cap="none" strike="noStrike">
                <a:solidFill>
                  <a:srgbClr val="024663"/>
                </a:solidFill>
                <a:latin typeface="Calibri"/>
                <a:ea typeface="Calibri"/>
                <a:cs typeface="Calibri"/>
                <a:sym typeface="Calibri"/>
              </a:rPr>
            </a:br>
            <a:r>
              <a:rPr b="0" i="0" lang="en-US" sz="1200" u="none" cap="none" strike="noStrike">
                <a:solidFill>
                  <a:srgbClr val="024663"/>
                </a:solidFill>
                <a:latin typeface="Calibri"/>
                <a:ea typeface="Calibri"/>
                <a:cs typeface="Calibri"/>
                <a:sym typeface="Calibri"/>
              </a:rPr>
              <a:t>Such as employment contracts for staff.</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rgbClr val="024663"/>
                </a:solidFill>
                <a:latin typeface="Calibri"/>
                <a:ea typeface="Calibri"/>
                <a:cs typeface="Calibri"/>
                <a:sym typeface="Calibri"/>
              </a:rPr>
              <a:t>Legal obligation</a:t>
            </a:r>
            <a:br>
              <a:rPr b="0" i="0" lang="en-US" sz="1200" u="none" cap="none" strike="noStrike">
                <a:solidFill>
                  <a:srgbClr val="024663"/>
                </a:solidFill>
                <a:latin typeface="Calibri"/>
                <a:ea typeface="Calibri"/>
                <a:cs typeface="Calibri"/>
                <a:sym typeface="Calibri"/>
              </a:rPr>
            </a:br>
            <a:r>
              <a:rPr b="0" i="0" lang="en-US" sz="1200" u="none" cap="none" strike="noStrike">
                <a:solidFill>
                  <a:srgbClr val="024663"/>
                </a:solidFill>
                <a:latin typeface="Calibri"/>
                <a:ea typeface="Calibri"/>
                <a:cs typeface="Calibri"/>
                <a:sym typeface="Calibri"/>
              </a:rPr>
              <a:t>Such as collecting attendance data for statutory returns.</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rgbClr val="024663"/>
                </a:solidFill>
                <a:latin typeface="Calibri"/>
                <a:ea typeface="Calibri"/>
                <a:cs typeface="Calibri"/>
                <a:sym typeface="Calibri"/>
              </a:rPr>
              <a:t>Protecting vital interests</a:t>
            </a:r>
            <a:br>
              <a:rPr b="0" i="0" lang="en-US" sz="1200" u="none" cap="none" strike="noStrike">
                <a:solidFill>
                  <a:srgbClr val="024663"/>
                </a:solidFill>
                <a:latin typeface="Calibri"/>
                <a:ea typeface="Calibri"/>
                <a:cs typeface="Calibri"/>
                <a:sym typeface="Calibri"/>
              </a:rPr>
            </a:br>
            <a:r>
              <a:rPr b="0" i="0" lang="en-US" sz="1200" u="none" cap="none" strike="noStrike">
                <a:solidFill>
                  <a:srgbClr val="024663"/>
                </a:solidFill>
                <a:latin typeface="Calibri"/>
                <a:ea typeface="Calibri"/>
                <a:cs typeface="Calibri"/>
                <a:sym typeface="Calibri"/>
              </a:rPr>
              <a:t>Such as disclosing medical information to health professionals or information for references.</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rgbClr val="024663"/>
                </a:solidFill>
                <a:latin typeface="Calibri"/>
                <a:ea typeface="Calibri"/>
                <a:cs typeface="Calibri"/>
                <a:sym typeface="Calibri"/>
              </a:rPr>
              <a:t>Public interest</a:t>
            </a:r>
            <a:br>
              <a:rPr b="0" i="0" lang="en-US" sz="1200" u="none" cap="none" strike="noStrike">
                <a:solidFill>
                  <a:srgbClr val="024663"/>
                </a:solidFill>
                <a:latin typeface="Calibri"/>
                <a:ea typeface="Calibri"/>
                <a:cs typeface="Calibri"/>
                <a:sym typeface="Calibri"/>
              </a:rPr>
            </a:br>
            <a:r>
              <a:rPr b="0" i="0" lang="en-US" sz="1200" u="none" cap="none" strike="noStrike">
                <a:solidFill>
                  <a:srgbClr val="024663"/>
                </a:solidFill>
                <a:latin typeface="Calibri"/>
                <a:ea typeface="Calibri"/>
                <a:cs typeface="Calibri"/>
                <a:sym typeface="Calibri"/>
              </a:rPr>
              <a:t>This applies to data collected for statutory purposes. (ICO for schools </a:t>
            </a:r>
            <a:r>
              <a:rPr lang="en-US">
                <a:solidFill>
                  <a:srgbClr val="024663"/>
                </a:solidFill>
              </a:rPr>
              <a:t>“most, if not all of your data...”) </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rgbClr val="024663"/>
                </a:solidFill>
                <a:latin typeface="Calibri"/>
                <a:ea typeface="Calibri"/>
                <a:cs typeface="Calibri"/>
                <a:sym typeface="Calibri"/>
              </a:rPr>
              <a:t>Consent</a:t>
            </a:r>
            <a:br>
              <a:rPr b="0" i="0" lang="en-US" sz="1200" u="none" cap="none" strike="noStrike">
                <a:solidFill>
                  <a:srgbClr val="024663"/>
                </a:solidFill>
                <a:latin typeface="Calibri"/>
                <a:ea typeface="Calibri"/>
                <a:cs typeface="Calibri"/>
                <a:sym typeface="Calibri"/>
              </a:rPr>
            </a:br>
            <a:r>
              <a:rPr b="0" i="0" lang="en-US" sz="1200" u="none" cap="none" strike="noStrike">
                <a:solidFill>
                  <a:srgbClr val="024663"/>
                </a:solidFill>
                <a:latin typeface="Calibri"/>
                <a:ea typeface="Calibri"/>
                <a:cs typeface="Calibri"/>
                <a:sym typeface="Calibri"/>
              </a:rPr>
              <a:t>Information Societ</a:t>
            </a:r>
            <a:r>
              <a:rPr lang="en-US">
                <a:solidFill>
                  <a:srgbClr val="024663"/>
                </a:solidFill>
              </a:rPr>
              <a:t>y Services: </a:t>
            </a:r>
            <a:r>
              <a:rPr b="0" i="0" lang="en-US" sz="1200" u="none" cap="none" strike="noStrike">
                <a:solidFill>
                  <a:srgbClr val="024663"/>
                </a:solidFill>
                <a:latin typeface="Calibri"/>
                <a:ea typeface="Calibri"/>
                <a:cs typeface="Calibri"/>
                <a:sym typeface="Calibri"/>
              </a:rPr>
              <a:t>For children under the age of 13, this consent must be given by their parents. Consent may also be withdrawn. A</a:t>
            </a:r>
            <a:r>
              <a:rPr lang="en-US">
                <a:solidFill>
                  <a:srgbClr val="024663"/>
                </a:solidFill>
              </a:rPr>
              <a:t>sk where consent is used...no need for consent where a legal obligation exists (eg. medical  - Children and families Act 2014)</a:t>
            </a:r>
            <a:endParaRPr b="0" i="0" sz="1200" u="none" cap="none" strike="noStrike">
              <a:solidFill>
                <a:schemeClr val="dk1"/>
              </a:solidFill>
              <a:latin typeface="Calibri"/>
              <a:ea typeface="Calibri"/>
              <a:cs typeface="Calibri"/>
              <a:sym typeface="Calibri"/>
            </a:endParaRPr>
          </a:p>
          <a:p>
            <a:pPr indent="-171450" lvl="0" marL="171450" marR="0" rtl="0" algn="l">
              <a:lnSpc>
                <a:spcPct val="100000"/>
              </a:lnSpc>
              <a:spcBef>
                <a:spcPts val="0"/>
              </a:spcBef>
              <a:spcAft>
                <a:spcPts val="0"/>
              </a:spcAft>
              <a:buClr>
                <a:schemeClr val="dk1"/>
              </a:buClr>
              <a:buSzPts val="1200"/>
              <a:buFont typeface="Arial"/>
              <a:buChar char="•"/>
            </a:pPr>
            <a:r>
              <a:rPr b="0" i="0" lang="en-US" sz="1200" u="none" cap="none" strike="noStrike">
                <a:solidFill>
                  <a:srgbClr val="024663"/>
                </a:solidFill>
                <a:latin typeface="Calibri"/>
                <a:ea typeface="Calibri"/>
                <a:cs typeface="Calibri"/>
                <a:sym typeface="Calibri"/>
              </a:rPr>
              <a:t>Legitimate interest</a:t>
            </a:r>
            <a:br>
              <a:rPr b="0" i="0" lang="en-US" sz="1200" u="none" cap="none" strike="noStrike">
                <a:solidFill>
                  <a:srgbClr val="024663"/>
                </a:solidFill>
                <a:latin typeface="Calibri"/>
                <a:ea typeface="Calibri"/>
                <a:cs typeface="Calibri"/>
                <a:sym typeface="Calibri"/>
              </a:rPr>
            </a:br>
            <a:r>
              <a:rPr b="0" i="0" lang="en-US" sz="1200" u="none" cap="none" strike="noStrike">
                <a:solidFill>
                  <a:srgbClr val="024663"/>
                </a:solidFill>
                <a:latin typeface="Calibri"/>
                <a:ea typeface="Calibri"/>
                <a:cs typeface="Calibri"/>
                <a:sym typeface="Calibri"/>
              </a:rPr>
              <a:t>Such as for marketing purposes. If you do use email marketing, consent is the most appropriate basis for processing this data. Not really to be used by pu</a:t>
            </a:r>
            <a:r>
              <a:rPr lang="en-US">
                <a:solidFill>
                  <a:srgbClr val="024663"/>
                </a:solidFill>
              </a:rPr>
              <a:t>blic authorities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57" name="Shape 157"/>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Shape 166"/>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 schools generally only for the use of photographs on promotional activities such as the website and when sharing news with local papers and social media</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Consent must be explicit</a:t>
            </a:r>
            <a:r>
              <a:rPr lang="en-US"/>
              <a:t>, freely given, </a:t>
            </a:r>
            <a:r>
              <a:rPr lang="en-US"/>
              <a:t>unambiguous</a:t>
            </a:r>
            <a:r>
              <a:rPr lang="en-US"/>
              <a:t>...and as easy to withdraw as it is to give</a:t>
            </a:r>
            <a:endParaRPr b="0" i="0" sz="1200" u="none" cap="none" strike="noStrike">
              <a:solidFill>
                <a:schemeClr val="dk1"/>
              </a:solidFill>
              <a:latin typeface="Calibri"/>
              <a:ea typeface="Calibri"/>
              <a:cs typeface="Calibri"/>
              <a:sym typeface="Calibri"/>
            </a:endParaRPr>
          </a:p>
        </p:txBody>
      </p:sp>
      <p:sp>
        <p:nvSpPr>
          <p:cNvPr id="167" name="Shape 16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3" name="Shape 173"/>
        <p:cNvGrpSpPr/>
        <p:nvPr/>
      </p:nvGrpSpPr>
      <p:grpSpPr>
        <a:xfrm>
          <a:off x="0" y="0"/>
          <a:ext cx="0" cy="0"/>
          <a:chOff x="0" y="0"/>
          <a:chExt cx="0" cy="0"/>
        </a:xfrm>
      </p:grpSpPr>
      <p:sp>
        <p:nvSpPr>
          <p:cNvPr id="174" name="Shape 174"/>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Shape 175"/>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Right of access relates to subject access requests and the data must be shared with the data subject within one month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Schools not comfortable with rehearsing an SAR can document their experiences of them and how they would improve processes in the future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SIMS has a new report. There is a new access level called Data Protection Officer and a subject access report which downloads all of the information in SIMS on that individual - lots of data is spread across the school but this is a start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Schools say that subject access requests tend to be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From parents when their child has had an issue with another child – issues over protecting the other child’s information here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From staff when there is a grievance</a:t>
            </a:r>
            <a:endParaRPr b="0" i="0" sz="1200" u="none" cap="none" strike="noStrike">
              <a:solidFill>
                <a:schemeClr val="dk1"/>
              </a:solidFill>
              <a:latin typeface="Calibri"/>
              <a:ea typeface="Calibri"/>
              <a:cs typeface="Calibri"/>
              <a:sym typeface="Calibri"/>
            </a:endParaRPr>
          </a:p>
        </p:txBody>
      </p:sp>
      <p:sp>
        <p:nvSpPr>
          <p:cNvPr id="176" name="Shape 176"/>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3" name="Shape 183"/>
        <p:cNvGrpSpPr/>
        <p:nvPr/>
      </p:nvGrpSpPr>
      <p:grpSpPr>
        <a:xfrm>
          <a:off x="0" y="0"/>
          <a:ext cx="0" cy="0"/>
          <a:chOff x="0" y="0"/>
          <a:chExt cx="0" cy="0"/>
        </a:xfrm>
      </p:grpSpPr>
      <p:sp>
        <p:nvSpPr>
          <p:cNvPr id="184" name="Shape 184"/>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185" name="Shape 18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0" name="Shape 190"/>
        <p:cNvGrpSpPr/>
        <p:nvPr/>
      </p:nvGrpSpPr>
      <p:grpSpPr>
        <a:xfrm>
          <a:off x="0" y="0"/>
          <a:ext cx="0" cy="0"/>
          <a:chOff x="0" y="0"/>
          <a:chExt cx="0" cy="0"/>
        </a:xfrm>
      </p:grpSpPr>
      <p:sp>
        <p:nvSpPr>
          <p:cNvPr id="191" name="Shape 19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Shape 192"/>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
              <a:buFont typeface="Calibri"/>
              <a:buNone/>
            </a:pPr>
            <a:r>
              <a:rPr lang="en-US"/>
              <a:t>The one important take-away for staff...think about treating other people’s data, as you want yours to be treated. Think about privacy first.</a:t>
            </a:r>
            <a:endParaRPr/>
          </a:p>
          <a:p>
            <a:pPr indent="0" lvl="0" marL="0" marR="0" rtl="0" algn="l">
              <a:lnSpc>
                <a:spcPct val="100000"/>
              </a:lnSpc>
              <a:spcBef>
                <a:spcPts val="0"/>
              </a:spcBef>
              <a:spcAft>
                <a:spcPts val="0"/>
              </a:spcAft>
              <a:buClr>
                <a:schemeClr val="dk1"/>
              </a:buClr>
              <a:buSzPts val="300"/>
              <a:buFont typeface="Calibri"/>
              <a:buNone/>
            </a:pPr>
            <a:r>
              <a:rPr lang="en-US"/>
              <a:t>I use the story of finding a Teacher Support Plan in the bin of an office. Would a teacher like that information to be thrown in a bi if it was about them? Ask what should happen to it</a:t>
            </a:r>
            <a:endParaRPr/>
          </a:p>
        </p:txBody>
      </p:sp>
      <p:sp>
        <p:nvSpPr>
          <p:cNvPr id="193" name="Shape 193"/>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7" name="Shape 197"/>
        <p:cNvGrpSpPr/>
        <p:nvPr/>
      </p:nvGrpSpPr>
      <p:grpSpPr>
        <a:xfrm>
          <a:off x="0" y="0"/>
          <a:ext cx="0" cy="0"/>
          <a:chOff x="0" y="0"/>
          <a:chExt cx="0" cy="0"/>
        </a:xfrm>
      </p:grpSpPr>
      <p:sp>
        <p:nvSpPr>
          <p:cNvPr id="198" name="Shape 19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Shape 199"/>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chemeClr val="dk1"/>
              </a:buClr>
              <a:buSzPts val="1200"/>
              <a:buFont typeface="Calibri"/>
              <a:buNone/>
            </a:pPr>
            <a:r>
              <a:rPr lang="en-US"/>
              <a:t>Tell the story…</a:t>
            </a:r>
            <a:endParaRPr/>
          </a:p>
          <a:p>
            <a:pPr indent="-228600" lvl="0" marL="457200" marR="0" rtl="0" algn="l">
              <a:lnSpc>
                <a:spcPct val="100000"/>
              </a:lnSpc>
              <a:spcBef>
                <a:spcPts val="0"/>
              </a:spcBef>
              <a:spcAft>
                <a:spcPts val="0"/>
              </a:spcAft>
              <a:buClr>
                <a:schemeClr val="dk1"/>
              </a:buClr>
              <a:buSzPts val="1200"/>
              <a:buFont typeface="Calibri"/>
              <a:buNone/>
            </a:pPr>
            <a:r>
              <a:rPr lang="en-US"/>
              <a:t>https://ico.org.uk/about-the-ico/news-and-events/news-and-blogs/2017/03/council-fined-for-leaving-sensitive-files-in-cabinet-sent-to-second-hand-shop/</a:t>
            </a:r>
            <a:endParaRPr/>
          </a:p>
        </p:txBody>
      </p:sp>
      <p:sp>
        <p:nvSpPr>
          <p:cNvPr id="200" name="Shape 200"/>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5" name="Shape 205"/>
        <p:cNvGrpSpPr/>
        <p:nvPr/>
      </p:nvGrpSpPr>
      <p:grpSpPr>
        <a:xfrm>
          <a:off x="0" y="0"/>
          <a:ext cx="0" cy="0"/>
          <a:chOff x="0" y="0"/>
          <a:chExt cx="0" cy="0"/>
        </a:xfrm>
      </p:grpSpPr>
      <p:sp>
        <p:nvSpPr>
          <p:cNvPr id="206" name="Shape 206"/>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Shape 207"/>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Char char="●"/>
            </a:pPr>
            <a:r>
              <a:rPr lang="en-US"/>
              <a:t>Talk about major risks to school data - USB sticks being a biggie</a:t>
            </a:r>
            <a:endParaRPr/>
          </a:p>
          <a:p>
            <a:pPr indent="0" lvl="0" marL="0" marR="0" rtl="0" algn="l">
              <a:lnSpc>
                <a:spcPct val="100000"/>
              </a:lnSpc>
              <a:spcBef>
                <a:spcPts val="0"/>
              </a:spcBef>
              <a:spcAft>
                <a:spcPts val="0"/>
              </a:spcAft>
              <a:buClr>
                <a:schemeClr val="dk1"/>
              </a:buClr>
              <a:buSzPts val="1200"/>
              <a:buFont typeface="Calibri"/>
              <a:buChar char="●"/>
            </a:pPr>
            <a:r>
              <a:rPr lang="en-US"/>
              <a:t>If it’s good enough for IBM….</a:t>
            </a:r>
            <a:endParaRPr/>
          </a:p>
          <a:p>
            <a:pPr indent="0" lvl="0" marL="0" marR="0" rtl="0" algn="l">
              <a:lnSpc>
                <a:spcPct val="100000"/>
              </a:lnSpc>
              <a:spcBef>
                <a:spcPts val="0"/>
              </a:spcBef>
              <a:spcAft>
                <a:spcPts val="0"/>
              </a:spcAft>
              <a:buClr>
                <a:schemeClr val="dk1"/>
              </a:buClr>
              <a:buSzPts val="1200"/>
              <a:buFont typeface="Calibri"/>
              <a:buChar char="●"/>
            </a:pPr>
            <a:r>
              <a:rPr lang="en-US"/>
              <a:t>Discuss risks...encrypted devices still get lost...choose a better place to store data</a:t>
            </a:r>
            <a:endParaRPr/>
          </a:p>
        </p:txBody>
      </p:sp>
      <p:sp>
        <p:nvSpPr>
          <p:cNvPr id="208" name="Shape 208"/>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3" name="Shape 213"/>
        <p:cNvGrpSpPr/>
        <p:nvPr/>
      </p:nvGrpSpPr>
      <p:grpSpPr>
        <a:xfrm>
          <a:off x="0" y="0"/>
          <a:ext cx="0" cy="0"/>
          <a:chOff x="0" y="0"/>
          <a:chExt cx="0" cy="0"/>
        </a:xfrm>
      </p:grpSpPr>
      <p:sp>
        <p:nvSpPr>
          <p:cNvPr id="214" name="Shape 214"/>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Shape 215"/>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Char char="●"/>
            </a:pPr>
            <a:r>
              <a:rPr lang="en-US"/>
              <a:t>CIA is an acronym often used to describe data breaches in ISO 27001</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lang="en-US"/>
              <a:t>Discuss what </a:t>
            </a:r>
            <a:r>
              <a:rPr lang="en-US"/>
              <a:t>constitutes</a:t>
            </a:r>
            <a:r>
              <a:rPr lang="en-US"/>
              <a:t> loss of confidentiality (no encryption)</a:t>
            </a:r>
            <a:endParaRPr/>
          </a:p>
          <a:p>
            <a:pPr indent="0" lvl="0" marL="0" marR="0" rtl="0" algn="l">
              <a:lnSpc>
                <a:spcPct val="100000"/>
              </a:lnSpc>
              <a:spcBef>
                <a:spcPts val="0"/>
              </a:spcBef>
              <a:spcAft>
                <a:spcPts val="0"/>
              </a:spcAft>
              <a:buNone/>
            </a:pPr>
            <a:r>
              <a:rPr lang="en-US"/>
              <a:t>integrity - is the data up to date</a:t>
            </a:r>
            <a:endParaRPr/>
          </a:p>
          <a:p>
            <a:pPr indent="0" lvl="0" marL="0" marR="0" rtl="0" algn="l">
              <a:lnSpc>
                <a:spcPct val="100000"/>
              </a:lnSpc>
              <a:spcBef>
                <a:spcPts val="0"/>
              </a:spcBef>
              <a:spcAft>
                <a:spcPts val="0"/>
              </a:spcAft>
              <a:buNone/>
            </a:pPr>
            <a:r>
              <a:rPr lang="en-US"/>
              <a:t>Available...USB drive is encrypted but the data has been lost (applies to non-personal data too)</a:t>
            </a:r>
            <a:endParaRPr/>
          </a:p>
        </p:txBody>
      </p:sp>
      <p:sp>
        <p:nvSpPr>
          <p:cNvPr id="216" name="Shape 216"/>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1" name="Shape 221"/>
        <p:cNvGrpSpPr/>
        <p:nvPr/>
      </p:nvGrpSpPr>
      <p:grpSpPr>
        <a:xfrm>
          <a:off x="0" y="0"/>
          <a:ext cx="0" cy="0"/>
          <a:chOff x="0" y="0"/>
          <a:chExt cx="0" cy="0"/>
        </a:xfrm>
      </p:grpSpPr>
      <p:sp>
        <p:nvSpPr>
          <p:cNvPr id="222" name="Shape 222"/>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rPr lang="en-US"/>
              <a:t>Highlight the big risks:</a:t>
            </a:r>
            <a:endParaRPr/>
          </a:p>
          <a:p>
            <a:pPr indent="0" lvl="0" marL="0" marR="0" rtl="0" algn="l">
              <a:lnSpc>
                <a:spcPct val="100000"/>
              </a:lnSpc>
              <a:spcBef>
                <a:spcPts val="0"/>
              </a:spcBef>
              <a:spcAft>
                <a:spcPts val="0"/>
              </a:spcAft>
              <a:buClr>
                <a:schemeClr val="dk1"/>
              </a:buClr>
              <a:buSzPts val="1200"/>
              <a:buFont typeface="Calibri"/>
              <a:buNone/>
            </a:pPr>
            <a:r>
              <a:rPr lang="en-US"/>
              <a:t>Email</a:t>
            </a:r>
            <a:endParaRPr/>
          </a:p>
          <a:p>
            <a:pPr indent="0" lvl="0" marL="0" marR="0" rtl="0" algn="l">
              <a:lnSpc>
                <a:spcPct val="100000"/>
              </a:lnSpc>
              <a:spcBef>
                <a:spcPts val="0"/>
              </a:spcBef>
              <a:spcAft>
                <a:spcPts val="0"/>
              </a:spcAft>
              <a:buClr>
                <a:schemeClr val="dk1"/>
              </a:buClr>
              <a:buSzPts val="1200"/>
              <a:buFont typeface="Calibri"/>
              <a:buNone/>
            </a:pPr>
            <a:r>
              <a:rPr lang="en-US"/>
              <a:t>Unencrypted devices</a:t>
            </a:r>
            <a:endParaRPr/>
          </a:p>
        </p:txBody>
      </p:sp>
      <p:sp>
        <p:nvSpPr>
          <p:cNvPr id="223" name="Shape 22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7" name="Shape 237"/>
        <p:cNvGrpSpPr/>
        <p:nvPr/>
      </p:nvGrpSpPr>
      <p:grpSpPr>
        <a:xfrm>
          <a:off x="0" y="0"/>
          <a:ext cx="0" cy="0"/>
          <a:chOff x="0" y="0"/>
          <a:chExt cx="0" cy="0"/>
        </a:xfrm>
      </p:grpSpPr>
      <p:sp>
        <p:nvSpPr>
          <p:cNvPr id="238" name="Shape 23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Shape 239"/>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rPr lang="en-US"/>
              <a:t>Need a reason not to use USB sticks????</a:t>
            </a:r>
            <a:endParaRPr/>
          </a:p>
          <a:p>
            <a:pPr indent="0" lvl="0" marL="0" marR="0" rtl="0" algn="l">
              <a:lnSpc>
                <a:spcPct val="100000"/>
              </a:lnSpc>
              <a:spcBef>
                <a:spcPts val="0"/>
              </a:spcBef>
              <a:spcAft>
                <a:spcPts val="0"/>
              </a:spcAft>
              <a:buClr>
                <a:schemeClr val="dk1"/>
              </a:buClr>
              <a:buSzPts val="1200"/>
              <a:buFont typeface="Calibri"/>
              <a:buNone/>
            </a:pPr>
            <a:r>
              <a:rPr lang="en-US"/>
              <a:t>Here are 80,000 of them</a:t>
            </a:r>
            <a:endParaRPr/>
          </a:p>
        </p:txBody>
      </p:sp>
      <p:sp>
        <p:nvSpPr>
          <p:cNvPr id="240" name="Shape 240"/>
          <p:cNvSpPr txBox="1"/>
          <p:nvPr>
            <p:ph idx="12" type="sldNum"/>
          </p:nvPr>
        </p:nvSpPr>
        <p:spPr>
          <a:xfrm>
            <a:off x="3884612" y="8685213"/>
            <a:ext cx="2971799"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6" name="Shape 246"/>
        <p:cNvGrpSpPr/>
        <p:nvPr/>
      </p:nvGrpSpPr>
      <p:grpSpPr>
        <a:xfrm>
          <a:off x="0" y="0"/>
          <a:ext cx="0" cy="0"/>
          <a:chOff x="0" y="0"/>
          <a:chExt cx="0" cy="0"/>
        </a:xfrm>
      </p:grpSpPr>
      <p:sp>
        <p:nvSpPr>
          <p:cNvPr id="247" name="Shape 24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Shape 248"/>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
              <a:buFont typeface="Calibri"/>
              <a:buNone/>
            </a:pPr>
            <a:r>
              <a:rPr b="1" i="1" lang="en-US" sz="1200" u="none" cap="none" strike="noStrike">
                <a:solidFill>
                  <a:schemeClr val="dk1"/>
                </a:solidFill>
                <a:latin typeface="Calibri"/>
                <a:ea typeface="Calibri"/>
                <a:cs typeface="Calibri"/>
                <a:sym typeface="Calibri"/>
              </a:rPr>
              <a:t>Discussion</a:t>
            </a:r>
            <a:r>
              <a:rPr b="0" i="0" lang="en-US" sz="1200" u="none" cap="none" strike="noStrike">
                <a:solidFill>
                  <a:schemeClr val="dk1"/>
                </a:solidFill>
                <a:latin typeface="Calibri"/>
                <a:ea typeface="Calibri"/>
                <a:cs typeface="Calibri"/>
                <a:sym typeface="Calibri"/>
              </a:rPr>
              <a:t> – what are the implications of a breach? </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(Data subjects’ rights + reputation of school + possible fines) – when and how do they need to be reported (to ICO + to data subjects) – How would you manage this process in your school? Do you have a procedure for this?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00"/>
              <a:buFont typeface="Calibri"/>
              <a:buNone/>
            </a:pPr>
            <a:r>
              <a:rPr b="0" i="0" lang="en-US" sz="1200" u="none" cap="none" strike="noStrike">
                <a:solidFill>
                  <a:schemeClr val="dk1"/>
                </a:solidFill>
                <a:latin typeface="Calibri"/>
                <a:ea typeface="Calibri"/>
                <a:cs typeface="Calibri"/>
                <a:sym typeface="Calibri"/>
              </a:rPr>
              <a:t> </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00"/>
              <a:buFont typeface="Calibri"/>
              <a:buNone/>
            </a:pPr>
            <a:r>
              <a:rPr b="0" i="0" lang="en-US" sz="1200" u="none" cap="none" strike="noStrike">
                <a:solidFill>
                  <a:schemeClr val="dk1"/>
                </a:solidFill>
                <a:latin typeface="Calibri"/>
                <a:ea typeface="Calibri"/>
                <a:cs typeface="Calibri"/>
                <a:sym typeface="Calibri"/>
              </a:rPr>
              <a:t>Key message – The actions taken to safeguard personal data indicates that an organisation takes rights of pupils and staff. Seriously. Majority of breaches are down to human error or lack of awareness – importance of training</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249" name="Shape 249"/>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Shape 25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Shape 256"/>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
              <a:buFont typeface="Calibri"/>
              <a:buNone/>
            </a:pPr>
            <a:r>
              <a:rPr lang="en-US"/>
              <a:t>We look for and find the same thing the ICO looks for...highlights from:</a:t>
            </a:r>
            <a:endParaRPr/>
          </a:p>
          <a:p>
            <a:pPr indent="0" lvl="0" marL="0" marR="0" rtl="0" algn="l">
              <a:lnSpc>
                <a:spcPct val="100000"/>
              </a:lnSpc>
              <a:spcBef>
                <a:spcPts val="0"/>
              </a:spcBef>
              <a:spcAft>
                <a:spcPts val="0"/>
              </a:spcAft>
              <a:buClr>
                <a:schemeClr val="dk1"/>
              </a:buClr>
              <a:buSzPts val="300"/>
              <a:buFont typeface="Calibri"/>
              <a:buNone/>
            </a:pPr>
            <a:r>
              <a:rPr lang="en-US"/>
              <a:t>https://ico.org.uk/action-weve-taken/audits-advisory-visits-and-overview-reports/nurseries/</a:t>
            </a:r>
            <a:endParaRPr/>
          </a:p>
        </p:txBody>
      </p:sp>
      <p:sp>
        <p:nvSpPr>
          <p:cNvPr id="257" name="Shape 257"/>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2" name="Shape 262"/>
        <p:cNvGrpSpPr/>
        <p:nvPr/>
      </p:nvGrpSpPr>
      <p:grpSpPr>
        <a:xfrm>
          <a:off x="0" y="0"/>
          <a:ext cx="0" cy="0"/>
          <a:chOff x="0" y="0"/>
          <a:chExt cx="0" cy="0"/>
        </a:xfrm>
      </p:grpSpPr>
      <p:sp>
        <p:nvSpPr>
          <p:cNvPr id="263" name="Shape 263"/>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US"/>
              <a:t>Ask “what are these”?</a:t>
            </a:r>
            <a:endParaRPr/>
          </a:p>
          <a:p>
            <a:pPr indent="0" lvl="0" marL="0">
              <a:spcBef>
                <a:spcPts val="0"/>
              </a:spcBef>
              <a:spcAft>
                <a:spcPts val="0"/>
              </a:spcAft>
              <a:buNone/>
            </a:pPr>
            <a:r>
              <a:rPr lang="en-US"/>
              <a:t>Wait for the answer….tips? ….helpful tips!!</a:t>
            </a:r>
            <a:endParaRPr/>
          </a:p>
        </p:txBody>
      </p:sp>
      <p:sp>
        <p:nvSpPr>
          <p:cNvPr id="264" name="Shape 264"/>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9" name="Shape 269"/>
        <p:cNvGrpSpPr/>
        <p:nvPr/>
      </p:nvGrpSpPr>
      <p:grpSpPr>
        <a:xfrm>
          <a:off x="0" y="0"/>
          <a:ext cx="0" cy="0"/>
          <a:chOff x="0" y="0"/>
          <a:chExt cx="0" cy="0"/>
        </a:xfrm>
      </p:grpSpPr>
      <p:sp>
        <p:nvSpPr>
          <p:cNvPr id="270" name="Shape 27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Shape 271"/>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
              <a:buFont typeface="Calibri"/>
              <a:buNone/>
            </a:pPr>
            <a:r>
              <a:rPr lang="en-US"/>
              <a:t>Highlights from the ICO report</a:t>
            </a:r>
            <a:endParaRPr sz="1200" u="none" cap="none" strike="noStrike">
              <a:solidFill>
                <a:schemeClr val="dk1"/>
              </a:solidFill>
            </a:endParaRPr>
          </a:p>
        </p:txBody>
      </p:sp>
      <p:sp>
        <p:nvSpPr>
          <p:cNvPr id="272" name="Shape 272"/>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7" name="Shape 277"/>
        <p:cNvGrpSpPr/>
        <p:nvPr/>
      </p:nvGrpSpPr>
      <p:grpSpPr>
        <a:xfrm>
          <a:off x="0" y="0"/>
          <a:ext cx="0" cy="0"/>
          <a:chOff x="0" y="0"/>
          <a:chExt cx="0" cy="0"/>
        </a:xfrm>
      </p:grpSpPr>
      <p:sp>
        <p:nvSpPr>
          <p:cNvPr id="278" name="Shape 27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Shape 279"/>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280" name="Shape 280"/>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Shape 286"/>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Shape 287"/>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
              <a:buFont typeface="Calibri"/>
              <a:buNone/>
            </a:pPr>
            <a:r>
              <a:t/>
            </a:r>
            <a:endParaRPr b="0" i="0" sz="1200" u="none" cap="none" strike="noStrike">
              <a:solidFill>
                <a:schemeClr val="dk1"/>
              </a:solidFill>
              <a:latin typeface="Calibri"/>
              <a:ea typeface="Calibri"/>
              <a:cs typeface="Calibri"/>
              <a:sym typeface="Calibri"/>
            </a:endParaRPr>
          </a:p>
        </p:txBody>
      </p:sp>
      <p:sp>
        <p:nvSpPr>
          <p:cNvPr id="288" name="Shape 288"/>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3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3" name="Shape 293"/>
        <p:cNvGrpSpPr/>
        <p:nvPr/>
      </p:nvGrpSpPr>
      <p:grpSpPr>
        <a:xfrm>
          <a:off x="0" y="0"/>
          <a:ext cx="0" cy="0"/>
          <a:chOff x="0" y="0"/>
          <a:chExt cx="0" cy="0"/>
        </a:xfrm>
      </p:grpSpPr>
      <p:sp>
        <p:nvSpPr>
          <p:cNvPr id="294" name="Shape 294"/>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US"/>
              <a:t>GDPR is a long journey….</a:t>
            </a:r>
            <a:endParaRPr/>
          </a:p>
        </p:txBody>
      </p:sp>
      <p:sp>
        <p:nvSpPr>
          <p:cNvPr id="295" name="Shape 29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8" name="Shape 298"/>
        <p:cNvGrpSpPr/>
        <p:nvPr/>
      </p:nvGrpSpPr>
      <p:grpSpPr>
        <a:xfrm>
          <a:off x="0" y="0"/>
          <a:ext cx="0" cy="0"/>
          <a:chOff x="0" y="0"/>
          <a:chExt cx="0" cy="0"/>
        </a:xfrm>
      </p:grpSpPr>
      <p:sp>
        <p:nvSpPr>
          <p:cNvPr id="299" name="Shape 299"/>
          <p:cNvSpPr txBox="1"/>
          <p:nvPr>
            <p:ph idx="1" type="body"/>
          </p:nvPr>
        </p:nvSpPr>
        <p:spPr>
          <a:xfrm>
            <a:off x="685800" y="4343400"/>
            <a:ext cx="5486399"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US"/>
              <a:t>But it is not a holiday.</a:t>
            </a:r>
            <a:endParaRPr/>
          </a:p>
        </p:txBody>
      </p:sp>
      <p:sp>
        <p:nvSpPr>
          <p:cNvPr id="300" name="Shape 30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Shape 304"/>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p:spPr>
      </p:sp>
      <p:sp>
        <p:nvSpPr>
          <p:cNvPr id="305" name="Shape 305"/>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a:spcBef>
                <a:spcPts val="0"/>
              </a:spcBef>
              <a:spcAft>
                <a:spcPts val="0"/>
              </a:spcAft>
              <a:buNone/>
            </a:pPr>
            <a:r>
              <a:rPr lang="en-US"/>
              <a:t>Use the DPE Knowledge Bank for questions, documentation and further learning</a:t>
            </a:r>
            <a:endParaRPr/>
          </a:p>
        </p:txBody>
      </p:sp>
      <p:sp>
        <p:nvSpPr>
          <p:cNvPr id="306" name="Shape 306"/>
          <p:cNvSpPr txBox="1"/>
          <p:nvPr>
            <p:ph idx="12" type="sldNum"/>
          </p:nvPr>
        </p:nvSpPr>
        <p:spPr>
          <a:xfrm>
            <a:off x="3884612" y="8685213"/>
            <a:ext cx="2971800" cy="457200"/>
          </a:xfrm>
          <a:prstGeom prst="rect">
            <a:avLst/>
          </a:prstGeom>
        </p:spPr>
        <p:txBody>
          <a:bodyPr anchorCtr="0" anchor="b" bIns="45700" lIns="91425" spcFirstLastPara="1" rIns="91425" wrap="square" tIns="45700">
            <a:noAutofit/>
          </a:bodyPr>
          <a:lstStyle/>
          <a:p>
            <a:pPr indent="0" lvl="0" marL="0">
              <a:spcBef>
                <a:spcPts val="0"/>
              </a:spcBef>
              <a:spcAft>
                <a:spcPts val="0"/>
              </a:spcAft>
              <a:buClr>
                <a:schemeClr val="dk1"/>
              </a:buClr>
              <a:buSzPts val="300"/>
              <a:buFont typeface="Calibri"/>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9" name="Shape 309"/>
        <p:cNvGrpSpPr/>
        <p:nvPr/>
      </p:nvGrpSpPr>
      <p:grpSpPr>
        <a:xfrm>
          <a:off x="0" y="0"/>
          <a:ext cx="0" cy="0"/>
          <a:chOff x="0" y="0"/>
          <a:chExt cx="0" cy="0"/>
        </a:xfrm>
      </p:grpSpPr>
      <p:sp>
        <p:nvSpPr>
          <p:cNvPr id="310" name="Shape 310"/>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Calibri"/>
              <a:buNone/>
            </a:pPr>
            <a:r>
              <a:rPr lang="en-US"/>
              <a:t>Questions? If not now, get in touch.</a:t>
            </a:r>
            <a:endParaRPr b="0" i="0" sz="1200" u="none" cap="none" strike="noStrike">
              <a:solidFill>
                <a:schemeClr val="dk1"/>
              </a:solidFill>
              <a:latin typeface="Calibri"/>
              <a:ea typeface="Calibri"/>
              <a:cs typeface="Calibri"/>
              <a:sym typeface="Calibri"/>
            </a:endParaRPr>
          </a:p>
        </p:txBody>
      </p:sp>
      <p:sp>
        <p:nvSpPr>
          <p:cNvPr id="311" name="Shape 31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p:cSld name="Title and Content">
    <p:spTree>
      <p:nvGrpSpPr>
        <p:cNvPr id="13" name="Shape 13"/>
        <p:cNvGrpSpPr/>
        <p:nvPr/>
      </p:nvGrpSpPr>
      <p:grpSpPr>
        <a:xfrm>
          <a:off x="0" y="0"/>
          <a:ext cx="0" cy="0"/>
          <a:chOff x="0" y="0"/>
          <a:chExt cx="0" cy="0"/>
        </a:xfrm>
      </p:grpSpPr>
      <p:pic>
        <p:nvPicPr>
          <p:cNvPr id="14" name="Shape 14"/>
          <p:cNvPicPr preferRelativeResize="0"/>
          <p:nvPr/>
        </p:nvPicPr>
        <p:blipFill rotWithShape="1">
          <a:blip r:embed="rId2">
            <a:alphaModFix/>
          </a:blip>
          <a:srcRect b="0" l="0" r="0" t="0"/>
          <a:stretch/>
        </p:blipFill>
        <p:spPr>
          <a:xfrm>
            <a:off x="-7139" y="0"/>
            <a:ext cx="9151139" cy="5143500"/>
          </a:xfrm>
          <a:prstGeom prst="rect">
            <a:avLst/>
          </a:prstGeom>
          <a:noFill/>
          <a:ln>
            <a:noFill/>
          </a:ln>
        </p:spPr>
      </p:pic>
      <p:pic>
        <p:nvPicPr>
          <p:cNvPr id="15" name="Shape 15"/>
          <p:cNvPicPr preferRelativeResize="0"/>
          <p:nvPr/>
        </p:nvPicPr>
        <p:blipFill rotWithShape="1">
          <a:blip r:embed="rId3">
            <a:alphaModFix/>
          </a:blip>
          <a:srcRect b="0" l="0" r="0" t="0"/>
          <a:stretch/>
        </p:blipFill>
        <p:spPr>
          <a:xfrm>
            <a:off x="1374853" y="949238"/>
            <a:ext cx="6016733" cy="16225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16" name="Shape 16"/>
        <p:cNvGrpSpPr/>
        <p:nvPr/>
      </p:nvGrpSpPr>
      <p:grpSpPr>
        <a:xfrm>
          <a:off x="0" y="0"/>
          <a:ext cx="0" cy="0"/>
          <a:chOff x="0" y="0"/>
          <a:chExt cx="0" cy="0"/>
        </a:xfrm>
      </p:grpSpPr>
      <p:sp>
        <p:nvSpPr>
          <p:cNvPr id="17" name="Shape 17"/>
          <p:cNvSpPr txBox="1"/>
          <p:nvPr>
            <p:ph type="title"/>
          </p:nvPr>
        </p:nvSpPr>
        <p:spPr>
          <a:xfrm>
            <a:off x="628650" y="274638"/>
            <a:ext cx="7886700" cy="993775"/>
          </a:xfrm>
          <a:prstGeom prst="rect">
            <a:avLst/>
          </a:prstGeom>
          <a:noFill/>
          <a:ln>
            <a:noFill/>
          </a:ln>
        </p:spPr>
        <p:txBody>
          <a:bodyPr anchorCtr="0" anchor="ctr" bIns="91425" lIns="91425" spcFirstLastPara="1" rIns="91425" wrap="square" tIns="91425"/>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 name="Shape 18"/>
          <p:cNvSpPr txBox="1"/>
          <p:nvPr>
            <p:ph idx="1" type="body"/>
          </p:nvPr>
        </p:nvSpPr>
        <p:spPr>
          <a:xfrm>
            <a:off x="628650" y="1370013"/>
            <a:ext cx="3867150" cy="3262312"/>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 name="Shape 19"/>
          <p:cNvSpPr txBox="1"/>
          <p:nvPr>
            <p:ph idx="2" type="body"/>
          </p:nvPr>
        </p:nvSpPr>
        <p:spPr>
          <a:xfrm>
            <a:off x="4648200" y="1370013"/>
            <a:ext cx="3867150" cy="3262312"/>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0" name="Shape 20"/>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Shape 21"/>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Shape 22"/>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3" name="Shape 23"/>
        <p:cNvGrpSpPr/>
        <p:nvPr/>
      </p:nvGrpSpPr>
      <p:grpSpPr>
        <a:xfrm>
          <a:off x="0" y="0"/>
          <a:ext cx="0" cy="0"/>
          <a:chOff x="0" y="0"/>
          <a:chExt cx="0" cy="0"/>
        </a:xfrm>
      </p:grpSpPr>
      <p:sp>
        <p:nvSpPr>
          <p:cNvPr id="24" name="Shape 24"/>
          <p:cNvSpPr txBox="1"/>
          <p:nvPr>
            <p:ph type="title"/>
          </p:nvPr>
        </p:nvSpPr>
        <p:spPr>
          <a:xfrm>
            <a:off x="628650" y="274638"/>
            <a:ext cx="7886700" cy="993775"/>
          </a:xfrm>
          <a:prstGeom prst="rect">
            <a:avLst/>
          </a:prstGeom>
          <a:noFill/>
          <a:ln>
            <a:noFill/>
          </a:ln>
        </p:spPr>
        <p:txBody>
          <a:bodyPr anchorCtr="0" anchor="ctr" bIns="91425" lIns="91425" spcFirstLastPara="1" rIns="91425" wrap="square" tIns="91425"/>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Shape 25"/>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 name="Shape 26"/>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Shape 27"/>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28" name="Shape 28"/>
        <p:cNvGrpSpPr/>
        <p:nvPr/>
      </p:nvGrpSpPr>
      <p:grpSpPr>
        <a:xfrm>
          <a:off x="0" y="0"/>
          <a:ext cx="0" cy="0"/>
          <a:chOff x="0" y="0"/>
          <a:chExt cx="0" cy="0"/>
        </a:xfrm>
      </p:grpSpPr>
      <p:sp>
        <p:nvSpPr>
          <p:cNvPr id="29" name="Shape 29"/>
          <p:cNvSpPr txBox="1"/>
          <p:nvPr>
            <p:ph type="title"/>
          </p:nvPr>
        </p:nvSpPr>
        <p:spPr>
          <a:xfrm>
            <a:off x="630238" y="274638"/>
            <a:ext cx="7886700" cy="993775"/>
          </a:xfrm>
          <a:prstGeom prst="rect">
            <a:avLst/>
          </a:prstGeom>
          <a:noFill/>
          <a:ln>
            <a:noFill/>
          </a:ln>
        </p:spPr>
        <p:txBody>
          <a:bodyPr anchorCtr="0" anchor="ctr" bIns="91425" lIns="91425" spcFirstLastPara="1" rIns="91425" wrap="square" tIns="91425"/>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Shape 30"/>
          <p:cNvSpPr txBox="1"/>
          <p:nvPr>
            <p:ph idx="1" type="body"/>
          </p:nvPr>
        </p:nvSpPr>
        <p:spPr>
          <a:xfrm>
            <a:off x="630238" y="1260475"/>
            <a:ext cx="3868737" cy="619125"/>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1" name="Shape 31"/>
          <p:cNvSpPr txBox="1"/>
          <p:nvPr>
            <p:ph idx="2" type="body"/>
          </p:nvPr>
        </p:nvSpPr>
        <p:spPr>
          <a:xfrm>
            <a:off x="630238" y="1879600"/>
            <a:ext cx="3868737" cy="276225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2" name="Shape 32"/>
          <p:cNvSpPr txBox="1"/>
          <p:nvPr>
            <p:ph idx="3" type="body"/>
          </p:nvPr>
        </p:nvSpPr>
        <p:spPr>
          <a:xfrm>
            <a:off x="4629150" y="1260475"/>
            <a:ext cx="3887788" cy="619125"/>
          </a:xfrm>
          <a:prstGeom prst="rect">
            <a:avLst/>
          </a:prstGeom>
          <a:noFill/>
          <a:ln>
            <a:noFill/>
          </a:ln>
        </p:spPr>
        <p:txBody>
          <a:bodyPr anchorCtr="0" anchor="b" bIns="91425" lIns="91425" spcFirstLastPara="1" rIns="91425" wrap="square" tIns="91425"/>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3" name="Shape 33"/>
          <p:cNvSpPr txBox="1"/>
          <p:nvPr>
            <p:ph idx="4" type="body"/>
          </p:nvPr>
        </p:nvSpPr>
        <p:spPr>
          <a:xfrm>
            <a:off x="4629150" y="1879600"/>
            <a:ext cx="3887788" cy="276225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4" name="Shape 34"/>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Shape 35"/>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Shape 36"/>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62_medel PG">
  <p:cSld name="62_medel PG">
    <p:spTree>
      <p:nvGrpSpPr>
        <p:cNvPr id="37" name="Shape 3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38" name="Shape 38"/>
        <p:cNvGrpSpPr/>
        <p:nvPr/>
      </p:nvGrpSpPr>
      <p:grpSpPr>
        <a:xfrm>
          <a:off x="0" y="0"/>
          <a:ext cx="0" cy="0"/>
          <a:chOff x="0" y="0"/>
          <a:chExt cx="0" cy="0"/>
        </a:xfrm>
      </p:grpSpPr>
      <p:sp>
        <p:nvSpPr>
          <p:cNvPr id="39" name="Shape 39"/>
          <p:cNvSpPr txBox="1"/>
          <p:nvPr>
            <p:ph type="title"/>
          </p:nvPr>
        </p:nvSpPr>
        <p:spPr>
          <a:xfrm>
            <a:off x="628650" y="274638"/>
            <a:ext cx="7886700" cy="993775"/>
          </a:xfrm>
          <a:prstGeom prst="rect">
            <a:avLst/>
          </a:prstGeom>
          <a:noFill/>
          <a:ln>
            <a:noFill/>
          </a:ln>
        </p:spPr>
        <p:txBody>
          <a:bodyPr anchorCtr="0" anchor="ctr" bIns="91425" lIns="91425" spcFirstLastPara="1" rIns="91425" wrap="square" tIns="91425"/>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0" name="Shape 40"/>
          <p:cNvSpPr txBox="1"/>
          <p:nvPr>
            <p:ph idx="1" type="body"/>
          </p:nvPr>
        </p:nvSpPr>
        <p:spPr>
          <a:xfrm rot="5400000">
            <a:off x="2940844" y="-942181"/>
            <a:ext cx="3262312" cy="7886700"/>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1" name="Shape 41"/>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Shape 42"/>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3" name="Shape 43"/>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
  <p:cSld name="1">
    <p:spTree>
      <p:nvGrpSpPr>
        <p:cNvPr id="44" name="Shape 44"/>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45" name="Shape 45"/>
        <p:cNvGrpSpPr/>
        <p:nvPr/>
      </p:nvGrpSpPr>
      <p:grpSpPr>
        <a:xfrm>
          <a:off x="0" y="0"/>
          <a:ext cx="0" cy="0"/>
          <a:chOff x="0" y="0"/>
          <a:chExt cx="0" cy="0"/>
        </a:xfrm>
      </p:grpSpPr>
      <p:sp>
        <p:nvSpPr>
          <p:cNvPr id="46" name="Shape 46"/>
          <p:cNvSpPr txBox="1"/>
          <p:nvPr>
            <p:ph type="title"/>
          </p:nvPr>
        </p:nvSpPr>
        <p:spPr>
          <a:xfrm>
            <a:off x="623888" y="1282700"/>
            <a:ext cx="7886700" cy="2139950"/>
          </a:xfrm>
          <a:prstGeom prst="rect">
            <a:avLst/>
          </a:prstGeom>
          <a:noFill/>
          <a:ln>
            <a:noFill/>
          </a:ln>
        </p:spPr>
        <p:txBody>
          <a:bodyPr anchorCtr="0" anchor="b" bIns="91425" lIns="91425" spcFirstLastPara="1" rIns="91425" wrap="square" tIns="91425"/>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7" name="Shape 47"/>
          <p:cNvSpPr txBox="1"/>
          <p:nvPr>
            <p:ph idx="1" type="body"/>
          </p:nvPr>
        </p:nvSpPr>
        <p:spPr>
          <a:xfrm>
            <a:off x="623888" y="3441700"/>
            <a:ext cx="7886700" cy="1125538"/>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48" name="Shape 48"/>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9" name="Shape 49"/>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Shape 50"/>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51" name="Shape 51"/>
        <p:cNvGrpSpPr/>
        <p:nvPr/>
      </p:nvGrpSpPr>
      <p:grpSpPr>
        <a:xfrm>
          <a:off x="0" y="0"/>
          <a:ext cx="0" cy="0"/>
          <a:chOff x="0" y="0"/>
          <a:chExt cx="0" cy="0"/>
        </a:xfrm>
      </p:grpSpPr>
      <p:sp>
        <p:nvSpPr>
          <p:cNvPr id="52" name="Shape 52"/>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 name="Shape 53"/>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Shape 54"/>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55" name="Shape 55"/>
        <p:cNvGrpSpPr/>
        <p:nvPr/>
      </p:nvGrpSpPr>
      <p:grpSpPr>
        <a:xfrm>
          <a:off x="0" y="0"/>
          <a:ext cx="0" cy="0"/>
          <a:chOff x="0" y="0"/>
          <a:chExt cx="0" cy="0"/>
        </a:xfrm>
      </p:grpSpPr>
      <p:sp>
        <p:nvSpPr>
          <p:cNvPr id="56" name="Shape 56"/>
          <p:cNvSpPr txBox="1"/>
          <p:nvPr>
            <p:ph type="title"/>
          </p:nvPr>
        </p:nvSpPr>
        <p:spPr>
          <a:xfrm>
            <a:off x="630238" y="342900"/>
            <a:ext cx="2949575" cy="1200150"/>
          </a:xfrm>
          <a:prstGeom prst="rect">
            <a:avLst/>
          </a:prstGeom>
          <a:noFill/>
          <a:ln>
            <a:noFill/>
          </a:ln>
        </p:spPr>
        <p:txBody>
          <a:bodyPr anchorCtr="0" anchor="b" bIns="91425" lIns="91425" spcFirstLastPara="1" rIns="91425" wrap="square" tIns="91425"/>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Shape 57"/>
          <p:cNvSpPr txBox="1"/>
          <p:nvPr>
            <p:ph idx="1" type="body"/>
          </p:nvPr>
        </p:nvSpPr>
        <p:spPr>
          <a:xfrm>
            <a:off x="3887788" y="741363"/>
            <a:ext cx="4629150" cy="3654425"/>
          </a:xfrm>
          <a:prstGeom prst="rect">
            <a:avLst/>
          </a:prstGeom>
          <a:noFill/>
          <a:ln>
            <a:noFill/>
          </a:ln>
        </p:spPr>
        <p:txBody>
          <a:bodyPr anchorCtr="0" anchor="t" bIns="91425" lIns="91425" spcFirstLastPara="1" rIns="91425" wrap="square" tIns="91425"/>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8" name="Shape 58"/>
          <p:cNvSpPr txBox="1"/>
          <p:nvPr>
            <p:ph idx="2" type="body"/>
          </p:nvPr>
        </p:nvSpPr>
        <p:spPr>
          <a:xfrm>
            <a:off x="630238" y="1543050"/>
            <a:ext cx="2949575" cy="2859088"/>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59" name="Shape 59"/>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0" name="Shape 60"/>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 name="Shape 61"/>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type="picTx">
  <p:cSld name="PICTURE_WITH_CAPTION_TEXT">
    <p:spTree>
      <p:nvGrpSpPr>
        <p:cNvPr id="62" name="Shape 62"/>
        <p:cNvGrpSpPr/>
        <p:nvPr/>
      </p:nvGrpSpPr>
      <p:grpSpPr>
        <a:xfrm>
          <a:off x="0" y="0"/>
          <a:ext cx="0" cy="0"/>
          <a:chOff x="0" y="0"/>
          <a:chExt cx="0" cy="0"/>
        </a:xfrm>
      </p:grpSpPr>
      <p:sp>
        <p:nvSpPr>
          <p:cNvPr id="63" name="Shape 63"/>
          <p:cNvSpPr txBox="1"/>
          <p:nvPr>
            <p:ph type="title"/>
          </p:nvPr>
        </p:nvSpPr>
        <p:spPr>
          <a:xfrm>
            <a:off x="630238" y="342900"/>
            <a:ext cx="2949575" cy="1200150"/>
          </a:xfrm>
          <a:prstGeom prst="rect">
            <a:avLst/>
          </a:prstGeom>
          <a:noFill/>
          <a:ln>
            <a:noFill/>
          </a:ln>
        </p:spPr>
        <p:txBody>
          <a:bodyPr anchorCtr="0" anchor="b" bIns="91425" lIns="91425" spcFirstLastPara="1" rIns="91425" wrap="square" tIns="91425"/>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4" name="Shape 64"/>
          <p:cNvSpPr/>
          <p:nvPr>
            <p:ph idx="2" type="pic"/>
          </p:nvPr>
        </p:nvSpPr>
        <p:spPr>
          <a:xfrm>
            <a:off x="3887788" y="741363"/>
            <a:ext cx="4629150" cy="3654425"/>
          </a:xfrm>
          <a:prstGeom prst="rect">
            <a:avLst/>
          </a:prstGeom>
          <a:noFill/>
          <a:ln>
            <a:noFill/>
          </a:ln>
        </p:spPr>
        <p:txBody>
          <a:bodyPr anchorCtr="0" anchor="t" bIns="91425" lIns="91425" spcFirstLastPara="1" rIns="91425" wrap="square" tIns="91425"/>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5" name="Shape 65"/>
          <p:cNvSpPr txBox="1"/>
          <p:nvPr>
            <p:ph idx="1" type="body"/>
          </p:nvPr>
        </p:nvSpPr>
        <p:spPr>
          <a:xfrm>
            <a:off x="630238" y="1543050"/>
            <a:ext cx="2949575" cy="2859088"/>
          </a:xfrm>
          <a:prstGeom prst="rect">
            <a:avLst/>
          </a:prstGeom>
          <a:noFill/>
          <a:ln>
            <a:noFill/>
          </a:ln>
        </p:spPr>
        <p:txBody>
          <a:bodyPr anchorCtr="0" anchor="t" bIns="91425" lIns="91425" spcFirstLastPara="1" rIns="91425" wrap="square" tIns="91425"/>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6" name="Shape 66"/>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7" name="Shape 67"/>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Shape 68"/>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type="vertTitleAndTx">
  <p:cSld name="VERTICAL_TITLE_AND_VERTICAL_TEXT">
    <p:spTree>
      <p:nvGrpSpPr>
        <p:cNvPr id="69" name="Shape 69"/>
        <p:cNvGrpSpPr/>
        <p:nvPr/>
      </p:nvGrpSpPr>
      <p:grpSpPr>
        <a:xfrm>
          <a:off x="0" y="0"/>
          <a:ext cx="0" cy="0"/>
          <a:chOff x="0" y="0"/>
          <a:chExt cx="0" cy="0"/>
        </a:xfrm>
      </p:grpSpPr>
      <p:sp>
        <p:nvSpPr>
          <p:cNvPr id="70" name="Shape 70"/>
          <p:cNvSpPr txBox="1"/>
          <p:nvPr>
            <p:ph type="title"/>
          </p:nvPr>
        </p:nvSpPr>
        <p:spPr>
          <a:xfrm rot="5400000">
            <a:off x="5350669" y="1467644"/>
            <a:ext cx="4357687" cy="1971675"/>
          </a:xfrm>
          <a:prstGeom prst="rect">
            <a:avLst/>
          </a:prstGeom>
          <a:noFill/>
          <a:ln>
            <a:noFill/>
          </a:ln>
        </p:spPr>
        <p:txBody>
          <a:bodyPr anchorCtr="0" anchor="ctr" bIns="91425" lIns="91425" spcFirstLastPara="1" rIns="91425" wrap="square" tIns="91425"/>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1" name="Shape 71"/>
          <p:cNvSpPr txBox="1"/>
          <p:nvPr>
            <p:ph idx="1" type="body"/>
          </p:nvPr>
        </p:nvSpPr>
        <p:spPr>
          <a:xfrm rot="5400000">
            <a:off x="1331119" y="-427831"/>
            <a:ext cx="4357687" cy="5762625"/>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2" name="Shape 72"/>
          <p:cNvSpPr txBox="1"/>
          <p:nvPr>
            <p:ph idx="10" type="dt"/>
          </p:nvPr>
        </p:nvSpPr>
        <p:spPr>
          <a:xfrm>
            <a:off x="628650" y="4767263"/>
            <a:ext cx="20574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3" name="Shape 73"/>
          <p:cNvSpPr txBox="1"/>
          <p:nvPr>
            <p:ph idx="11" type="ftr"/>
          </p:nvPr>
        </p:nvSpPr>
        <p:spPr>
          <a:xfrm>
            <a:off x="3028950" y="4767263"/>
            <a:ext cx="3086100" cy="274637"/>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 name="Shape 74"/>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0_medel PG">
  <p:cSld name="20_medel PG">
    <p:spTree>
      <p:nvGrpSpPr>
        <p:cNvPr id="75" name="Shape 75"/>
        <p:cNvGrpSpPr/>
        <p:nvPr/>
      </p:nvGrpSpPr>
      <p:grpSpPr>
        <a:xfrm>
          <a:off x="0" y="0"/>
          <a:ext cx="0" cy="0"/>
          <a:chOff x="0" y="0"/>
          <a:chExt cx="0" cy="0"/>
        </a:xfrm>
      </p:grpSpPr>
      <p:sp>
        <p:nvSpPr>
          <p:cNvPr id="76" name="Shape 76"/>
          <p:cNvSpPr txBox="1"/>
          <p:nvPr>
            <p:ph type="title"/>
          </p:nvPr>
        </p:nvSpPr>
        <p:spPr>
          <a:xfrm>
            <a:off x="306478" y="279144"/>
            <a:ext cx="7290000" cy="570126"/>
          </a:xfrm>
          <a:prstGeom prst="rect">
            <a:avLst/>
          </a:prstGeom>
          <a:noFill/>
          <a:ln>
            <a:noFill/>
          </a:ln>
        </p:spPr>
        <p:txBody>
          <a:bodyPr anchorCtr="0" anchor="ctr" bIns="91425" lIns="91425" spcFirstLastPara="1" rIns="91425" wrap="square" tIns="91425"/>
          <a:lstStyle>
            <a:lvl1pPr lvl="0" marR="0" rtl="1" algn="l">
              <a:lnSpc>
                <a:spcPct val="80000"/>
              </a:lnSpc>
              <a:spcBef>
                <a:spcPts val="0"/>
              </a:spcBef>
              <a:spcAft>
                <a:spcPts val="0"/>
              </a:spcAft>
              <a:buClr>
                <a:srgbClr val="3F3F3F"/>
              </a:buClr>
              <a:buSzPts val="2800"/>
              <a:buFont typeface="Arial"/>
              <a:buNone/>
              <a:defRPr b="1" i="0" sz="28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800"/>
              <a:buFont typeface="Arial"/>
              <a:buNone/>
              <a:defRPr b="0" i="0" sz="1800" u="none" cap="none" strike="noStrike">
                <a:solidFill>
                  <a:srgbClr val="000000"/>
                </a:solidFill>
                <a:latin typeface="Arial"/>
                <a:ea typeface="Arial"/>
                <a:cs typeface="Arial"/>
                <a:sym typeface="Arial"/>
              </a:defRPr>
            </a:lvl9pPr>
          </a:lstStyle>
          <a:p/>
        </p:txBody>
      </p:sp>
      <p:sp>
        <p:nvSpPr>
          <p:cNvPr id="77" name="Shape 77"/>
          <p:cNvSpPr txBox="1"/>
          <p:nvPr>
            <p:ph idx="1" type="body"/>
          </p:nvPr>
        </p:nvSpPr>
        <p:spPr>
          <a:xfrm>
            <a:off x="306478" y="1529647"/>
            <a:ext cx="6520500" cy="197400"/>
          </a:xfrm>
          <a:prstGeom prst="rect">
            <a:avLst/>
          </a:prstGeom>
          <a:noFill/>
          <a:ln>
            <a:noFill/>
          </a:ln>
        </p:spPr>
        <p:txBody>
          <a:bodyPr anchorCtr="0" anchor="ctr" bIns="91425" lIns="91425" spcFirstLastPara="1" rIns="91425" wrap="square" tIns="91425"/>
          <a:lstStyle>
            <a:lvl1pPr indent="-355600" lvl="0" marL="457200" marR="0" rtl="1" algn="l">
              <a:lnSpc>
                <a:spcPct val="90000"/>
              </a:lnSpc>
              <a:spcBef>
                <a:spcPts val="900"/>
              </a:spcBef>
              <a:spcAft>
                <a:spcPts val="0"/>
              </a:spcAft>
              <a:buClr>
                <a:schemeClr val="accent1"/>
              </a:buClr>
              <a:buSzPts val="2000"/>
              <a:buFont typeface="Questrial"/>
              <a:buChar char="●"/>
              <a:defRPr b="0" i="0" sz="2000" u="none" cap="none" strike="noStrike">
                <a:solidFill>
                  <a:srgbClr val="3F3F3F"/>
                </a:solidFill>
                <a:latin typeface="Arial"/>
                <a:ea typeface="Arial"/>
                <a:cs typeface="Arial"/>
                <a:sym typeface="Arial"/>
              </a:defRPr>
            </a:lvl1pPr>
            <a:lvl2pPr indent="-304800" lvl="1" marL="914400" marR="0" rtl="1" algn="r">
              <a:lnSpc>
                <a:spcPct val="90000"/>
              </a:lnSpc>
              <a:spcBef>
                <a:spcPts val="150"/>
              </a:spcBef>
              <a:spcAft>
                <a:spcPts val="0"/>
              </a:spcAft>
              <a:buClr>
                <a:schemeClr val="accent1"/>
              </a:buClr>
              <a:buSzPts val="1200"/>
              <a:buFont typeface="Noto Sans Symbols"/>
              <a:buChar char="○"/>
              <a:defRPr b="0" i="0" sz="1200" u="none" cap="none" strike="noStrike">
                <a:solidFill>
                  <a:schemeClr val="dk1"/>
                </a:solidFill>
                <a:latin typeface="Arial"/>
                <a:ea typeface="Arial"/>
                <a:cs typeface="Arial"/>
                <a:sym typeface="Arial"/>
              </a:defRPr>
            </a:lvl2pPr>
            <a:lvl3pPr indent="-292100" lvl="2" marL="1371600" marR="0" rtl="1" algn="r">
              <a:lnSpc>
                <a:spcPct val="90000"/>
              </a:lnSpc>
              <a:spcBef>
                <a:spcPts val="300"/>
              </a:spcBef>
              <a:spcAft>
                <a:spcPts val="0"/>
              </a:spcAft>
              <a:buClr>
                <a:schemeClr val="accent1"/>
              </a:buClr>
              <a:buSzPts val="1000"/>
              <a:buFont typeface="Noto Sans Symbols"/>
              <a:buChar char="■"/>
              <a:defRPr b="0" i="0" sz="1000" u="none" cap="none" strike="noStrike">
                <a:solidFill>
                  <a:schemeClr val="dk1"/>
                </a:solidFill>
                <a:latin typeface="Arial"/>
                <a:ea typeface="Arial"/>
                <a:cs typeface="Arial"/>
                <a:sym typeface="Arial"/>
              </a:defRPr>
            </a:lvl3pPr>
            <a:lvl4pPr indent="-285750" lvl="3" marL="1828800" marR="0" rtl="1" algn="r">
              <a:lnSpc>
                <a:spcPct val="90000"/>
              </a:lnSpc>
              <a:spcBef>
                <a:spcPts val="300"/>
              </a:spcBef>
              <a:spcAft>
                <a:spcPts val="0"/>
              </a:spcAft>
              <a:buClr>
                <a:schemeClr val="accent1"/>
              </a:buClr>
              <a:buSzPts val="900"/>
              <a:buFont typeface="Noto Sans Symbols"/>
              <a:buChar char="●"/>
              <a:defRPr b="0" i="0" sz="900" u="none" cap="none" strike="noStrike">
                <a:solidFill>
                  <a:schemeClr val="dk1"/>
                </a:solidFill>
                <a:latin typeface="Arial"/>
                <a:ea typeface="Arial"/>
                <a:cs typeface="Arial"/>
                <a:sym typeface="Arial"/>
              </a:defRPr>
            </a:lvl4pPr>
            <a:lvl5pPr indent="-285750" lvl="4" marL="2286000" marR="0" rtl="1" algn="r">
              <a:lnSpc>
                <a:spcPct val="90000"/>
              </a:lnSpc>
              <a:spcBef>
                <a:spcPts val="300"/>
              </a:spcBef>
              <a:spcAft>
                <a:spcPts val="0"/>
              </a:spcAft>
              <a:buClr>
                <a:schemeClr val="accent1"/>
              </a:buClr>
              <a:buSzPts val="900"/>
              <a:buFont typeface="Noto Sans Symbols"/>
              <a:buChar char="○"/>
              <a:defRPr b="0" i="0" sz="900" u="none" cap="none" strike="noStrike">
                <a:solidFill>
                  <a:schemeClr val="dk1"/>
                </a:solidFill>
                <a:latin typeface="Arial"/>
                <a:ea typeface="Arial"/>
                <a:cs typeface="Arial"/>
                <a:sym typeface="Arial"/>
              </a:defRPr>
            </a:lvl5pPr>
            <a:lvl6pPr indent="-285750" lvl="5" marL="2743200" marR="0" rtl="1" algn="r">
              <a:lnSpc>
                <a:spcPct val="90000"/>
              </a:lnSpc>
              <a:spcBef>
                <a:spcPts val="300"/>
              </a:spcBef>
              <a:spcAft>
                <a:spcPts val="0"/>
              </a:spcAft>
              <a:buClr>
                <a:schemeClr val="accent1"/>
              </a:buClr>
              <a:buSzPts val="900"/>
              <a:buFont typeface="Noto Sans Symbols"/>
              <a:buChar char="■"/>
              <a:defRPr b="0" i="0" sz="900" u="none" cap="none" strike="noStrike">
                <a:solidFill>
                  <a:schemeClr val="dk1"/>
                </a:solidFill>
                <a:latin typeface="Arial"/>
                <a:ea typeface="Arial"/>
                <a:cs typeface="Arial"/>
                <a:sym typeface="Arial"/>
              </a:defRPr>
            </a:lvl6pPr>
            <a:lvl7pPr indent="-285750" lvl="6" marL="3200400" marR="0" rtl="1" algn="r">
              <a:lnSpc>
                <a:spcPct val="90000"/>
              </a:lnSpc>
              <a:spcBef>
                <a:spcPts val="300"/>
              </a:spcBef>
              <a:spcAft>
                <a:spcPts val="0"/>
              </a:spcAft>
              <a:buClr>
                <a:schemeClr val="accent1"/>
              </a:buClr>
              <a:buSzPts val="900"/>
              <a:buFont typeface="Noto Sans Symbols"/>
              <a:buChar char="●"/>
              <a:defRPr b="0" i="0" sz="900" u="none" cap="none" strike="noStrike">
                <a:solidFill>
                  <a:schemeClr val="dk1"/>
                </a:solidFill>
                <a:latin typeface="Arial"/>
                <a:ea typeface="Arial"/>
                <a:cs typeface="Arial"/>
                <a:sym typeface="Arial"/>
              </a:defRPr>
            </a:lvl7pPr>
            <a:lvl8pPr indent="-285750" lvl="7" marL="3657600" marR="0" rtl="1" algn="r">
              <a:lnSpc>
                <a:spcPct val="90000"/>
              </a:lnSpc>
              <a:spcBef>
                <a:spcPts val="300"/>
              </a:spcBef>
              <a:spcAft>
                <a:spcPts val="0"/>
              </a:spcAft>
              <a:buClr>
                <a:schemeClr val="accent1"/>
              </a:buClr>
              <a:buSzPts val="900"/>
              <a:buFont typeface="Noto Sans Symbols"/>
              <a:buChar char="○"/>
              <a:defRPr b="0" i="0" sz="900" u="none" cap="none" strike="noStrike">
                <a:solidFill>
                  <a:schemeClr val="dk1"/>
                </a:solidFill>
                <a:latin typeface="Arial"/>
                <a:ea typeface="Arial"/>
                <a:cs typeface="Arial"/>
                <a:sym typeface="Arial"/>
              </a:defRPr>
            </a:lvl8pPr>
            <a:lvl9pPr indent="-285750" lvl="8" marL="4114800" marR="0" rtl="1" algn="r">
              <a:lnSpc>
                <a:spcPct val="90000"/>
              </a:lnSpc>
              <a:spcBef>
                <a:spcPts val="300"/>
              </a:spcBef>
              <a:spcAft>
                <a:spcPts val="300"/>
              </a:spcAft>
              <a:buClr>
                <a:schemeClr val="accent1"/>
              </a:buClr>
              <a:buSzPts val="900"/>
              <a:buFont typeface="Noto Sans Symbols"/>
              <a:buChar char="■"/>
              <a:defRPr b="0" i="0" sz="900" u="none" cap="none" strike="noStrike">
                <a:solidFill>
                  <a:schemeClr val="dk1"/>
                </a:solidFill>
                <a:latin typeface="Arial"/>
                <a:ea typeface="Arial"/>
                <a:cs typeface="Arial"/>
                <a:sym typeface="Arial"/>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animEffect filter="fade" transition="in">
                                      <p:cBhvr>
                                        <p:cTn dur="500"/>
                                        <p:tgtEl>
                                          <p:spTgt spid="7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animEffect filter="fade" transition="in">
                                      <p:cBhvr>
                                        <p:cTn dur="500"/>
                                        <p:tgtEl>
                                          <p:spTgt spid="77">
                                            <p:txEl>
                                              <p:pRg end="1" st="1"/>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animEffect filter="fade" transition="in">
                                      <p:cBhvr>
                                        <p:cTn dur="500"/>
                                        <p:tgtEl>
                                          <p:spTgt spid="77">
                                            <p:txEl>
                                              <p:pRg end="2" st="2"/>
                                            </p:txEl>
                                          </p:spTgt>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7">
                                            <p:txEl>
                                              <p:pRg end="3" st="3"/>
                                            </p:txEl>
                                          </p:spTgt>
                                        </p:tgtEl>
                                        <p:attrNameLst>
                                          <p:attrName>style.visibility</p:attrName>
                                        </p:attrNameLst>
                                      </p:cBhvr>
                                      <p:to>
                                        <p:strVal val="visible"/>
                                      </p:to>
                                    </p:set>
                                    <p:animEffect filter="fade" transition="in">
                                      <p:cBhvr>
                                        <p:cTn dur="500"/>
                                        <p:tgtEl>
                                          <p:spTgt spid="77">
                                            <p:txEl>
                                              <p:pRg end="3" st="3"/>
                                            </p:txEl>
                                          </p:spTgt>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77">
                                            <p:txEl>
                                              <p:pRg end="4" st="4"/>
                                            </p:txEl>
                                          </p:spTgt>
                                        </p:tgtEl>
                                        <p:attrNameLst>
                                          <p:attrName>style.visibility</p:attrName>
                                        </p:attrNameLst>
                                      </p:cBhvr>
                                      <p:to>
                                        <p:strVal val="visible"/>
                                      </p:to>
                                    </p:set>
                                    <p:animEffect filter="fade" transition="in">
                                      <p:cBhvr>
                                        <p:cTn dur="500"/>
                                        <p:tgtEl>
                                          <p:spTgt spid="77">
                                            <p:txEl>
                                              <p:pRg end="4" st="4"/>
                                            </p:txEl>
                                          </p:spTgt>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7">
                                            <p:txEl>
                                              <p:pRg end="5" st="5"/>
                                            </p:txEl>
                                          </p:spTgt>
                                        </p:tgtEl>
                                        <p:attrNameLst>
                                          <p:attrName>style.visibility</p:attrName>
                                        </p:attrNameLst>
                                      </p:cBhvr>
                                      <p:to>
                                        <p:strVal val="visible"/>
                                      </p:to>
                                    </p:set>
                                    <p:animEffect filter="fade" transition="in">
                                      <p:cBhvr>
                                        <p:cTn dur="500"/>
                                        <p:tgtEl>
                                          <p:spTgt spid="77">
                                            <p:txEl>
                                              <p:pRg end="5" st="5"/>
                                            </p:txEl>
                                          </p:spTgt>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77">
                                            <p:txEl>
                                              <p:pRg end="6" st="6"/>
                                            </p:txEl>
                                          </p:spTgt>
                                        </p:tgtEl>
                                        <p:attrNameLst>
                                          <p:attrName>style.visibility</p:attrName>
                                        </p:attrNameLst>
                                      </p:cBhvr>
                                      <p:to>
                                        <p:strVal val="visible"/>
                                      </p:to>
                                    </p:set>
                                    <p:animEffect filter="fade" transition="in">
                                      <p:cBhvr>
                                        <p:cTn dur="500"/>
                                        <p:tgtEl>
                                          <p:spTgt spid="77">
                                            <p:txEl>
                                              <p:pRg end="6" st="6"/>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77">
                                            <p:txEl>
                                              <p:pRg end="7" st="7"/>
                                            </p:txEl>
                                          </p:spTgt>
                                        </p:tgtEl>
                                        <p:attrNameLst>
                                          <p:attrName>style.visibility</p:attrName>
                                        </p:attrNameLst>
                                      </p:cBhvr>
                                      <p:to>
                                        <p:strVal val="visible"/>
                                      </p:to>
                                    </p:set>
                                    <p:animEffect filter="fade" transition="in">
                                      <p:cBhvr>
                                        <p:cTn dur="500"/>
                                        <p:tgtEl>
                                          <p:spTgt spid="77">
                                            <p:txEl>
                                              <p:pRg end="7" st="7"/>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77">
                                            <p:txEl>
                                              <p:pRg end="8" st="8"/>
                                            </p:txEl>
                                          </p:spTgt>
                                        </p:tgtEl>
                                        <p:attrNameLst>
                                          <p:attrName>style.visibility</p:attrName>
                                        </p:attrNameLst>
                                      </p:cBhvr>
                                      <p:to>
                                        <p:strVal val="visible"/>
                                      </p:to>
                                    </p:set>
                                    <p:animEffect filter="fade" transition="in">
                                      <p:cBhvr>
                                        <p:cTn dur="500"/>
                                        <p:tgtEl>
                                          <p:spTgt spid="77">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Shape 10"/>
          <p:cNvSpPr txBox="1"/>
          <p:nvPr>
            <p:ph type="title"/>
          </p:nvPr>
        </p:nvSpPr>
        <p:spPr>
          <a:xfrm>
            <a:off x="628650" y="274638"/>
            <a:ext cx="7886700" cy="993775"/>
          </a:xfrm>
          <a:prstGeom prst="rect">
            <a:avLst/>
          </a:prstGeom>
          <a:noFill/>
          <a:ln>
            <a:noFill/>
          </a:ln>
        </p:spPr>
        <p:txBody>
          <a:bodyPr anchorCtr="0" anchor="ctr" bIns="91425" lIns="91425" spcFirstLastPara="1" rIns="91425" wrap="square" tIns="91425"/>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Shape 11"/>
          <p:cNvSpPr txBox="1"/>
          <p:nvPr>
            <p:ph idx="1" type="body"/>
          </p:nvPr>
        </p:nvSpPr>
        <p:spPr>
          <a:xfrm>
            <a:off x="628650" y="1370013"/>
            <a:ext cx="7886700" cy="3262312"/>
          </a:xfrm>
          <a:prstGeom prst="rect">
            <a:avLst/>
          </a:prstGeom>
          <a:noFill/>
          <a:ln>
            <a:noFill/>
          </a:ln>
        </p:spPr>
        <p:txBody>
          <a:bodyPr anchorCtr="0" anchor="t" bIns="91425" lIns="91425" spcFirstLastPara="1" rIns="91425" wrap="square" tIns="91425"/>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id="12" name="Shape 12"/>
          <p:cNvPicPr preferRelativeResize="0"/>
          <p:nvPr/>
        </p:nvPicPr>
        <p:blipFill rotWithShape="1">
          <a:blip r:embed="rId1">
            <a:alphaModFix/>
          </a:blip>
          <a:srcRect b="0" l="0" r="0" t="0"/>
          <a:stretch/>
        </p:blipFill>
        <p:spPr>
          <a:xfrm>
            <a:off x="7943398" y="444616"/>
            <a:ext cx="571952" cy="57195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www.ncsc.gov.uk/articles/problems-forcing-regular-password-expiry"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hyperlink" Target="about:bla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 name="Shape 81"/>
        <p:cNvGrpSpPr/>
        <p:nvPr/>
      </p:nvGrpSpPr>
      <p:grpSpPr>
        <a:xfrm>
          <a:off x="0" y="0"/>
          <a:ext cx="0" cy="0"/>
          <a:chOff x="0" y="0"/>
          <a:chExt cx="0" cy="0"/>
        </a:xfrm>
      </p:grpSpPr>
      <p:sp>
        <p:nvSpPr>
          <p:cNvPr id="82" name="Shape 82"/>
          <p:cNvSpPr txBox="1"/>
          <p:nvPr/>
        </p:nvSpPr>
        <p:spPr>
          <a:xfrm>
            <a:off x="984349" y="2625225"/>
            <a:ext cx="7113300" cy="19389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Calibri"/>
              <a:buNone/>
            </a:pPr>
            <a:r>
              <a:rPr b="1" lang="en-US" sz="6000">
                <a:latin typeface="Calibri"/>
                <a:ea typeface="Calibri"/>
                <a:cs typeface="Calibri"/>
                <a:sym typeface="Calibri"/>
              </a:rPr>
              <a:t>Data Protection and GDPR</a:t>
            </a:r>
            <a:endParaRPr b="1" sz="60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7" name="Shape 87"/>
        <p:cNvGrpSpPr/>
        <p:nvPr/>
      </p:nvGrpSpPr>
      <p:grpSpPr>
        <a:xfrm>
          <a:off x="0" y="0"/>
          <a:ext cx="0" cy="0"/>
          <a:chOff x="0" y="0"/>
          <a:chExt cx="0" cy="0"/>
        </a:xfrm>
      </p:grpSpPr>
      <p:sp>
        <p:nvSpPr>
          <p:cNvPr id="88" name="Shape 88"/>
          <p:cNvSpPr txBox="1"/>
          <p:nvPr>
            <p:ph type="title"/>
          </p:nvPr>
        </p:nvSpPr>
        <p:spPr>
          <a:xfrm>
            <a:off x="482994" y="420294"/>
            <a:ext cx="7886700" cy="993775"/>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Why do we care?</a:t>
            </a:r>
            <a:endParaRPr/>
          </a:p>
        </p:txBody>
      </p:sp>
      <p:pic>
        <p:nvPicPr>
          <p:cNvPr id="89" name="Shape 89"/>
          <p:cNvPicPr preferRelativeResize="0"/>
          <p:nvPr/>
        </p:nvPicPr>
        <p:blipFill rotWithShape="1">
          <a:blip r:embed="rId3">
            <a:alphaModFix/>
          </a:blip>
          <a:srcRect b="0" l="0" r="0" t="0"/>
          <a:stretch/>
        </p:blipFill>
        <p:spPr>
          <a:xfrm>
            <a:off x="548052" y="1497026"/>
            <a:ext cx="3508938" cy="3525093"/>
          </a:xfrm>
          <a:prstGeom prst="rect">
            <a:avLst/>
          </a:prstGeom>
          <a:noFill/>
          <a:ln>
            <a:noFill/>
          </a:ln>
        </p:spPr>
      </p:pic>
      <p:pic>
        <p:nvPicPr>
          <p:cNvPr id="90" name="Shape 90"/>
          <p:cNvPicPr preferRelativeResize="0"/>
          <p:nvPr/>
        </p:nvPicPr>
        <p:blipFill rotWithShape="1">
          <a:blip r:embed="rId4">
            <a:alphaModFix/>
          </a:blip>
          <a:srcRect b="0" l="0" r="0" t="0"/>
          <a:stretch/>
        </p:blipFill>
        <p:spPr>
          <a:xfrm>
            <a:off x="3827533" y="1244613"/>
            <a:ext cx="5035126" cy="3015690"/>
          </a:xfrm>
          <a:prstGeom prst="rect">
            <a:avLst/>
          </a:prstGeom>
          <a:noFill/>
          <a:ln>
            <a:noFill/>
          </a:ln>
        </p:spPr>
      </p:pic>
      <p:pic>
        <p:nvPicPr>
          <p:cNvPr id="91" name="Shape 91"/>
          <p:cNvPicPr preferRelativeResize="0"/>
          <p:nvPr/>
        </p:nvPicPr>
        <p:blipFill>
          <a:blip r:embed="rId5">
            <a:alphaModFix/>
          </a:blip>
          <a:stretch>
            <a:fillRect/>
          </a:stretch>
        </p:blipFill>
        <p:spPr>
          <a:xfrm>
            <a:off x="1859575" y="1497028"/>
            <a:ext cx="5569927" cy="2881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pic>
        <p:nvPicPr>
          <p:cNvPr id="97" name="Shape 97"/>
          <p:cNvPicPr preferRelativeResize="0"/>
          <p:nvPr/>
        </p:nvPicPr>
        <p:blipFill rotWithShape="1">
          <a:blip r:embed="rId3">
            <a:alphaModFix/>
          </a:blip>
          <a:srcRect b="0" l="0" r="0" t="0"/>
          <a:stretch/>
        </p:blipFill>
        <p:spPr>
          <a:xfrm>
            <a:off x="849130" y="0"/>
            <a:ext cx="7742420" cy="5143500"/>
          </a:xfrm>
          <a:prstGeom prst="rect">
            <a:avLst/>
          </a:prstGeom>
          <a:noFill/>
          <a:ln>
            <a:noFill/>
          </a:ln>
        </p:spPr>
      </p:pic>
      <p:sp>
        <p:nvSpPr>
          <p:cNvPr id="98" name="Shape 98"/>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t/>
            </a:r>
            <a:endParaRPr b="0" i="0" sz="4400" u="none" cap="none" strike="noStrike">
              <a:solidFill>
                <a:schemeClr val="dk1"/>
              </a:solidFill>
              <a:latin typeface="Calibri"/>
              <a:ea typeface="Calibri"/>
              <a:cs typeface="Calibri"/>
              <a:sym typeface="Calibri"/>
            </a:endParaRPr>
          </a:p>
        </p:txBody>
      </p:sp>
      <p:sp>
        <p:nvSpPr>
          <p:cNvPr id="99" name="Shape 99"/>
          <p:cNvSpPr txBox="1"/>
          <p:nvPr>
            <p:ph idx="1" type="body"/>
          </p:nvPr>
        </p:nvSpPr>
        <p:spPr>
          <a:xfrm>
            <a:off x="628650" y="1370013"/>
            <a:ext cx="3867150" cy="3262312"/>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00" name="Shape 100"/>
          <p:cNvSpPr txBox="1"/>
          <p:nvPr>
            <p:ph idx="2" type="body"/>
          </p:nvPr>
        </p:nvSpPr>
        <p:spPr>
          <a:xfrm>
            <a:off x="4648200" y="1370013"/>
            <a:ext cx="3867150" cy="3262312"/>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5" name="Shape 105"/>
        <p:cNvGrpSpPr/>
        <p:nvPr/>
      </p:nvGrpSpPr>
      <p:grpSpPr>
        <a:xfrm>
          <a:off x="0" y="0"/>
          <a:ext cx="0" cy="0"/>
          <a:chOff x="0" y="0"/>
          <a:chExt cx="0" cy="0"/>
        </a:xfrm>
      </p:grpSpPr>
      <p:sp>
        <p:nvSpPr>
          <p:cNvPr id="106" name="Shape 106"/>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Terminology</a:t>
            </a:r>
            <a:endParaRPr b="1" i="0" sz="4400" u="none" cap="none" strike="noStrike">
              <a:solidFill>
                <a:schemeClr val="dk1"/>
              </a:solidFill>
              <a:latin typeface="Calibri"/>
              <a:ea typeface="Calibri"/>
              <a:cs typeface="Calibri"/>
              <a:sym typeface="Calibri"/>
            </a:endParaRPr>
          </a:p>
        </p:txBody>
      </p:sp>
      <p:graphicFrame>
        <p:nvGraphicFramePr>
          <p:cNvPr id="107" name="Shape 107"/>
          <p:cNvGraphicFramePr/>
          <p:nvPr/>
        </p:nvGraphicFramePr>
        <p:xfrm>
          <a:off x="715618" y="1341506"/>
          <a:ext cx="3000000" cy="3000000"/>
        </p:xfrm>
        <a:graphic>
          <a:graphicData uri="http://schemas.openxmlformats.org/drawingml/2006/table">
            <a:tbl>
              <a:tblPr bandRow="1" firstRow="1">
                <a:noFill/>
                <a:tableStyleId>{96877413-0A6A-44EB-BF4E-155E3BCF56B8}</a:tableStyleId>
              </a:tblPr>
              <a:tblGrid>
                <a:gridCol w="1949925"/>
                <a:gridCol w="1949925"/>
                <a:gridCol w="1949925"/>
                <a:gridCol w="1949925"/>
              </a:tblGrid>
              <a:tr h="684000">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Personal Data</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Subject</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Controller</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Processor</a:t>
                      </a:r>
                      <a:endParaRPr b="0" sz="1800" u="none" cap="none" strike="noStrike"/>
                    </a:p>
                  </a:txBody>
                  <a:tcPr marT="45725" marB="45725" marR="91450" marL="91450" anchor="ctr"/>
                </a:tc>
              </a:tr>
              <a:tr h="684000">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Breach</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Protection Bill</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ICO</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Subject Access Request</a:t>
                      </a:r>
                      <a:endParaRPr b="0" sz="1800" u="none" cap="none" strike="noStrike"/>
                    </a:p>
                  </a:txBody>
                  <a:tcPr marT="45725" marB="45725" marR="91450" marL="91450" anchor="ctr"/>
                </a:tc>
              </a:tr>
              <a:tr h="684000">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Privacy Notice</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Minimisation</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Retention</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Right to be Informed</a:t>
                      </a:r>
                      <a:endParaRPr b="0" sz="1800" u="none" cap="none" strike="noStrike"/>
                    </a:p>
                  </a:txBody>
                  <a:tcPr marT="45725" marB="45725" marR="91450" marL="91450" anchor="ctr"/>
                </a:tc>
              </a:tr>
              <a:tr h="684000">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Right of Rectification</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Right of Erasure or to be Forgotten</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Protection Officer</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Lawful Basis for Processing</a:t>
                      </a:r>
                      <a:endParaRPr b="0" sz="1800" u="none" cap="none" strike="noStrike"/>
                    </a:p>
                  </a:txBody>
                  <a:tcPr marT="45725" marB="45725" marR="91450" marL="91450" anchor="ctr"/>
                </a:tc>
              </a:tr>
              <a:tr h="684000">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Consent</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Encryption</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Data Mapping</a:t>
                      </a:r>
                      <a:endParaRPr b="0" sz="1800" u="none" cap="none" strike="noStrike"/>
                    </a:p>
                  </a:txBody>
                  <a:tcPr marT="45725" marB="45725" marR="91450" marL="91450" anchor="ctr"/>
                </a:tc>
                <a:tc>
                  <a:txBody>
                    <a:bodyPr>
                      <a:noAutofit/>
                    </a:bodyPr>
                    <a:lstStyle/>
                    <a:p>
                      <a:pPr indent="0" lvl="0" marL="0" marR="0" rtl="0" algn="ctr">
                        <a:lnSpc>
                          <a:spcPct val="100000"/>
                        </a:lnSpc>
                        <a:spcBef>
                          <a:spcPts val="0"/>
                        </a:spcBef>
                        <a:spcAft>
                          <a:spcPts val="0"/>
                        </a:spcAft>
                        <a:buClr>
                          <a:srgbClr val="000000"/>
                        </a:buClr>
                        <a:buSzPts val="1800"/>
                        <a:buFont typeface="Arial"/>
                        <a:buNone/>
                      </a:pPr>
                      <a:r>
                        <a:rPr b="0" lang="en-US" sz="1800" u="none" cap="none" strike="noStrike"/>
                        <a:t>Accountability under GDPR</a:t>
                      </a:r>
                      <a:endParaRPr b="0" sz="1800" u="none" cap="none" strike="noStrike"/>
                    </a:p>
                  </a:txBody>
                  <a:tcPr marT="45725" marB="45725" marR="91450" marL="91450"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 name="Shape 111"/>
        <p:cNvGrpSpPr/>
        <p:nvPr/>
      </p:nvGrpSpPr>
      <p:grpSpPr>
        <a:xfrm>
          <a:off x="0" y="0"/>
          <a:ext cx="0" cy="0"/>
          <a:chOff x="0" y="0"/>
          <a:chExt cx="0" cy="0"/>
        </a:xfrm>
      </p:grpSpPr>
      <p:sp>
        <p:nvSpPr>
          <p:cNvPr id="112" name="Shape 112"/>
          <p:cNvSpPr txBox="1"/>
          <p:nvPr>
            <p:ph type="title"/>
          </p:nvPr>
        </p:nvSpPr>
        <p:spPr>
          <a:xfrm>
            <a:off x="630238"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Preparing for Compliance</a:t>
            </a:r>
            <a:endParaRPr b="1" i="0" sz="4400" u="none" cap="none" strike="noStrike">
              <a:solidFill>
                <a:schemeClr val="dk1"/>
              </a:solidFill>
              <a:latin typeface="Calibri"/>
              <a:ea typeface="Calibri"/>
              <a:cs typeface="Calibri"/>
              <a:sym typeface="Calibri"/>
            </a:endParaRPr>
          </a:p>
        </p:txBody>
      </p:sp>
      <p:sp>
        <p:nvSpPr>
          <p:cNvPr id="113" name="Shape 113"/>
          <p:cNvSpPr txBox="1"/>
          <p:nvPr>
            <p:ph idx="1" type="body"/>
          </p:nvPr>
        </p:nvSpPr>
        <p:spPr>
          <a:xfrm>
            <a:off x="630238" y="1260475"/>
            <a:ext cx="3868737" cy="619125"/>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What is the GDPR</a:t>
            </a:r>
            <a:endParaRPr b="1" i="0" sz="2400" u="none" cap="none" strike="noStrike">
              <a:solidFill>
                <a:schemeClr val="dk1"/>
              </a:solidFill>
              <a:latin typeface="Calibri"/>
              <a:ea typeface="Calibri"/>
              <a:cs typeface="Calibri"/>
              <a:sym typeface="Calibri"/>
            </a:endParaRPr>
          </a:p>
        </p:txBody>
      </p:sp>
      <p:sp>
        <p:nvSpPr>
          <p:cNvPr id="114" name="Shape 114"/>
          <p:cNvSpPr txBox="1"/>
          <p:nvPr>
            <p:ph idx="2" type="body"/>
          </p:nvPr>
        </p:nvSpPr>
        <p:spPr>
          <a:xfrm>
            <a:off x="630238" y="1879600"/>
            <a:ext cx="3868737" cy="27622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Protection for individuals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Modern</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EU wide</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A law</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More accountability for organisations</a:t>
            </a:r>
            <a:endParaRPr b="0" i="0" sz="2590" u="none" cap="none" strike="noStrike">
              <a:solidFill>
                <a:schemeClr val="dk1"/>
              </a:solidFill>
              <a:latin typeface="Calibri"/>
              <a:ea typeface="Calibri"/>
              <a:cs typeface="Calibri"/>
              <a:sym typeface="Calibri"/>
            </a:endParaRPr>
          </a:p>
        </p:txBody>
      </p:sp>
      <p:sp>
        <p:nvSpPr>
          <p:cNvPr id="115" name="Shape 115"/>
          <p:cNvSpPr txBox="1"/>
          <p:nvPr>
            <p:ph idx="3" type="body"/>
          </p:nvPr>
        </p:nvSpPr>
        <p:spPr>
          <a:xfrm>
            <a:off x="4629150" y="1260475"/>
            <a:ext cx="3887788" cy="619125"/>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What isn’t the GDPR</a:t>
            </a:r>
            <a:endParaRPr b="1" i="0" sz="2400" u="none" cap="none" strike="noStrike">
              <a:solidFill>
                <a:schemeClr val="dk1"/>
              </a:solidFill>
              <a:latin typeface="Calibri"/>
              <a:ea typeface="Calibri"/>
              <a:cs typeface="Calibri"/>
              <a:sym typeface="Calibri"/>
            </a:endParaRPr>
          </a:p>
        </p:txBody>
      </p:sp>
      <p:sp>
        <p:nvSpPr>
          <p:cNvPr id="116" name="Shape 116"/>
          <p:cNvSpPr txBox="1"/>
          <p:nvPr>
            <p:ph idx="4" type="body"/>
          </p:nvPr>
        </p:nvSpPr>
        <p:spPr>
          <a:xfrm>
            <a:off x="4629150" y="1879600"/>
            <a:ext cx="3887788" cy="27622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All about fines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Only relevant until Brexit</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Something to ignore</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0" name="Shape 120"/>
        <p:cNvGrpSpPr/>
        <p:nvPr/>
      </p:nvGrpSpPr>
      <p:grpSpPr>
        <a:xfrm>
          <a:off x="0" y="0"/>
          <a:ext cx="0" cy="0"/>
          <a:chOff x="0" y="0"/>
          <a:chExt cx="0" cy="0"/>
        </a:xfrm>
      </p:grpSpPr>
      <p:sp>
        <p:nvSpPr>
          <p:cNvPr id="121" name="Shape 121"/>
          <p:cNvSpPr txBox="1"/>
          <p:nvPr>
            <p:ph type="title"/>
          </p:nvPr>
        </p:nvSpPr>
        <p:spPr>
          <a:xfrm>
            <a:off x="630250" y="274652"/>
            <a:ext cx="7886700" cy="4437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Data subjects…</a:t>
            </a:r>
            <a:endParaRPr b="1" i="0" sz="4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It’s YOUR data</a:t>
            </a:r>
            <a:endParaRPr b="1" i="0" sz="4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4400"/>
              <a:buFont typeface="Calibri"/>
              <a:buNone/>
            </a:pPr>
            <a:r>
              <a:t/>
            </a:r>
            <a:endParaRPr b="1" i="0" sz="4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Organisations…</a:t>
            </a:r>
            <a:endParaRPr b="1" i="0" sz="4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You are the custodians</a:t>
            </a:r>
            <a:endParaRPr b="1" i="0" sz="4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 name="Shape 126"/>
        <p:cNvGrpSpPr/>
        <p:nvPr/>
      </p:nvGrpSpPr>
      <p:grpSpPr>
        <a:xfrm>
          <a:off x="0" y="0"/>
          <a:ext cx="0" cy="0"/>
          <a:chOff x="0" y="0"/>
          <a:chExt cx="0" cy="0"/>
        </a:xfrm>
      </p:grpSpPr>
      <p:pic>
        <p:nvPicPr>
          <p:cNvPr id="127" name="Shape 127"/>
          <p:cNvPicPr preferRelativeResize="0"/>
          <p:nvPr/>
        </p:nvPicPr>
        <p:blipFill rotWithShape="1">
          <a:blip r:embed="rId3">
            <a:alphaModFix/>
          </a:blip>
          <a:srcRect b="0" l="0" r="0" t="0"/>
          <a:stretch/>
        </p:blipFill>
        <p:spPr>
          <a:xfrm>
            <a:off x="1568334" y="83649"/>
            <a:ext cx="5716385" cy="50570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pic>
        <p:nvPicPr>
          <p:cNvPr id="133" name="Shape 133"/>
          <p:cNvPicPr preferRelativeResize="0"/>
          <p:nvPr/>
        </p:nvPicPr>
        <p:blipFill rotWithShape="1">
          <a:blip r:embed="rId3">
            <a:alphaModFix/>
          </a:blip>
          <a:srcRect b="0" l="0" r="0" t="0"/>
          <a:stretch/>
        </p:blipFill>
        <p:spPr>
          <a:xfrm>
            <a:off x="220002" y="80920"/>
            <a:ext cx="2230367" cy="2230367"/>
          </a:xfrm>
          <a:prstGeom prst="rect">
            <a:avLst/>
          </a:prstGeom>
          <a:noFill/>
          <a:ln>
            <a:noFill/>
          </a:ln>
        </p:spPr>
      </p:pic>
      <p:sp>
        <p:nvSpPr>
          <p:cNvPr id="134" name="Shape 134"/>
          <p:cNvSpPr txBox="1"/>
          <p:nvPr/>
        </p:nvSpPr>
        <p:spPr>
          <a:xfrm>
            <a:off x="3261090" y="488217"/>
            <a:ext cx="4976601" cy="7078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4000" u="none" cap="none" strike="noStrike">
                <a:solidFill>
                  <a:srgbClr val="000000"/>
                </a:solidFill>
                <a:latin typeface="Arial"/>
                <a:ea typeface="Arial"/>
                <a:cs typeface="Arial"/>
                <a:sym typeface="Arial"/>
              </a:rPr>
              <a:t>Breach Alert!</a:t>
            </a:r>
            <a:endParaRPr/>
          </a:p>
        </p:txBody>
      </p:sp>
      <p:pic>
        <p:nvPicPr>
          <p:cNvPr id="135" name="Shape 135"/>
          <p:cNvPicPr preferRelativeResize="0"/>
          <p:nvPr/>
        </p:nvPicPr>
        <p:blipFill rotWithShape="1">
          <a:blip r:embed="rId4">
            <a:alphaModFix/>
          </a:blip>
          <a:srcRect b="0" l="0" r="0" t="0"/>
          <a:stretch/>
        </p:blipFill>
        <p:spPr>
          <a:xfrm>
            <a:off x="3095297" y="1101941"/>
            <a:ext cx="4027040" cy="400823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Shape 140"/>
          <p:cNvSpPr txBox="1"/>
          <p:nvPr>
            <p:ph type="title"/>
          </p:nvPr>
        </p:nvSpPr>
        <p:spPr>
          <a:xfrm>
            <a:off x="630238"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Preparing for Compliance</a:t>
            </a:r>
            <a:endParaRPr b="1" i="0" sz="4400" u="none" cap="none" strike="noStrike">
              <a:solidFill>
                <a:schemeClr val="dk1"/>
              </a:solidFill>
              <a:latin typeface="Calibri"/>
              <a:ea typeface="Calibri"/>
              <a:cs typeface="Calibri"/>
              <a:sym typeface="Calibri"/>
            </a:endParaRPr>
          </a:p>
        </p:txBody>
      </p:sp>
      <p:sp>
        <p:nvSpPr>
          <p:cNvPr id="141" name="Shape 141"/>
          <p:cNvSpPr txBox="1"/>
          <p:nvPr>
            <p:ph idx="1" type="body"/>
          </p:nvPr>
        </p:nvSpPr>
        <p:spPr>
          <a:xfrm>
            <a:off x="630238" y="1260475"/>
            <a:ext cx="3868737" cy="619125"/>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What is the GDPR</a:t>
            </a:r>
            <a:endParaRPr b="1" i="0" sz="2400" u="none" cap="none" strike="noStrike">
              <a:solidFill>
                <a:schemeClr val="dk1"/>
              </a:solidFill>
              <a:latin typeface="Calibri"/>
              <a:ea typeface="Calibri"/>
              <a:cs typeface="Calibri"/>
              <a:sym typeface="Calibri"/>
            </a:endParaRPr>
          </a:p>
        </p:txBody>
      </p:sp>
      <p:sp>
        <p:nvSpPr>
          <p:cNvPr id="142" name="Shape 142"/>
          <p:cNvSpPr txBox="1"/>
          <p:nvPr>
            <p:ph idx="2" type="body"/>
          </p:nvPr>
        </p:nvSpPr>
        <p:spPr>
          <a:xfrm>
            <a:off x="630238" y="1879600"/>
            <a:ext cx="3868737" cy="27622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Protection for individuals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Modern</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EU wide</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A law</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More accountability for organisations</a:t>
            </a:r>
            <a:endParaRPr b="0" i="0" sz="2590" u="none" cap="none" strike="noStrike">
              <a:solidFill>
                <a:schemeClr val="dk1"/>
              </a:solidFill>
              <a:latin typeface="Calibri"/>
              <a:ea typeface="Calibri"/>
              <a:cs typeface="Calibri"/>
              <a:sym typeface="Calibri"/>
            </a:endParaRPr>
          </a:p>
        </p:txBody>
      </p:sp>
      <p:sp>
        <p:nvSpPr>
          <p:cNvPr id="143" name="Shape 143"/>
          <p:cNvSpPr txBox="1"/>
          <p:nvPr>
            <p:ph idx="3" type="body"/>
          </p:nvPr>
        </p:nvSpPr>
        <p:spPr>
          <a:xfrm>
            <a:off x="4629150" y="1260475"/>
            <a:ext cx="3887788" cy="619125"/>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Calibri"/>
                <a:ea typeface="Calibri"/>
                <a:cs typeface="Calibri"/>
                <a:sym typeface="Calibri"/>
              </a:rPr>
              <a:t>What isn’t the GDPR</a:t>
            </a:r>
            <a:endParaRPr b="1" i="0" sz="2400" u="none" cap="none" strike="noStrike">
              <a:solidFill>
                <a:schemeClr val="dk1"/>
              </a:solidFill>
              <a:latin typeface="Calibri"/>
              <a:ea typeface="Calibri"/>
              <a:cs typeface="Calibri"/>
              <a:sym typeface="Calibri"/>
            </a:endParaRPr>
          </a:p>
        </p:txBody>
      </p:sp>
      <p:sp>
        <p:nvSpPr>
          <p:cNvPr id="144" name="Shape 144"/>
          <p:cNvSpPr txBox="1"/>
          <p:nvPr>
            <p:ph idx="4" type="body"/>
          </p:nvPr>
        </p:nvSpPr>
        <p:spPr>
          <a:xfrm>
            <a:off x="4629150" y="1879600"/>
            <a:ext cx="3887788" cy="276225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All about fines</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Only relevant until Brexit</a:t>
            </a:r>
            <a:endParaRPr b="0" i="0" sz="2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600"/>
              <a:buFont typeface="Arial"/>
              <a:buChar char="•"/>
            </a:pPr>
            <a:r>
              <a:rPr b="0" i="0" lang="en-US" sz="2600" u="none" cap="none" strike="noStrike">
                <a:solidFill>
                  <a:schemeClr val="dk1"/>
                </a:solidFill>
                <a:latin typeface="Calibri"/>
                <a:ea typeface="Calibri"/>
                <a:cs typeface="Calibri"/>
                <a:sym typeface="Calibri"/>
              </a:rPr>
              <a:t>Something to ignore</a:t>
            </a:r>
            <a:endParaRPr b="0" i="0" sz="2800" u="none" cap="none" strike="noStrike">
              <a:solidFill>
                <a:schemeClr val="dk1"/>
              </a:solidFill>
              <a:latin typeface="Calibri"/>
              <a:ea typeface="Calibri"/>
              <a:cs typeface="Calibri"/>
              <a:sym typeface="Calibri"/>
            </a:endParaRPr>
          </a:p>
        </p:txBody>
      </p:sp>
      <p:sp>
        <p:nvSpPr>
          <p:cNvPr id="145" name="Shape 145"/>
          <p:cNvSpPr txBox="1"/>
          <p:nvPr/>
        </p:nvSpPr>
        <p:spPr>
          <a:xfrm>
            <a:off x="1332498" y="1336625"/>
            <a:ext cx="6043290" cy="2308324"/>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800"/>
              <a:buFont typeface="Calibri"/>
              <a:buNone/>
            </a:pPr>
            <a:r>
              <a:rPr b="1" i="0" lang="en-US" sz="4800" u="none" cap="none" strike="noStrike">
                <a:solidFill>
                  <a:srgbClr val="000000"/>
                </a:solidFill>
                <a:latin typeface="Calibri"/>
                <a:ea typeface="Calibri"/>
                <a:cs typeface="Calibri"/>
                <a:sym typeface="Calibri"/>
              </a:rPr>
              <a:t>There is</a:t>
            </a:r>
            <a:r>
              <a:rPr b="0" i="0" lang="en-US" sz="4800" u="none" cap="none" strike="noStrike">
                <a:solidFill>
                  <a:srgbClr val="000000"/>
                </a:solidFill>
                <a:latin typeface="Calibri"/>
                <a:ea typeface="Calibri"/>
                <a:cs typeface="Calibri"/>
                <a:sym typeface="Calibri"/>
              </a:rPr>
              <a:t> an increase in the profile of data protection</a:t>
            </a:r>
            <a:endParaRPr b="0" i="0" sz="4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pic>
        <p:nvPicPr>
          <p:cNvPr id="150" name="Shape 150"/>
          <p:cNvPicPr preferRelativeResize="0"/>
          <p:nvPr/>
        </p:nvPicPr>
        <p:blipFill rotWithShape="1">
          <a:blip r:embed="rId3">
            <a:alphaModFix/>
          </a:blip>
          <a:srcRect b="0" l="0" r="0" t="0"/>
          <a:stretch/>
        </p:blipFill>
        <p:spPr>
          <a:xfrm>
            <a:off x="4681898" y="1268414"/>
            <a:ext cx="3867150" cy="3363912"/>
          </a:xfrm>
          <a:prstGeom prst="rect">
            <a:avLst/>
          </a:prstGeom>
          <a:noFill/>
          <a:ln>
            <a:noFill/>
          </a:ln>
        </p:spPr>
      </p:pic>
      <p:sp>
        <p:nvSpPr>
          <p:cNvPr id="151" name="Shape 151"/>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Preparing for Compliance</a:t>
            </a:r>
            <a:endParaRPr b="1" i="0" sz="4400" u="none" cap="none" strike="noStrike">
              <a:solidFill>
                <a:schemeClr val="dk1"/>
              </a:solidFill>
              <a:latin typeface="Calibri"/>
              <a:ea typeface="Calibri"/>
              <a:cs typeface="Calibri"/>
              <a:sym typeface="Calibri"/>
            </a:endParaRPr>
          </a:p>
        </p:txBody>
      </p:sp>
      <p:sp>
        <p:nvSpPr>
          <p:cNvPr id="152" name="Shape 152"/>
          <p:cNvSpPr txBox="1"/>
          <p:nvPr>
            <p:ph idx="2" type="body"/>
          </p:nvPr>
        </p:nvSpPr>
        <p:spPr>
          <a:xfrm>
            <a:off x="702625" y="1166725"/>
            <a:ext cx="3867000" cy="33639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0"/>
              </a:spcBef>
              <a:spcAft>
                <a:spcPts val="0"/>
              </a:spcAft>
              <a:buClr>
                <a:schemeClr val="dk1"/>
              </a:buClr>
              <a:buSzPts val="2590"/>
              <a:buFont typeface="Arial"/>
              <a:buNone/>
            </a:pPr>
            <a:r>
              <a:rPr b="0" i="0" lang="en-US" sz="2590" u="none" cap="none" strike="noStrike">
                <a:solidFill>
                  <a:schemeClr val="dk1"/>
                </a:solidFill>
                <a:latin typeface="Calibri"/>
                <a:ea typeface="Calibri"/>
                <a:cs typeface="Calibri"/>
                <a:sym typeface="Calibri"/>
              </a:rPr>
              <a:t>Personal data must be</a:t>
            </a:r>
            <a:endParaRPr b="0" i="0" sz="2800" u="none" cap="none" strike="noStrik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Processed lawfully</a:t>
            </a:r>
            <a:endParaRPr b="0" i="0" sz="2800" u="none" cap="none" strike="noStrik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For a specific purpose</a:t>
            </a:r>
            <a:endParaRPr b="0" i="0" sz="2800" u="none" cap="none" strike="noStrik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Kept to a minimum</a:t>
            </a:r>
            <a:endParaRPr b="0" i="0" sz="2800" u="none" cap="none" strike="noStrik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Accurate and up-to-date</a:t>
            </a:r>
            <a:endParaRPr b="0" i="0" sz="2800" u="none" cap="none" strike="noStrik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Retained only for as long as it is needed</a:t>
            </a:r>
            <a:endParaRPr b="0" i="0" sz="2800" u="none" cap="none" strike="noStrik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590"/>
              <a:buFont typeface="Arial"/>
              <a:buChar char="•"/>
            </a:pPr>
            <a:r>
              <a:rPr b="0" i="0" lang="en-US" sz="2590" u="none" cap="none" strike="noStrike">
                <a:solidFill>
                  <a:schemeClr val="dk1"/>
                </a:solidFill>
                <a:latin typeface="Calibri"/>
                <a:ea typeface="Calibri"/>
                <a:cs typeface="Calibri"/>
                <a:sym typeface="Calibri"/>
              </a:rPr>
              <a:t>Kept securely</a:t>
            </a:r>
            <a:endParaRPr b="0" i="0" sz="2800" u="none" cap="none" strike="noStrike">
              <a:solidFill>
                <a:schemeClr val="dk1"/>
              </a:solidFill>
              <a:latin typeface="Calibri"/>
              <a:ea typeface="Calibri"/>
              <a:cs typeface="Calibri"/>
              <a:sym typeface="Calibri"/>
            </a:endParaRPr>
          </a:p>
          <a:p>
            <a:pPr indent="-64135" lvl="0" marL="228600" marR="0" rtl="0" algn="l">
              <a:lnSpc>
                <a:spcPct val="70000"/>
              </a:lnSpc>
              <a:spcBef>
                <a:spcPts val="1000"/>
              </a:spcBef>
              <a:spcAft>
                <a:spcPts val="0"/>
              </a:spcAft>
              <a:buClr>
                <a:schemeClr val="dk1"/>
              </a:buClr>
              <a:buSzPts val="2590"/>
              <a:buFont typeface="Arial"/>
              <a:buNone/>
            </a:pPr>
            <a:r>
              <a:t/>
            </a:r>
            <a:endParaRPr b="0" i="0" sz="2590" u="none" cap="none" strike="noStrike">
              <a:solidFill>
                <a:schemeClr val="dk1"/>
              </a:solidFill>
              <a:latin typeface="Calibri"/>
              <a:ea typeface="Calibri"/>
              <a:cs typeface="Calibri"/>
              <a:sym typeface="Calibri"/>
            </a:endParaRPr>
          </a:p>
        </p:txBody>
      </p:sp>
      <p:sp>
        <p:nvSpPr>
          <p:cNvPr id="153" name="Shape 153"/>
          <p:cNvSpPr txBox="1"/>
          <p:nvPr/>
        </p:nvSpPr>
        <p:spPr>
          <a:xfrm>
            <a:off x="5559824" y="1499079"/>
            <a:ext cx="2222168" cy="175432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Calibri"/>
              <a:buNone/>
            </a:pPr>
            <a:r>
              <a:rPr b="0" i="0" lang="en-US" sz="3600" u="none" cap="none" strike="noStrike">
                <a:solidFill>
                  <a:srgbClr val="000000"/>
                </a:solidFill>
                <a:latin typeface="Calibri"/>
                <a:ea typeface="Calibri"/>
                <a:cs typeface="Calibri"/>
                <a:sym typeface="Calibri"/>
              </a:rPr>
              <a:t>Six Data Principles</a:t>
            </a:r>
            <a:endParaRPr b="0" i="0" sz="3600"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8" name="Shape 158"/>
        <p:cNvGrpSpPr/>
        <p:nvPr/>
      </p:nvGrpSpPr>
      <p:grpSpPr>
        <a:xfrm>
          <a:off x="0" y="0"/>
          <a:ext cx="0" cy="0"/>
          <a:chOff x="0" y="0"/>
          <a:chExt cx="0" cy="0"/>
        </a:xfrm>
      </p:grpSpPr>
      <p:pic>
        <p:nvPicPr>
          <p:cNvPr id="159" name="Shape 159"/>
          <p:cNvPicPr preferRelativeResize="0"/>
          <p:nvPr/>
        </p:nvPicPr>
        <p:blipFill rotWithShape="1">
          <a:blip r:embed="rId3">
            <a:alphaModFix/>
          </a:blip>
          <a:srcRect b="0" l="0" r="0" t="0"/>
          <a:stretch/>
        </p:blipFill>
        <p:spPr>
          <a:xfrm>
            <a:off x="4681898" y="1268414"/>
            <a:ext cx="3867150" cy="3363912"/>
          </a:xfrm>
          <a:prstGeom prst="rect">
            <a:avLst/>
          </a:prstGeom>
          <a:noFill/>
          <a:ln>
            <a:noFill/>
          </a:ln>
        </p:spPr>
      </p:pic>
      <p:sp>
        <p:nvSpPr>
          <p:cNvPr id="160" name="Shape 160"/>
          <p:cNvSpPr txBox="1"/>
          <p:nvPr/>
        </p:nvSpPr>
        <p:spPr>
          <a:xfrm>
            <a:off x="718123" y="1384925"/>
            <a:ext cx="8067608" cy="3262312"/>
          </a:xfrm>
          <a:prstGeom prst="rect">
            <a:avLst/>
          </a:prstGeom>
          <a:noFill/>
          <a:ln>
            <a:noFill/>
          </a:ln>
        </p:spPr>
        <p:txBody>
          <a:bodyPr anchorCtr="0" anchor="t" bIns="45700" lIns="91425" spcFirstLastPara="1" rIns="91425" wrap="square" tIns="45700">
            <a:noAutofit/>
          </a:bodyPr>
          <a:lstStyle/>
          <a:p>
            <a:pPr indent="-279400" lvl="0" marL="457200" marR="0" rtl="0" algn="l">
              <a:lnSpc>
                <a:spcPct val="90000"/>
              </a:lnSpc>
              <a:spcBef>
                <a:spcPts val="0"/>
              </a:spcBef>
              <a:spcAft>
                <a:spcPts val="0"/>
              </a:spcAft>
              <a:buClr>
                <a:srgbClr val="757070"/>
              </a:buClr>
              <a:buSzPts val="2800"/>
              <a:buFont typeface="Arial"/>
              <a:buNone/>
            </a:pPr>
            <a:r>
              <a:t/>
            </a:r>
            <a:endParaRPr b="0" i="0" sz="2800" u="none" cap="none" strike="noStrike">
              <a:solidFill>
                <a:srgbClr val="757070"/>
              </a:solidFill>
              <a:latin typeface="Calibri"/>
              <a:ea typeface="Calibri"/>
              <a:cs typeface="Calibri"/>
              <a:sym typeface="Calibri"/>
            </a:endParaRPr>
          </a:p>
        </p:txBody>
      </p:sp>
      <p:sp>
        <p:nvSpPr>
          <p:cNvPr id="161" name="Shape 161"/>
          <p:cNvSpPr/>
          <p:nvPr/>
        </p:nvSpPr>
        <p:spPr>
          <a:xfrm>
            <a:off x="4454820" y="2417862"/>
            <a:ext cx="383438" cy="3077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2" name="Shape 162"/>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Reasons to process data</a:t>
            </a:r>
            <a:endParaRPr b="1" i="0" sz="4400" u="none" cap="none" strike="noStrike">
              <a:solidFill>
                <a:schemeClr val="dk1"/>
              </a:solidFill>
              <a:latin typeface="Calibri"/>
              <a:ea typeface="Calibri"/>
              <a:cs typeface="Calibri"/>
              <a:sym typeface="Calibri"/>
            </a:endParaRPr>
          </a:p>
        </p:txBody>
      </p:sp>
      <p:sp>
        <p:nvSpPr>
          <p:cNvPr id="163" name="Shape 163"/>
          <p:cNvSpPr txBox="1"/>
          <p:nvPr>
            <p:ph idx="1" type="body"/>
          </p:nvPr>
        </p:nvSpPr>
        <p:spPr>
          <a:xfrm>
            <a:off x="628649" y="1370013"/>
            <a:ext cx="4073979" cy="32623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Contractual</a:t>
            </a:r>
            <a:endParaRPr b="0" i="0" sz="2800" u="none" cap="none" strike="noStrike">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Legal obligation</a:t>
            </a:r>
            <a:endParaRPr b="0" i="0" sz="2800" u="none" cap="none" strike="noStrike">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Protecting vital interests</a:t>
            </a:r>
            <a:endParaRPr b="0" i="0" sz="2800" u="none" cap="none" strike="noStrike">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Public interest</a:t>
            </a:r>
            <a:endParaRPr b="0" i="0" sz="2800" u="none" cap="none" strike="noStrike">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2800"/>
              <a:buFont typeface="Calibri"/>
              <a:buAutoNum type="arabicPeriod"/>
            </a:pPr>
            <a:r>
              <a:rPr b="0" i="0" lang="en-US" sz="2800" u="none" cap="none" strike="noStrike">
                <a:solidFill>
                  <a:schemeClr val="dk1"/>
                </a:solidFill>
                <a:latin typeface="Calibri"/>
                <a:ea typeface="Calibri"/>
                <a:cs typeface="Calibri"/>
                <a:sym typeface="Calibri"/>
              </a:rPr>
              <a:t>Consent</a:t>
            </a:r>
            <a:endParaRPr b="0" i="0" sz="2800" u="none" cap="none" strike="noStrike">
              <a:solidFill>
                <a:schemeClr val="dk1"/>
              </a:solidFill>
              <a:latin typeface="Calibri"/>
              <a:ea typeface="Calibri"/>
              <a:cs typeface="Calibri"/>
              <a:sym typeface="Calibri"/>
            </a:endParaRPr>
          </a:p>
          <a:p>
            <a:pPr indent="-342900" lvl="0" marL="342900" marR="0" rtl="0" algn="l">
              <a:lnSpc>
                <a:spcPct val="90000"/>
              </a:lnSpc>
              <a:spcBef>
                <a:spcPts val="100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Legitimate interest</a:t>
            </a:r>
            <a:endParaRPr b="0" i="0" sz="2800" u="none" cap="none" strike="noStrike">
              <a:solidFill>
                <a:schemeClr val="dk1"/>
              </a:solidFill>
              <a:latin typeface="Calibri"/>
              <a:ea typeface="Calibri"/>
              <a:cs typeface="Calibri"/>
              <a:sym typeface="Calibri"/>
            </a:endParaRPr>
          </a:p>
        </p:txBody>
      </p:sp>
      <p:sp>
        <p:nvSpPr>
          <p:cNvPr id="164" name="Shape 164"/>
          <p:cNvSpPr txBox="1"/>
          <p:nvPr/>
        </p:nvSpPr>
        <p:spPr>
          <a:xfrm>
            <a:off x="5122016" y="1499079"/>
            <a:ext cx="3110482" cy="193899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Lawful Basis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for Data Processing</a:t>
            </a:r>
            <a:endParaRPr b="0" i="0" sz="40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8" name="Shape 168"/>
        <p:cNvGrpSpPr/>
        <p:nvPr/>
      </p:nvGrpSpPr>
      <p:grpSpPr>
        <a:xfrm>
          <a:off x="0" y="0"/>
          <a:ext cx="0" cy="0"/>
          <a:chOff x="0" y="0"/>
          <a:chExt cx="0" cy="0"/>
        </a:xfrm>
      </p:grpSpPr>
      <p:sp>
        <p:nvSpPr>
          <p:cNvPr id="169" name="Shape 169"/>
          <p:cNvSpPr txBox="1"/>
          <p:nvPr>
            <p:ph idx="2" type="body"/>
          </p:nvPr>
        </p:nvSpPr>
        <p:spPr>
          <a:xfrm>
            <a:off x="4648200" y="1370013"/>
            <a:ext cx="3867150" cy="3262312"/>
          </a:xfrm>
          <a:prstGeom prst="rect">
            <a:avLst/>
          </a:prstGeom>
          <a:noFill/>
          <a:ln>
            <a:noFill/>
          </a:ln>
        </p:spPr>
        <p:txBody>
          <a:bodyPr anchorCtr="0" anchor="t" bIns="45700" lIns="91425" spcFirstLastPara="1" rIns="91425" wrap="square" tIns="45700">
            <a:no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pic>
        <p:nvPicPr>
          <p:cNvPr id="170" name="Shape 170"/>
          <p:cNvPicPr preferRelativeResize="0"/>
          <p:nvPr/>
        </p:nvPicPr>
        <p:blipFill rotWithShape="1">
          <a:blip r:embed="rId3">
            <a:alphaModFix/>
          </a:blip>
          <a:srcRect b="0" l="0" r="0" t="0"/>
          <a:stretch/>
        </p:blipFill>
        <p:spPr>
          <a:xfrm>
            <a:off x="4800600" y="1268413"/>
            <a:ext cx="3867150" cy="3303587"/>
          </a:xfrm>
          <a:prstGeom prst="rect">
            <a:avLst/>
          </a:prstGeom>
          <a:noFill/>
          <a:ln>
            <a:noFill/>
          </a:ln>
        </p:spPr>
      </p:pic>
      <p:sp>
        <p:nvSpPr>
          <p:cNvPr id="171" name="Shape 171"/>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Do we need consent?</a:t>
            </a:r>
            <a:endParaRPr b="1" i="0" sz="4400" u="none" cap="none" strike="noStrike">
              <a:solidFill>
                <a:schemeClr val="dk1"/>
              </a:solidFill>
              <a:latin typeface="Calibri"/>
              <a:ea typeface="Calibri"/>
              <a:cs typeface="Calibri"/>
              <a:sym typeface="Calibri"/>
            </a:endParaRPr>
          </a:p>
        </p:txBody>
      </p:sp>
      <p:sp>
        <p:nvSpPr>
          <p:cNvPr id="172" name="Shape 172"/>
          <p:cNvSpPr txBox="1"/>
          <p:nvPr>
            <p:ph idx="1" type="body"/>
          </p:nvPr>
        </p:nvSpPr>
        <p:spPr>
          <a:xfrm>
            <a:off x="628650" y="1370013"/>
            <a:ext cx="3867150" cy="32623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Do you need consent for every piece of personal data you hold?</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What is the age of consent?</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7" name="Shape 177"/>
        <p:cNvGrpSpPr/>
        <p:nvPr/>
      </p:nvGrpSpPr>
      <p:grpSpPr>
        <a:xfrm>
          <a:off x="0" y="0"/>
          <a:ext cx="0" cy="0"/>
          <a:chOff x="0" y="0"/>
          <a:chExt cx="0" cy="0"/>
        </a:xfrm>
      </p:grpSpPr>
      <p:pic>
        <p:nvPicPr>
          <p:cNvPr id="178" name="Shape 178"/>
          <p:cNvPicPr preferRelativeResize="0"/>
          <p:nvPr/>
        </p:nvPicPr>
        <p:blipFill rotWithShape="1">
          <a:blip r:embed="rId3">
            <a:alphaModFix/>
          </a:blip>
          <a:srcRect b="0" l="0" r="0" t="0"/>
          <a:stretch/>
        </p:blipFill>
        <p:spPr>
          <a:xfrm>
            <a:off x="4685190" y="1031051"/>
            <a:ext cx="3867150" cy="3363912"/>
          </a:xfrm>
          <a:prstGeom prst="rect">
            <a:avLst/>
          </a:prstGeom>
          <a:noFill/>
          <a:ln>
            <a:noFill/>
          </a:ln>
        </p:spPr>
      </p:pic>
      <p:sp>
        <p:nvSpPr>
          <p:cNvPr id="179" name="Shape 179"/>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Preparing for Compliance</a:t>
            </a:r>
            <a:endParaRPr b="0" i="0" sz="4400" u="none" cap="none" strike="noStrike">
              <a:solidFill>
                <a:schemeClr val="dk1"/>
              </a:solidFill>
              <a:latin typeface="Calibri"/>
              <a:ea typeface="Calibri"/>
              <a:cs typeface="Calibri"/>
              <a:sym typeface="Calibri"/>
            </a:endParaRPr>
          </a:p>
        </p:txBody>
      </p:sp>
      <p:sp>
        <p:nvSpPr>
          <p:cNvPr id="180" name="Shape 180"/>
          <p:cNvSpPr txBox="1"/>
          <p:nvPr>
            <p:ph idx="4294967295" type="body"/>
          </p:nvPr>
        </p:nvSpPr>
        <p:spPr>
          <a:xfrm>
            <a:off x="323400" y="1031050"/>
            <a:ext cx="4246500" cy="3500700"/>
          </a:xfrm>
          <a:prstGeom prst="rect">
            <a:avLst/>
          </a:prstGeom>
          <a:noFill/>
          <a:ln>
            <a:noFill/>
          </a:ln>
        </p:spPr>
        <p:txBody>
          <a:bodyPr anchorCtr="0" anchor="t" bIns="45700" lIns="91425" spcFirstLastPara="1" rIns="91425" wrap="square" tIns="45700">
            <a:noAutofit/>
          </a:bodyPr>
          <a:lstStyle/>
          <a:p>
            <a:pPr indent="-446088" lvl="0" marL="446088" marR="0" rtl="0" algn="l">
              <a:lnSpc>
                <a:spcPct val="70000"/>
              </a:lnSpc>
              <a:spcBef>
                <a:spcPts val="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to be informed</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of access</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of rectification</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of erasure</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to restrict processing</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to object</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 to data portability</a:t>
            </a:r>
            <a:endParaRPr b="0" i="0" sz="2200" u="none" cap="none" strike="noStrike">
              <a:solidFill>
                <a:schemeClr val="dk1"/>
              </a:solidFill>
              <a:latin typeface="Calibri"/>
              <a:ea typeface="Calibri"/>
              <a:cs typeface="Calibri"/>
              <a:sym typeface="Calibri"/>
            </a:endParaRPr>
          </a:p>
          <a:p>
            <a:pPr indent="-446088" lvl="0" marL="446088" marR="0" rtl="0" algn="l">
              <a:lnSpc>
                <a:spcPct val="70000"/>
              </a:lnSpc>
              <a:spcBef>
                <a:spcPts val="1000"/>
              </a:spcBef>
              <a:spcAft>
                <a:spcPts val="0"/>
              </a:spcAft>
              <a:buClr>
                <a:schemeClr val="dk1"/>
              </a:buClr>
              <a:buSzPts val="2200"/>
              <a:buFont typeface="Calibri"/>
              <a:buAutoNum type="arabicPeriod"/>
            </a:pPr>
            <a:r>
              <a:rPr b="0" i="0" lang="en-US" sz="2200" u="none" cap="none" strike="noStrike">
                <a:solidFill>
                  <a:schemeClr val="dk1"/>
                </a:solidFill>
                <a:latin typeface="Calibri"/>
                <a:ea typeface="Calibri"/>
                <a:cs typeface="Calibri"/>
                <a:sym typeface="Calibri"/>
              </a:rPr>
              <a:t>Rights in relation to automated decision making</a:t>
            </a:r>
            <a:endParaRPr b="0" i="0" sz="2200" u="none" cap="none" strike="noStrike">
              <a:solidFill>
                <a:schemeClr val="dk1"/>
              </a:solidFill>
              <a:latin typeface="Calibri"/>
              <a:ea typeface="Calibri"/>
              <a:cs typeface="Calibri"/>
              <a:sym typeface="Calibri"/>
            </a:endParaRPr>
          </a:p>
        </p:txBody>
      </p:sp>
      <p:sp>
        <p:nvSpPr>
          <p:cNvPr id="181" name="Shape 181"/>
          <p:cNvSpPr txBox="1"/>
          <p:nvPr/>
        </p:nvSpPr>
        <p:spPr>
          <a:xfrm>
            <a:off x="5019609" y="1499079"/>
            <a:ext cx="3357062" cy="175432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The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Rights of Data Subjects</a:t>
            </a:r>
            <a:endParaRPr b="0" i="0" sz="3600" u="none" cap="none" strike="noStrike">
              <a:solidFill>
                <a:srgbClr val="000000"/>
              </a:solidFill>
              <a:latin typeface="Arial"/>
              <a:ea typeface="Arial"/>
              <a:cs typeface="Arial"/>
              <a:sym typeface="Arial"/>
            </a:endParaRPr>
          </a:p>
        </p:txBody>
      </p:sp>
      <p:sp>
        <p:nvSpPr>
          <p:cNvPr id="182" name="Shape 182"/>
          <p:cNvSpPr txBox="1"/>
          <p:nvPr/>
        </p:nvSpPr>
        <p:spPr>
          <a:xfrm>
            <a:off x="4643758" y="3415012"/>
            <a:ext cx="3871592" cy="7386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Calibri"/>
              <a:buNone/>
            </a:pPr>
            <a:r>
              <a:rPr b="1" i="0" lang="en-US" sz="1400" u="none" cap="none" strike="noStrike">
                <a:solidFill>
                  <a:srgbClr val="000000"/>
                </a:solidFill>
                <a:latin typeface="Calibri"/>
                <a:ea typeface="Calibri"/>
                <a:cs typeface="Calibri"/>
                <a:sym typeface="Calibri"/>
              </a:rPr>
              <a:t>Survey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20% of schools have had a subject access request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27% aren’t sure</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6" name="Shape 186"/>
        <p:cNvGrpSpPr/>
        <p:nvPr/>
      </p:nvGrpSpPr>
      <p:grpSpPr>
        <a:xfrm>
          <a:off x="0" y="0"/>
          <a:ext cx="0" cy="0"/>
          <a:chOff x="0" y="0"/>
          <a:chExt cx="0" cy="0"/>
        </a:xfrm>
      </p:grpSpPr>
      <p:pic>
        <p:nvPicPr>
          <p:cNvPr id="187" name="Shape 187"/>
          <p:cNvPicPr preferRelativeResize="0"/>
          <p:nvPr/>
        </p:nvPicPr>
        <p:blipFill rotWithShape="1">
          <a:blip r:embed="rId3">
            <a:alphaModFix/>
          </a:blip>
          <a:srcRect b="0" l="0" r="0" t="0"/>
          <a:stretch/>
        </p:blipFill>
        <p:spPr>
          <a:xfrm>
            <a:off x="5607754" y="1707455"/>
            <a:ext cx="3867150" cy="3303587"/>
          </a:xfrm>
          <a:prstGeom prst="rect">
            <a:avLst/>
          </a:prstGeom>
          <a:noFill/>
          <a:ln>
            <a:noFill/>
          </a:ln>
        </p:spPr>
      </p:pic>
      <p:sp>
        <p:nvSpPr>
          <p:cNvPr id="188" name="Shape 188"/>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Activities to prepare</a:t>
            </a:r>
            <a:endParaRPr b="1" i="0" sz="4400" u="none" cap="none" strike="noStrike">
              <a:solidFill>
                <a:schemeClr val="dk1"/>
              </a:solidFill>
              <a:latin typeface="Calibri"/>
              <a:ea typeface="Calibri"/>
              <a:cs typeface="Calibri"/>
              <a:sym typeface="Calibri"/>
            </a:endParaRPr>
          </a:p>
        </p:txBody>
      </p:sp>
      <p:sp>
        <p:nvSpPr>
          <p:cNvPr id="189" name="Shape 189"/>
          <p:cNvSpPr txBox="1"/>
          <p:nvPr>
            <p:ph idx="1" type="body"/>
          </p:nvPr>
        </p:nvSpPr>
        <p:spPr>
          <a:xfrm>
            <a:off x="278525" y="1370013"/>
            <a:ext cx="5596758" cy="3262312"/>
          </a:xfrm>
          <a:prstGeom prst="rect">
            <a:avLst/>
          </a:prstGeom>
          <a:noFill/>
          <a:ln>
            <a:noFill/>
          </a:ln>
        </p:spPr>
        <p:txBody>
          <a:bodyPr anchorCtr="0" anchor="t" bIns="45700" lIns="91425" spcFirstLastPara="1" rIns="91425" wrap="square" tIns="45700">
            <a:noAutofit/>
          </a:bodyPr>
          <a:lstStyle/>
          <a:p>
            <a:pPr indent="-457200" lvl="0" marL="4572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Data mapping</a:t>
            </a:r>
            <a:endParaRPr/>
          </a:p>
          <a:p>
            <a:pPr indent="-457200" lvl="0" marL="4572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Updating policies</a:t>
            </a:r>
            <a:endParaRPr/>
          </a:p>
          <a:p>
            <a:pPr indent="-457200" lvl="0" marL="4572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Updating /developing procedures</a:t>
            </a:r>
            <a:endParaRPr/>
          </a:p>
          <a:p>
            <a:pPr indent="-457200" lvl="0" marL="4572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Staff training</a:t>
            </a:r>
            <a:endParaRPr/>
          </a:p>
          <a:p>
            <a:pPr indent="-457200" lvl="0" marL="4572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Recording processing activity</a:t>
            </a:r>
            <a:endParaRPr/>
          </a:p>
          <a:p>
            <a:pPr indent="-279400" lvl="0" marL="4572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457200" lvl="0" marL="4572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…changing behaviour</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4" name="Shape 194"/>
        <p:cNvGrpSpPr/>
        <p:nvPr/>
      </p:nvGrpSpPr>
      <p:grpSpPr>
        <a:xfrm>
          <a:off x="0" y="0"/>
          <a:ext cx="0" cy="0"/>
          <a:chOff x="0" y="0"/>
          <a:chExt cx="0" cy="0"/>
        </a:xfrm>
      </p:grpSpPr>
      <p:pic>
        <p:nvPicPr>
          <p:cNvPr id="195" name="Shape 195"/>
          <p:cNvPicPr preferRelativeResize="0"/>
          <p:nvPr/>
        </p:nvPicPr>
        <p:blipFill rotWithShape="1">
          <a:blip r:embed="rId3">
            <a:alphaModFix/>
          </a:blip>
          <a:srcRect b="0" l="0" r="0" t="0"/>
          <a:stretch/>
        </p:blipFill>
        <p:spPr>
          <a:xfrm>
            <a:off x="1" y="0"/>
            <a:ext cx="3288344" cy="3495759"/>
          </a:xfrm>
          <a:prstGeom prst="rect">
            <a:avLst/>
          </a:prstGeom>
          <a:noFill/>
          <a:ln>
            <a:noFill/>
          </a:ln>
        </p:spPr>
      </p:pic>
      <p:sp>
        <p:nvSpPr>
          <p:cNvPr id="196" name="Shape 196"/>
          <p:cNvSpPr/>
          <p:nvPr/>
        </p:nvSpPr>
        <p:spPr>
          <a:xfrm>
            <a:off x="2848397" y="1798084"/>
            <a:ext cx="6182315" cy="30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6000" u="none" cap="none" strike="noStrike">
                <a:solidFill>
                  <a:srgbClr val="000000"/>
                </a:solidFill>
                <a:latin typeface="Calibri"/>
                <a:ea typeface="Calibri"/>
                <a:cs typeface="Calibri"/>
                <a:sym typeface="Calibri"/>
              </a:rPr>
              <a:t>How do you expect others to look after your data?</a:t>
            </a:r>
            <a:endParaRPr b="0" i="0" sz="6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t/>
            </a:r>
            <a:endParaRPr b="0" i="0" sz="3000" u="none" cap="none" strike="noStrik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1" name="Shape 201"/>
        <p:cNvGrpSpPr/>
        <p:nvPr/>
      </p:nvGrpSpPr>
      <p:grpSpPr>
        <a:xfrm>
          <a:off x="0" y="0"/>
          <a:ext cx="0" cy="0"/>
          <a:chOff x="0" y="0"/>
          <a:chExt cx="0" cy="0"/>
        </a:xfrm>
      </p:grpSpPr>
      <p:pic>
        <p:nvPicPr>
          <p:cNvPr id="202" name="Shape 202"/>
          <p:cNvPicPr preferRelativeResize="0"/>
          <p:nvPr/>
        </p:nvPicPr>
        <p:blipFill rotWithShape="1">
          <a:blip r:embed="rId3">
            <a:alphaModFix/>
          </a:blip>
          <a:srcRect b="0" l="0" r="0" t="0"/>
          <a:stretch/>
        </p:blipFill>
        <p:spPr>
          <a:xfrm>
            <a:off x="220002" y="80920"/>
            <a:ext cx="2230367" cy="2230367"/>
          </a:xfrm>
          <a:prstGeom prst="rect">
            <a:avLst/>
          </a:prstGeom>
          <a:noFill/>
          <a:ln>
            <a:noFill/>
          </a:ln>
        </p:spPr>
      </p:pic>
      <p:sp>
        <p:nvSpPr>
          <p:cNvPr id="203" name="Shape 203"/>
          <p:cNvSpPr txBox="1"/>
          <p:nvPr/>
        </p:nvSpPr>
        <p:spPr>
          <a:xfrm>
            <a:off x="3261090" y="488217"/>
            <a:ext cx="4976601" cy="7078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4000" u="none" cap="none" strike="noStrike">
                <a:solidFill>
                  <a:srgbClr val="000000"/>
                </a:solidFill>
                <a:latin typeface="Arial"/>
                <a:ea typeface="Arial"/>
                <a:cs typeface="Arial"/>
                <a:sym typeface="Arial"/>
              </a:rPr>
              <a:t>Breach Alert!</a:t>
            </a:r>
            <a:endParaRPr/>
          </a:p>
        </p:txBody>
      </p:sp>
      <p:pic>
        <p:nvPicPr>
          <p:cNvPr id="204" name="Shape 204"/>
          <p:cNvPicPr preferRelativeResize="0"/>
          <p:nvPr/>
        </p:nvPicPr>
        <p:blipFill rotWithShape="1">
          <a:blip r:embed="rId4">
            <a:alphaModFix/>
          </a:blip>
          <a:srcRect b="0" l="0" r="0" t="0"/>
          <a:stretch/>
        </p:blipFill>
        <p:spPr>
          <a:xfrm>
            <a:off x="3261090" y="1324817"/>
            <a:ext cx="4459955" cy="33304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9" name="Shape 209"/>
        <p:cNvGrpSpPr/>
        <p:nvPr/>
      </p:nvGrpSpPr>
      <p:grpSpPr>
        <a:xfrm>
          <a:off x="0" y="0"/>
          <a:ext cx="0" cy="0"/>
          <a:chOff x="0" y="0"/>
          <a:chExt cx="0" cy="0"/>
        </a:xfrm>
      </p:grpSpPr>
      <p:sp>
        <p:nvSpPr>
          <p:cNvPr id="210" name="Shape 210"/>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pic>
        <p:nvPicPr>
          <p:cNvPr id="211" name="Shape 211"/>
          <p:cNvPicPr preferRelativeResize="0"/>
          <p:nvPr/>
        </p:nvPicPr>
        <p:blipFill>
          <a:blip r:embed="rId3">
            <a:alphaModFix/>
          </a:blip>
          <a:stretch>
            <a:fillRect/>
          </a:stretch>
        </p:blipFill>
        <p:spPr>
          <a:xfrm>
            <a:off x="1471250" y="152400"/>
            <a:ext cx="5657085" cy="4838700"/>
          </a:xfrm>
          <a:prstGeom prst="rect">
            <a:avLst/>
          </a:prstGeom>
          <a:noFill/>
          <a:ln>
            <a:noFill/>
          </a:ln>
        </p:spPr>
      </p:pic>
      <p:sp>
        <p:nvSpPr>
          <p:cNvPr id="212" name="Shape 212"/>
          <p:cNvSpPr txBox="1"/>
          <p:nvPr/>
        </p:nvSpPr>
        <p:spPr>
          <a:xfrm>
            <a:off x="1173775" y="1701300"/>
            <a:ext cx="6990000" cy="2373900"/>
          </a:xfrm>
          <a:prstGeom prst="rect">
            <a:avLst/>
          </a:prstGeom>
          <a:solidFill>
            <a:srgbClr val="FFFFFF"/>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algn="ctr">
              <a:spcBef>
                <a:spcPts val="0"/>
              </a:spcBef>
              <a:spcAft>
                <a:spcPts val="0"/>
              </a:spcAft>
              <a:buNone/>
            </a:pPr>
            <a:r>
              <a:rPr lang="en-US" sz="3000">
                <a:solidFill>
                  <a:schemeClr val="dk1"/>
                </a:solidFill>
                <a:highlight>
                  <a:srgbClr val="FFFFFF"/>
                </a:highlight>
              </a:rPr>
              <a:t>Big Blue’s doing this because “the possible financial and reputational damage from misplaced, lost or misused removable portable storage devices must be minimised.”</a:t>
            </a:r>
            <a:endParaRPr sz="3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7" name="Shape 217"/>
        <p:cNvGrpSpPr/>
        <p:nvPr/>
      </p:nvGrpSpPr>
      <p:grpSpPr>
        <a:xfrm>
          <a:off x="0" y="0"/>
          <a:ext cx="0" cy="0"/>
          <a:chOff x="0" y="0"/>
          <a:chExt cx="0" cy="0"/>
        </a:xfrm>
      </p:grpSpPr>
      <p:sp>
        <p:nvSpPr>
          <p:cNvPr id="218" name="Shape 218"/>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Data Breaches</a:t>
            </a:r>
            <a:endParaRPr b="1" i="0" sz="4400" u="none" cap="none" strike="noStrike">
              <a:solidFill>
                <a:schemeClr val="dk1"/>
              </a:solidFill>
              <a:latin typeface="Calibri"/>
              <a:ea typeface="Calibri"/>
              <a:cs typeface="Calibri"/>
              <a:sym typeface="Calibri"/>
            </a:endParaRPr>
          </a:p>
        </p:txBody>
      </p:sp>
      <p:sp>
        <p:nvSpPr>
          <p:cNvPr id="219" name="Shape 219"/>
          <p:cNvSpPr txBox="1"/>
          <p:nvPr>
            <p:ph idx="1" type="body"/>
          </p:nvPr>
        </p:nvSpPr>
        <p:spPr>
          <a:xfrm>
            <a:off x="628650" y="1370025"/>
            <a:ext cx="7240500" cy="3262200"/>
          </a:xfrm>
          <a:prstGeom prst="rect">
            <a:avLst/>
          </a:prstGeom>
          <a:noFill/>
          <a:ln>
            <a:noFill/>
          </a:ln>
        </p:spPr>
        <p:txBody>
          <a:bodyPr anchorCtr="0" anchor="t" bIns="45700" lIns="91425" spcFirstLastPara="1" rIns="91425" wrap="square" tIns="45700">
            <a:noAutofit/>
          </a:bodyPr>
          <a:lstStyle/>
          <a:p>
            <a:pPr indent="-177800" lvl="0" marL="177800" marR="0" rtl="0" algn="l">
              <a:lnSpc>
                <a:spcPct val="90000"/>
              </a:lnSpc>
              <a:spcBef>
                <a:spcPts val="10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Confidentiality</a:t>
            </a:r>
            <a:endParaRPr b="0" i="0" sz="2400" u="none" cap="none" strike="noStrike">
              <a:solidFill>
                <a:schemeClr val="dk1"/>
              </a:solidFill>
              <a:latin typeface="Calibri"/>
              <a:ea typeface="Calibri"/>
              <a:cs typeface="Calibri"/>
              <a:sym typeface="Calibri"/>
            </a:endParaRPr>
          </a:p>
          <a:p>
            <a:pPr indent="-177800" lvl="0" marL="177800" marR="0" rtl="0" algn="l">
              <a:lnSpc>
                <a:spcPct val="9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Integrity</a:t>
            </a:r>
            <a:endParaRPr b="0" i="0" sz="2400" u="none" cap="none" strike="noStrike">
              <a:solidFill>
                <a:schemeClr val="dk1"/>
              </a:solidFill>
              <a:latin typeface="Calibri"/>
              <a:ea typeface="Calibri"/>
              <a:cs typeface="Calibri"/>
              <a:sym typeface="Calibri"/>
            </a:endParaRPr>
          </a:p>
          <a:p>
            <a:pPr indent="-177800" lvl="0" marL="177800" marR="0" rtl="0" algn="l">
              <a:lnSpc>
                <a:spcPct val="9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Availability</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t/>
            </a:r>
            <a:endParaRPr b="0" i="0" sz="2400" u="none" cap="none" strike="noStrike">
              <a:solidFill>
                <a:schemeClr val="dk1"/>
              </a:solidFill>
              <a:latin typeface="Calibri"/>
              <a:ea typeface="Calibri"/>
              <a:cs typeface="Calibri"/>
              <a:sym typeface="Calibri"/>
            </a:endParaRPr>
          </a:p>
          <a:p>
            <a:pPr indent="-177800" lvl="0" marL="177800" marR="0" rtl="0" algn="l">
              <a:lnSpc>
                <a:spcPct val="90000"/>
              </a:lnSpc>
              <a:spcBef>
                <a:spcPts val="100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Serious breaches must be reported to the ICO within 72 hours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400" u="none" cap="none" strike="noStrike">
                <a:solidFill>
                  <a:schemeClr val="dk1"/>
                </a:solidFill>
                <a:latin typeface="Calibri"/>
                <a:ea typeface="Calibri"/>
                <a:cs typeface="Calibri"/>
                <a:sym typeface="Calibri"/>
              </a:rPr>
              <a:t>Report all breaches to your DPO, they can help decide if it needs reporting to the ICO</a:t>
            </a:r>
            <a:endParaRPr b="0" i="0" sz="2400" u="none" cap="none" strike="noStrike">
              <a:solidFill>
                <a:schemeClr val="dk1"/>
              </a:solidFill>
              <a:latin typeface="Calibri"/>
              <a:ea typeface="Calibri"/>
              <a:cs typeface="Calibri"/>
              <a:sym typeface="Calibri"/>
            </a:endParaRPr>
          </a:p>
        </p:txBody>
      </p:sp>
      <p:sp>
        <p:nvSpPr>
          <p:cNvPr id="220" name="Shape 220"/>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br>
              <a:rPr b="0" i="0" lang="en-US"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4" name="Shape 224"/>
        <p:cNvGrpSpPr/>
        <p:nvPr/>
      </p:nvGrpSpPr>
      <p:grpSpPr>
        <a:xfrm>
          <a:off x="0" y="0"/>
          <a:ext cx="0" cy="0"/>
          <a:chOff x="0" y="0"/>
          <a:chExt cx="0" cy="0"/>
        </a:xfrm>
      </p:grpSpPr>
      <p:pic>
        <p:nvPicPr>
          <p:cNvPr id="225" name="Shape 225"/>
          <p:cNvPicPr preferRelativeResize="0"/>
          <p:nvPr/>
        </p:nvPicPr>
        <p:blipFill rotWithShape="1">
          <a:blip r:embed="rId3">
            <a:alphaModFix/>
          </a:blip>
          <a:srcRect b="0" l="0" r="0" t="3967"/>
          <a:stretch/>
        </p:blipFill>
        <p:spPr>
          <a:xfrm>
            <a:off x="4495800" y="1026331"/>
            <a:ext cx="4432172" cy="3949676"/>
          </a:xfrm>
          <a:prstGeom prst="rect">
            <a:avLst/>
          </a:prstGeom>
          <a:noFill/>
          <a:ln>
            <a:noFill/>
          </a:ln>
        </p:spPr>
      </p:pic>
      <p:sp>
        <p:nvSpPr>
          <p:cNvPr id="226" name="Shape 226"/>
          <p:cNvSpPr/>
          <p:nvPr/>
        </p:nvSpPr>
        <p:spPr>
          <a:xfrm>
            <a:off x="7541670" y="3161663"/>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227" name="Shape 227"/>
          <p:cNvSpPr/>
          <p:nvPr/>
        </p:nvSpPr>
        <p:spPr>
          <a:xfrm>
            <a:off x="431230" y="4162171"/>
            <a:ext cx="3273094" cy="66761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5A5A5"/>
              </a:buClr>
              <a:buSzPts val="275"/>
              <a:buFont typeface="Arial"/>
              <a:buNone/>
            </a:pPr>
            <a:r>
              <a:t/>
            </a:r>
            <a:endParaRPr b="0" i="1" sz="1100" u="none" cap="none" strike="noStrike">
              <a:solidFill>
                <a:srgbClr val="000000"/>
              </a:solidFill>
              <a:latin typeface="Arial"/>
              <a:ea typeface="Arial"/>
              <a:cs typeface="Arial"/>
              <a:sym typeface="Arial"/>
            </a:endParaRPr>
          </a:p>
        </p:txBody>
      </p:sp>
      <p:sp>
        <p:nvSpPr>
          <p:cNvPr id="228" name="Shape 228"/>
          <p:cNvSpPr/>
          <p:nvPr/>
        </p:nvSpPr>
        <p:spPr>
          <a:xfrm>
            <a:off x="5901574" y="3743472"/>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
        <p:nvSpPr>
          <p:cNvPr id="229" name="Shape 229"/>
          <p:cNvSpPr/>
          <p:nvPr/>
        </p:nvSpPr>
        <p:spPr>
          <a:xfrm>
            <a:off x="6590145" y="1633737"/>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30" name="Shape 230"/>
          <p:cNvSpPr/>
          <p:nvPr/>
        </p:nvSpPr>
        <p:spPr>
          <a:xfrm>
            <a:off x="6987540" y="1784100"/>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
        <p:nvSpPr>
          <p:cNvPr id="231" name="Shape 231"/>
          <p:cNvSpPr/>
          <p:nvPr/>
        </p:nvSpPr>
        <p:spPr>
          <a:xfrm>
            <a:off x="6851765" y="3817909"/>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sp>
        <p:nvSpPr>
          <p:cNvPr id="232" name="Shape 232"/>
          <p:cNvSpPr/>
          <p:nvPr/>
        </p:nvSpPr>
        <p:spPr>
          <a:xfrm>
            <a:off x="7427191" y="2011014"/>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
        <p:nvSpPr>
          <p:cNvPr id="233" name="Shape 233"/>
          <p:cNvSpPr/>
          <p:nvPr/>
        </p:nvSpPr>
        <p:spPr>
          <a:xfrm>
            <a:off x="7590161" y="2546517"/>
            <a:ext cx="52324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234" name="Shape 234"/>
          <p:cNvSpPr/>
          <p:nvPr/>
        </p:nvSpPr>
        <p:spPr>
          <a:xfrm>
            <a:off x="5375564" y="2357378"/>
            <a:ext cx="604290" cy="3463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7F7F7F"/>
              </a:buClr>
              <a:buSzPts val="275"/>
              <a:buFont typeface="Arial"/>
              <a:buNone/>
            </a:pPr>
            <a:r>
              <a:rPr b="0" i="1" lang="en-US" sz="1100" u="none" cap="none" strike="noStrike">
                <a:solidFill>
                  <a:srgbClr val="7F7F7F"/>
                </a:solidFill>
                <a:latin typeface="Arial"/>
                <a:ea typeface="Arial"/>
                <a:cs typeface="Arial"/>
                <a:sym typeface="Arial"/>
              </a:rPr>
              <a:t>34%**</a:t>
            </a:r>
            <a:endParaRPr b="0" i="0" sz="1400" u="none" cap="none" strike="noStrike">
              <a:solidFill>
                <a:srgbClr val="000000"/>
              </a:solidFill>
              <a:latin typeface="Arial"/>
              <a:ea typeface="Arial"/>
              <a:cs typeface="Arial"/>
              <a:sym typeface="Arial"/>
            </a:endParaRPr>
          </a:p>
        </p:txBody>
      </p:sp>
      <p:sp>
        <p:nvSpPr>
          <p:cNvPr id="235" name="Shape 235"/>
          <p:cNvSpPr txBox="1"/>
          <p:nvPr>
            <p:ph type="title"/>
          </p:nvPr>
        </p:nvSpPr>
        <p:spPr>
          <a:xfrm>
            <a:off x="705650" y="212938"/>
            <a:ext cx="7886700" cy="9939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Reported Data Breaches</a:t>
            </a:r>
            <a:endParaRPr b="0" i="0" sz="4400" u="none" cap="none" strike="noStrike">
              <a:solidFill>
                <a:schemeClr val="dk1"/>
              </a:solidFill>
              <a:latin typeface="Calibri"/>
              <a:ea typeface="Calibri"/>
              <a:cs typeface="Calibri"/>
              <a:sym typeface="Calibri"/>
            </a:endParaRPr>
          </a:p>
        </p:txBody>
      </p:sp>
      <p:sp>
        <p:nvSpPr>
          <p:cNvPr id="236" name="Shape 236"/>
          <p:cNvSpPr txBox="1"/>
          <p:nvPr>
            <p:ph idx="1" type="body"/>
          </p:nvPr>
        </p:nvSpPr>
        <p:spPr>
          <a:xfrm>
            <a:off x="628650" y="1370013"/>
            <a:ext cx="3867150" cy="32623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450"/>
              <a:buFont typeface="Arial"/>
              <a:buNone/>
            </a:pPr>
            <a:r>
              <a:rPr b="1" i="0" lang="en-US" sz="1800" u="none" cap="none" strike="noStrike">
                <a:solidFill>
                  <a:schemeClr val="dk1"/>
                </a:solidFill>
                <a:latin typeface="Calibri"/>
                <a:ea typeface="Calibri"/>
                <a:cs typeface="Calibri"/>
                <a:sym typeface="Calibri"/>
              </a:rPr>
              <a:t>182</a:t>
            </a:r>
            <a:r>
              <a:rPr b="0" i="0" lang="en-US" sz="1800" u="none" cap="none" strike="noStrike">
                <a:solidFill>
                  <a:schemeClr val="dk1"/>
                </a:solidFill>
                <a:latin typeface="Calibri"/>
                <a:ea typeface="Calibri"/>
                <a:cs typeface="Calibri"/>
                <a:sym typeface="Calibri"/>
              </a:rPr>
              <a:t> incidents reported to the Information Commissioner’s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Office in 12 month period</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(Apr’16 - Mar’17)</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5A5A5"/>
              </a:buClr>
              <a:buSzPts val="45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5A5A5"/>
              </a:buClr>
              <a:buSzPts val="45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5A5A5"/>
              </a:buClr>
              <a:buSzPts val="45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A5A5A5"/>
              </a:buClr>
              <a:buSzPts val="45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r">
              <a:lnSpc>
                <a:spcPct val="100000"/>
              </a:lnSpc>
              <a:spcBef>
                <a:spcPts val="0"/>
              </a:spcBef>
              <a:spcAft>
                <a:spcPts val="0"/>
              </a:spcAft>
              <a:buClr>
                <a:srgbClr val="A5A5A5"/>
              </a:buClr>
              <a:buSzPts val="400"/>
              <a:buFont typeface="Arial"/>
              <a:buNone/>
            </a:pPr>
            <a:r>
              <a:rPr b="0" i="0" lang="en-US" sz="1600" u="none" cap="none" strike="noStrike">
                <a:solidFill>
                  <a:schemeClr val="dk1"/>
                </a:solidFill>
                <a:latin typeface="Calibri"/>
                <a:ea typeface="Calibri"/>
                <a:cs typeface="Calibri"/>
                <a:sym typeface="Calibri"/>
              </a:rPr>
              <a:t>** Other includes: insecure disposal; data left in insecure locations and any other ‘unclassified’ security breach.</a:t>
            </a:r>
            <a:endParaRPr b="0" i="0" sz="1800" u="none" cap="none" strike="noStrike">
              <a:solidFill>
                <a:schemeClr val="dk1"/>
              </a:solidFill>
              <a:latin typeface="Calibri"/>
              <a:ea typeface="Calibri"/>
              <a:cs typeface="Calibri"/>
              <a:sym typeface="Calibri"/>
            </a:endParaRPr>
          </a:p>
          <a:p>
            <a:pPr indent="-1143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1" name="Shape 241"/>
        <p:cNvGrpSpPr/>
        <p:nvPr/>
      </p:nvGrpSpPr>
      <p:grpSpPr>
        <a:xfrm>
          <a:off x="0" y="0"/>
          <a:ext cx="0" cy="0"/>
          <a:chOff x="0" y="0"/>
          <a:chExt cx="0" cy="0"/>
        </a:xfrm>
      </p:grpSpPr>
      <p:pic>
        <p:nvPicPr>
          <p:cNvPr id="242" name="Shape 242"/>
          <p:cNvPicPr preferRelativeResize="0"/>
          <p:nvPr/>
        </p:nvPicPr>
        <p:blipFill rotWithShape="1">
          <a:blip r:embed="rId3">
            <a:alphaModFix/>
          </a:blip>
          <a:srcRect b="0" l="0" r="0" t="0"/>
          <a:stretch/>
        </p:blipFill>
        <p:spPr>
          <a:xfrm>
            <a:off x="220002" y="80920"/>
            <a:ext cx="2230367" cy="2230367"/>
          </a:xfrm>
          <a:prstGeom prst="rect">
            <a:avLst/>
          </a:prstGeom>
          <a:noFill/>
          <a:ln>
            <a:noFill/>
          </a:ln>
        </p:spPr>
      </p:pic>
      <p:sp>
        <p:nvSpPr>
          <p:cNvPr id="243" name="Shape 243"/>
          <p:cNvSpPr txBox="1"/>
          <p:nvPr/>
        </p:nvSpPr>
        <p:spPr>
          <a:xfrm>
            <a:off x="3261090" y="488217"/>
            <a:ext cx="4976601" cy="7078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4000" u="none" cap="none" strike="noStrike">
                <a:solidFill>
                  <a:srgbClr val="000000"/>
                </a:solidFill>
                <a:latin typeface="Arial"/>
                <a:ea typeface="Arial"/>
                <a:cs typeface="Arial"/>
                <a:sym typeface="Arial"/>
              </a:rPr>
              <a:t>Breach Alert!</a:t>
            </a:r>
            <a:endParaRPr/>
          </a:p>
        </p:txBody>
      </p:sp>
      <p:pic>
        <p:nvPicPr>
          <p:cNvPr id="244" name="Shape 244"/>
          <p:cNvPicPr preferRelativeResize="0"/>
          <p:nvPr/>
        </p:nvPicPr>
        <p:blipFill rotWithShape="1">
          <a:blip r:embed="rId4">
            <a:alphaModFix/>
          </a:blip>
          <a:srcRect b="0" l="0" r="0" t="0"/>
          <a:stretch/>
        </p:blipFill>
        <p:spPr>
          <a:xfrm>
            <a:off x="2832538" y="1256629"/>
            <a:ext cx="5804380" cy="3557109"/>
          </a:xfrm>
          <a:prstGeom prst="rect">
            <a:avLst/>
          </a:prstGeom>
          <a:noFill/>
          <a:ln>
            <a:noFill/>
          </a:ln>
        </p:spPr>
      </p:pic>
      <p:sp>
        <p:nvSpPr>
          <p:cNvPr id="245" name="Shape 245"/>
          <p:cNvSpPr txBox="1"/>
          <p:nvPr/>
        </p:nvSpPr>
        <p:spPr>
          <a:xfrm>
            <a:off x="2070538" y="1297020"/>
            <a:ext cx="6853460" cy="3693319"/>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A council has been fined £80,000 for losing an unencrypted memory stick storing details of 286 children with special educational needs.</a:t>
            </a:r>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An internal report by North East Lincolnshire council found the children would suffer ill-health following the loss of the memory stick, which has been missing since July 2011. The stick contained personal details, such as mental and physical health problems, home addresses and teaching requirements.</a:t>
            </a:r>
            <a:endParaRPr/>
          </a:p>
          <a:p>
            <a:pPr indent="0" lvl="0" marL="0" marR="0" rtl="0" algn="l">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It went missing after a special educational needs teacher left it stuck in a laptop and returned to find it gone. It has never been recovered.</a:t>
            </a:r>
            <a:endParaRPr/>
          </a:p>
          <a:p>
            <a:pPr indent="0" lvl="0" marL="0" marR="0" rtl="0" algn="l">
              <a:lnSpc>
                <a:spcPct val="100000"/>
              </a:lnSpc>
              <a:spcBef>
                <a:spcPts val="0"/>
              </a:spcBef>
              <a:spcAft>
                <a:spcPts val="0"/>
              </a:spcAft>
              <a:buNone/>
            </a:pPr>
            <a:r>
              <a:t/>
            </a:r>
            <a:endParaRPr b="1" i="0" sz="1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0" name="Shape 250"/>
        <p:cNvGrpSpPr/>
        <p:nvPr/>
      </p:nvGrpSpPr>
      <p:grpSpPr>
        <a:xfrm>
          <a:off x="0" y="0"/>
          <a:ext cx="0" cy="0"/>
          <a:chOff x="0" y="0"/>
          <a:chExt cx="0" cy="0"/>
        </a:xfrm>
      </p:grpSpPr>
      <p:sp>
        <p:nvSpPr>
          <p:cNvPr id="251" name="Shape 251"/>
          <p:cNvSpPr txBox="1"/>
          <p:nvPr/>
        </p:nvSpPr>
        <p:spPr>
          <a:xfrm>
            <a:off x="344321" y="428914"/>
            <a:ext cx="77052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1000"/>
              <a:buFont typeface="Arial"/>
              <a:buNone/>
            </a:pPr>
            <a:r>
              <a:rPr b="1" i="0" lang="en-US" sz="4000" u="none" cap="none" strike="noStrike">
                <a:solidFill>
                  <a:srgbClr val="000000"/>
                </a:solidFill>
                <a:latin typeface="Calibri"/>
                <a:ea typeface="Calibri"/>
                <a:cs typeface="Calibri"/>
                <a:sym typeface="Calibri"/>
              </a:rPr>
              <a:t>Protecting personal data</a:t>
            </a:r>
            <a:endParaRPr b="0" i="0" sz="1400" u="none" cap="none" strike="noStrike">
              <a:solidFill>
                <a:srgbClr val="000000"/>
              </a:solidFill>
              <a:latin typeface="Arial"/>
              <a:ea typeface="Arial"/>
              <a:cs typeface="Arial"/>
              <a:sym typeface="Arial"/>
            </a:endParaRPr>
          </a:p>
        </p:txBody>
      </p:sp>
      <p:pic>
        <p:nvPicPr>
          <p:cNvPr id="252" name="Shape 252"/>
          <p:cNvPicPr preferRelativeResize="0"/>
          <p:nvPr/>
        </p:nvPicPr>
        <p:blipFill rotWithShape="1">
          <a:blip r:embed="rId3">
            <a:alphaModFix/>
          </a:blip>
          <a:srcRect b="0" l="0" r="0" t="0"/>
          <a:stretch/>
        </p:blipFill>
        <p:spPr>
          <a:xfrm>
            <a:off x="344321" y="1454308"/>
            <a:ext cx="2551504" cy="1839985"/>
          </a:xfrm>
          <a:prstGeom prst="rect">
            <a:avLst/>
          </a:prstGeom>
          <a:noFill/>
          <a:ln>
            <a:noFill/>
          </a:ln>
        </p:spPr>
      </p:pic>
      <p:sp>
        <p:nvSpPr>
          <p:cNvPr id="253" name="Shape 253"/>
          <p:cNvSpPr/>
          <p:nvPr/>
        </p:nvSpPr>
        <p:spPr>
          <a:xfrm>
            <a:off x="2549225" y="1603876"/>
            <a:ext cx="5566500" cy="30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6000" u="none" cap="none" strike="noStrike">
                <a:solidFill>
                  <a:srgbClr val="000000"/>
                </a:solidFill>
                <a:latin typeface="Calibri"/>
                <a:ea typeface="Calibri"/>
                <a:cs typeface="Calibri"/>
                <a:sym typeface="Calibri"/>
              </a:rPr>
              <a:t>What would you do if you had a data breach?</a:t>
            </a:r>
            <a:endParaRPr b="0" i="0" sz="60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t/>
            </a:r>
            <a:endParaRPr b="0" i="0" sz="3000" u="none" cap="none" strike="noStrik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8" name="Shape 258"/>
        <p:cNvGrpSpPr/>
        <p:nvPr/>
      </p:nvGrpSpPr>
      <p:grpSpPr>
        <a:xfrm>
          <a:off x="0" y="0"/>
          <a:ext cx="0" cy="0"/>
          <a:chOff x="0" y="0"/>
          <a:chExt cx="0" cy="0"/>
        </a:xfrm>
      </p:grpSpPr>
      <p:sp>
        <p:nvSpPr>
          <p:cNvPr id="259" name="Shape 259"/>
          <p:cNvSpPr txBox="1"/>
          <p:nvPr/>
        </p:nvSpPr>
        <p:spPr>
          <a:xfrm>
            <a:off x="344321" y="428914"/>
            <a:ext cx="77052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1000"/>
              <a:buFont typeface="Arial"/>
              <a:buNone/>
            </a:pPr>
            <a:r>
              <a:rPr b="1" i="0" lang="en-US" sz="4000" u="none" cap="none" strike="noStrike">
                <a:solidFill>
                  <a:srgbClr val="000000"/>
                </a:solidFill>
                <a:latin typeface="Calibri"/>
                <a:ea typeface="Calibri"/>
                <a:cs typeface="Calibri"/>
                <a:sym typeface="Calibri"/>
              </a:rPr>
              <a:t>Protecting personal data</a:t>
            </a:r>
            <a:endParaRPr b="0" i="0" sz="1400" u="none" cap="none" strike="noStrike">
              <a:solidFill>
                <a:srgbClr val="000000"/>
              </a:solidFill>
              <a:latin typeface="Arial"/>
              <a:ea typeface="Arial"/>
              <a:cs typeface="Arial"/>
              <a:sym typeface="Arial"/>
            </a:endParaRPr>
          </a:p>
        </p:txBody>
      </p:sp>
      <p:pic>
        <p:nvPicPr>
          <p:cNvPr id="260" name="Shape 260"/>
          <p:cNvPicPr preferRelativeResize="0"/>
          <p:nvPr/>
        </p:nvPicPr>
        <p:blipFill rotWithShape="1">
          <a:blip r:embed="rId3">
            <a:alphaModFix/>
          </a:blip>
          <a:srcRect b="0" l="0" r="0" t="0"/>
          <a:stretch/>
        </p:blipFill>
        <p:spPr>
          <a:xfrm>
            <a:off x="344321" y="1454308"/>
            <a:ext cx="2551504" cy="1839985"/>
          </a:xfrm>
          <a:prstGeom prst="rect">
            <a:avLst/>
          </a:prstGeom>
          <a:noFill/>
          <a:ln>
            <a:noFill/>
          </a:ln>
        </p:spPr>
      </p:pic>
      <p:sp>
        <p:nvSpPr>
          <p:cNvPr id="261" name="Shape 261"/>
          <p:cNvSpPr/>
          <p:nvPr/>
        </p:nvSpPr>
        <p:spPr>
          <a:xfrm>
            <a:off x="2549225" y="1603876"/>
            <a:ext cx="5566500" cy="30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4800" u="none" cap="none" strike="noStrike">
                <a:solidFill>
                  <a:srgbClr val="000000"/>
                </a:solidFill>
                <a:latin typeface="Calibri"/>
                <a:ea typeface="Calibri"/>
                <a:cs typeface="Calibri"/>
                <a:sym typeface="Calibri"/>
              </a:rPr>
              <a:t>What should be be looking out for?</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rPr b="0" i="0" lang="en-US" sz="3000" u="none" cap="none" strike="noStrike">
                <a:solidFill>
                  <a:srgbClr val="000000"/>
                </a:solidFill>
                <a:latin typeface="Calibri"/>
                <a:ea typeface="Calibri"/>
                <a:cs typeface="Calibri"/>
                <a:sym typeface="Calibri"/>
              </a:rPr>
              <a:t>(Data Protection by Design)</a:t>
            </a:r>
            <a:endParaRPr b="0" i="0" sz="3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1800"/>
              <a:buFont typeface="Arial"/>
              <a:buNone/>
            </a:pPr>
            <a:r>
              <a:t/>
            </a:r>
            <a:endParaRPr b="0" i="0" sz="30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5" name="Shape 265"/>
        <p:cNvGrpSpPr/>
        <p:nvPr/>
      </p:nvGrpSpPr>
      <p:grpSpPr>
        <a:xfrm>
          <a:off x="0" y="0"/>
          <a:ext cx="0" cy="0"/>
          <a:chOff x="0" y="0"/>
          <a:chExt cx="0" cy="0"/>
        </a:xfrm>
      </p:grpSpPr>
      <p:pic>
        <p:nvPicPr>
          <p:cNvPr id="266" name="Shape 266"/>
          <p:cNvPicPr preferRelativeResize="0"/>
          <p:nvPr/>
        </p:nvPicPr>
        <p:blipFill rotWithShape="1">
          <a:blip r:embed="rId3">
            <a:alphaModFix/>
          </a:blip>
          <a:srcRect b="0" l="0" r="0" t="0"/>
          <a:stretch/>
        </p:blipFill>
        <p:spPr>
          <a:xfrm>
            <a:off x="0" y="0"/>
            <a:ext cx="9186041" cy="5143500"/>
          </a:xfrm>
          <a:prstGeom prst="rect">
            <a:avLst/>
          </a:prstGeom>
          <a:noFill/>
          <a:ln>
            <a:noFill/>
          </a:ln>
        </p:spPr>
      </p:pic>
      <p:sp>
        <p:nvSpPr>
          <p:cNvPr id="267" name="Shape 267"/>
          <p:cNvSpPr/>
          <p:nvPr/>
        </p:nvSpPr>
        <p:spPr>
          <a:xfrm>
            <a:off x="5875283" y="94593"/>
            <a:ext cx="3205655" cy="2338552"/>
          </a:xfrm>
          <a:prstGeom prst="wedgeEllipseCallout">
            <a:avLst>
              <a:gd fmla="val -36407" name="adj1"/>
              <a:gd fmla="val 67669"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800" u="none" cap="none" strike="noStrike">
                <a:solidFill>
                  <a:srgbClr val="92D050"/>
                </a:solidFill>
                <a:latin typeface="Schoolbell"/>
                <a:ea typeface="Schoolbell"/>
                <a:cs typeface="Schoolbell"/>
                <a:sym typeface="Schoolbell"/>
              </a:rPr>
              <a:t>Sit down, I’ll do the washing up</a:t>
            </a:r>
            <a:endParaRPr/>
          </a:p>
        </p:txBody>
      </p:sp>
      <p:sp>
        <p:nvSpPr>
          <p:cNvPr id="268" name="Shape 268"/>
          <p:cNvSpPr/>
          <p:nvPr/>
        </p:nvSpPr>
        <p:spPr>
          <a:xfrm>
            <a:off x="588579" y="289035"/>
            <a:ext cx="3205655" cy="2338552"/>
          </a:xfrm>
          <a:prstGeom prst="wedgeEllipseCallout">
            <a:avLst>
              <a:gd fmla="val 31626" name="adj1"/>
              <a:gd fmla="val 63174" name="adj2"/>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2800" u="none" cap="none" strike="noStrike">
                <a:solidFill>
                  <a:srgbClr val="92D050"/>
                </a:solidFill>
                <a:latin typeface="Schoolbell"/>
                <a:ea typeface="Schoolbell"/>
                <a:cs typeface="Schoolbell"/>
                <a:sym typeface="Schoolbell"/>
              </a:rPr>
              <a:t>Let me give you a lift to work in the morning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3" name="Shape 273"/>
        <p:cNvGrpSpPr/>
        <p:nvPr/>
      </p:nvGrpSpPr>
      <p:grpSpPr>
        <a:xfrm>
          <a:off x="0" y="0"/>
          <a:ext cx="0" cy="0"/>
          <a:chOff x="0" y="0"/>
          <a:chExt cx="0" cy="0"/>
        </a:xfrm>
      </p:grpSpPr>
      <p:sp>
        <p:nvSpPr>
          <p:cNvPr id="274" name="Shape 274"/>
          <p:cNvSpPr txBox="1"/>
          <p:nvPr/>
        </p:nvSpPr>
        <p:spPr>
          <a:xfrm>
            <a:off x="344321" y="428914"/>
            <a:ext cx="77052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1000"/>
              <a:buFont typeface="Arial"/>
              <a:buNone/>
            </a:pPr>
            <a:r>
              <a:rPr b="1" i="0" lang="en-US" sz="4000" u="none" cap="none" strike="noStrike">
                <a:solidFill>
                  <a:srgbClr val="000000"/>
                </a:solidFill>
                <a:latin typeface="Calibri"/>
                <a:ea typeface="Calibri"/>
                <a:cs typeface="Calibri"/>
                <a:sym typeface="Calibri"/>
              </a:rPr>
              <a:t>What the ICO looks for</a:t>
            </a:r>
            <a:endParaRPr b="0" i="0" sz="1400" u="none" cap="none" strike="noStrike">
              <a:solidFill>
                <a:srgbClr val="000000"/>
              </a:solidFill>
              <a:latin typeface="Arial"/>
              <a:ea typeface="Arial"/>
              <a:cs typeface="Arial"/>
              <a:sym typeface="Arial"/>
            </a:endParaRPr>
          </a:p>
        </p:txBody>
      </p:sp>
      <p:sp>
        <p:nvSpPr>
          <p:cNvPr id="275" name="Shape 275"/>
          <p:cNvSpPr/>
          <p:nvPr/>
        </p:nvSpPr>
        <p:spPr>
          <a:xfrm>
            <a:off x="2549225" y="1603876"/>
            <a:ext cx="5566500" cy="30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3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1800"/>
              <a:buFont typeface="Arial"/>
              <a:buNone/>
            </a:pPr>
            <a:r>
              <a:t/>
            </a:r>
            <a:endParaRPr b="0" i="0" sz="3000" u="none" cap="none" strike="noStrike">
              <a:solidFill>
                <a:srgbClr val="000000"/>
              </a:solidFill>
              <a:latin typeface="Calibri"/>
              <a:ea typeface="Calibri"/>
              <a:cs typeface="Calibri"/>
              <a:sym typeface="Calibri"/>
            </a:endParaRPr>
          </a:p>
        </p:txBody>
      </p:sp>
      <p:sp>
        <p:nvSpPr>
          <p:cNvPr id="276" name="Shape 276"/>
          <p:cNvSpPr txBox="1"/>
          <p:nvPr/>
        </p:nvSpPr>
        <p:spPr>
          <a:xfrm>
            <a:off x="554400" y="1278550"/>
            <a:ext cx="7561200" cy="343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Things done well:</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Data protection policies</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Physical security measures</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Shredding</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Consent for photographs</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CCTV</a:t>
            </a:r>
            <a:endParaRPr b="0" i="0" sz="3000" u="none" cap="none" strike="noStrike">
              <a:solidFill>
                <a:srgbClr val="000000"/>
              </a:solidFill>
              <a:latin typeface="Arial"/>
              <a:ea typeface="Arial"/>
              <a:cs typeface="Arial"/>
              <a:sym typeface="Arial"/>
            </a:endParaRPr>
          </a:p>
          <a:p>
            <a:pPr indent="-419100" lvl="0" marL="457200" marR="0" rtl="0" algn="l">
              <a:lnSpc>
                <a:spcPct val="100000"/>
              </a:lnSpc>
              <a:spcBef>
                <a:spcPts val="0"/>
              </a:spcBef>
              <a:spcAft>
                <a:spcPts val="0"/>
              </a:spcAft>
              <a:buClr>
                <a:srgbClr val="000000"/>
              </a:buClr>
              <a:buSzPts val="3000"/>
              <a:buFont typeface="Arial"/>
              <a:buChar char="●"/>
            </a:pPr>
            <a:r>
              <a:rPr b="0" i="0" lang="en-US" sz="3000" u="none" cap="none" strike="noStrike">
                <a:solidFill>
                  <a:srgbClr val="000000"/>
                </a:solidFill>
                <a:latin typeface="Arial"/>
                <a:ea typeface="Arial"/>
                <a:cs typeface="Arial"/>
                <a:sym typeface="Arial"/>
              </a:rPr>
              <a:t>Notice of fair processing</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1" name="Shape 281"/>
        <p:cNvGrpSpPr/>
        <p:nvPr/>
      </p:nvGrpSpPr>
      <p:grpSpPr>
        <a:xfrm>
          <a:off x="0" y="0"/>
          <a:ext cx="0" cy="0"/>
          <a:chOff x="0" y="0"/>
          <a:chExt cx="0" cy="0"/>
        </a:xfrm>
      </p:grpSpPr>
      <p:sp>
        <p:nvSpPr>
          <p:cNvPr id="282" name="Shape 282"/>
          <p:cNvSpPr txBox="1"/>
          <p:nvPr/>
        </p:nvSpPr>
        <p:spPr>
          <a:xfrm>
            <a:off x="344321" y="428914"/>
            <a:ext cx="77052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1000"/>
              <a:buFont typeface="Arial"/>
              <a:buNone/>
            </a:pPr>
            <a:r>
              <a:rPr b="1" i="0" lang="en-US" sz="4000" u="none" cap="none" strike="noStrike">
                <a:solidFill>
                  <a:srgbClr val="000000"/>
                </a:solidFill>
                <a:latin typeface="Calibri"/>
                <a:ea typeface="Calibri"/>
                <a:cs typeface="Calibri"/>
                <a:sym typeface="Calibri"/>
              </a:rPr>
              <a:t>What the ICO looks for</a:t>
            </a:r>
            <a:endParaRPr b="0" i="0" sz="1400" u="none" cap="none" strike="noStrike">
              <a:solidFill>
                <a:srgbClr val="000000"/>
              </a:solidFill>
              <a:latin typeface="Arial"/>
              <a:ea typeface="Arial"/>
              <a:cs typeface="Arial"/>
              <a:sym typeface="Arial"/>
            </a:endParaRPr>
          </a:p>
        </p:txBody>
      </p:sp>
      <p:sp>
        <p:nvSpPr>
          <p:cNvPr id="283" name="Shape 283"/>
          <p:cNvSpPr/>
          <p:nvPr/>
        </p:nvSpPr>
        <p:spPr>
          <a:xfrm>
            <a:off x="2549225" y="1603876"/>
            <a:ext cx="5566500" cy="30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3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1800"/>
              <a:buFont typeface="Arial"/>
              <a:buNone/>
            </a:pPr>
            <a:r>
              <a:t/>
            </a:r>
            <a:endParaRPr b="0" i="0" sz="3000" u="none" cap="none" strike="noStrike">
              <a:solidFill>
                <a:srgbClr val="000000"/>
              </a:solidFill>
              <a:latin typeface="Calibri"/>
              <a:ea typeface="Calibri"/>
              <a:cs typeface="Calibri"/>
              <a:sym typeface="Calibri"/>
            </a:endParaRPr>
          </a:p>
        </p:txBody>
      </p:sp>
      <p:sp>
        <p:nvSpPr>
          <p:cNvPr id="284" name="Shape 284"/>
          <p:cNvSpPr txBox="1"/>
          <p:nvPr/>
        </p:nvSpPr>
        <p:spPr>
          <a:xfrm>
            <a:off x="554400" y="1494150"/>
            <a:ext cx="7561200" cy="335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Things that could be done better</a:t>
            </a:r>
            <a:endParaRPr b="0" i="0" sz="30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Data protection training</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Processes for reporting and investigating incidents</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Process for dealing with subject access requests</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Policies for sharing data with third-parties</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Data retention schedules</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USB sticks / laptops / device encryption</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Email - content and cc’ing too many people</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9" name="Shape 289"/>
        <p:cNvGrpSpPr/>
        <p:nvPr/>
      </p:nvGrpSpPr>
      <p:grpSpPr>
        <a:xfrm>
          <a:off x="0" y="0"/>
          <a:ext cx="0" cy="0"/>
          <a:chOff x="0" y="0"/>
          <a:chExt cx="0" cy="0"/>
        </a:xfrm>
      </p:grpSpPr>
      <p:sp>
        <p:nvSpPr>
          <p:cNvPr id="290" name="Shape 290"/>
          <p:cNvSpPr txBox="1"/>
          <p:nvPr/>
        </p:nvSpPr>
        <p:spPr>
          <a:xfrm>
            <a:off x="344321" y="428914"/>
            <a:ext cx="7705200" cy="70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A5A5A5"/>
              </a:buClr>
              <a:buSzPts val="1000"/>
              <a:buFont typeface="Arial"/>
              <a:buNone/>
            </a:pPr>
            <a:r>
              <a:rPr b="1" i="0" lang="en-US" sz="4000" u="none" cap="none" strike="noStrike">
                <a:solidFill>
                  <a:srgbClr val="000000"/>
                </a:solidFill>
                <a:latin typeface="Calibri"/>
                <a:ea typeface="Calibri"/>
                <a:cs typeface="Calibri"/>
                <a:sym typeface="Calibri"/>
              </a:rPr>
              <a:t>What the ICO looks for</a:t>
            </a:r>
            <a:endParaRPr b="0" i="0" sz="1400" u="none" cap="none" strike="noStrike">
              <a:solidFill>
                <a:srgbClr val="000000"/>
              </a:solidFill>
              <a:latin typeface="Arial"/>
              <a:ea typeface="Arial"/>
              <a:cs typeface="Arial"/>
              <a:sym typeface="Arial"/>
            </a:endParaRPr>
          </a:p>
        </p:txBody>
      </p:sp>
      <p:sp>
        <p:nvSpPr>
          <p:cNvPr id="291" name="Shape 291"/>
          <p:cNvSpPr/>
          <p:nvPr/>
        </p:nvSpPr>
        <p:spPr>
          <a:xfrm>
            <a:off x="2549225" y="1603876"/>
            <a:ext cx="5566500" cy="303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4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Calibri"/>
              <a:buNone/>
            </a:pPr>
            <a:r>
              <a:t/>
            </a:r>
            <a:endParaRPr b="0" i="0" sz="3000" u="none" cap="none" strike="noStrike">
              <a:solidFill>
                <a:srgbClr val="000000"/>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1800"/>
              <a:buFont typeface="Arial"/>
              <a:buNone/>
            </a:pPr>
            <a:r>
              <a:t/>
            </a:r>
            <a:endParaRPr b="0" i="0" sz="3000" u="none" cap="none" strike="noStrike">
              <a:solidFill>
                <a:srgbClr val="000000"/>
              </a:solidFill>
              <a:latin typeface="Calibri"/>
              <a:ea typeface="Calibri"/>
              <a:cs typeface="Calibri"/>
              <a:sym typeface="Calibri"/>
            </a:endParaRPr>
          </a:p>
        </p:txBody>
      </p:sp>
      <p:sp>
        <p:nvSpPr>
          <p:cNvPr id="292" name="Shape 292"/>
          <p:cNvSpPr txBox="1"/>
          <p:nvPr/>
        </p:nvSpPr>
        <p:spPr>
          <a:xfrm>
            <a:off x="554400" y="1355550"/>
            <a:ext cx="8331300" cy="283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Things that could be done better</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Not enough use of encrypted email where appropriate</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Weak passwords / </a:t>
            </a:r>
            <a:r>
              <a:rPr b="0" i="0" lang="en-US" sz="2400" u="sng" cap="none" strike="noStrike">
                <a:solidFill>
                  <a:schemeClr val="hlink"/>
                </a:solidFill>
                <a:latin typeface="Arial"/>
                <a:ea typeface="Arial"/>
                <a:cs typeface="Arial"/>
                <a:sym typeface="Arial"/>
                <a:hlinkClick r:id="rId3"/>
              </a:rPr>
              <a:t>not changed regularly</a:t>
            </a:r>
            <a:endParaRPr b="0" i="0" sz="2400" u="none" cap="none" strike="noStrike">
              <a:solidFill>
                <a:srgbClr val="FF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Antivirus / firewalls / malware</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Secure printing</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Secure disposal </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Offsite data &amp; bring-your-own device</a:t>
            </a:r>
            <a:endParaRPr b="0" i="0" sz="2400" u="none" cap="none" strike="noStrike">
              <a:solidFill>
                <a:srgbClr val="000000"/>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Arial"/>
                <a:ea typeface="Arial"/>
                <a:cs typeface="Arial"/>
                <a:sym typeface="Arial"/>
              </a:rPr>
              <a:t>Secure paper storage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6" name="Shape 296"/>
        <p:cNvGrpSpPr/>
        <p:nvPr/>
      </p:nvGrpSpPr>
      <p:grpSpPr>
        <a:xfrm>
          <a:off x="0" y="0"/>
          <a:ext cx="0" cy="0"/>
          <a:chOff x="0" y="0"/>
          <a:chExt cx="0" cy="0"/>
        </a:xfrm>
      </p:grpSpPr>
      <p:pic>
        <p:nvPicPr>
          <p:cNvPr descr="A view of a mountain&#10;&#10;Description generated with very high confidence" id="297" name="Shape 297"/>
          <p:cNvPicPr preferRelativeResize="0"/>
          <p:nvPr/>
        </p:nvPicPr>
        <p:blipFill rotWithShape="1">
          <a:blip r:embed="rId3">
            <a:alphaModFix/>
          </a:blip>
          <a:srcRect b="0" l="0" r="0" t="0"/>
          <a:stretch/>
        </p:blipFill>
        <p:spPr>
          <a:xfrm>
            <a:off x="0" y="11430"/>
            <a:ext cx="9144000" cy="512064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1" name="Shape 301"/>
        <p:cNvGrpSpPr/>
        <p:nvPr/>
      </p:nvGrpSpPr>
      <p:grpSpPr>
        <a:xfrm>
          <a:off x="0" y="0"/>
          <a:ext cx="0" cy="0"/>
          <a:chOff x="0" y="0"/>
          <a:chExt cx="0" cy="0"/>
        </a:xfrm>
      </p:grpSpPr>
      <p:pic>
        <p:nvPicPr>
          <p:cNvPr descr="A picture containing rain, nature&#10;&#10;Description generated with very high confidence" id="302" name="Shape 30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7" name="Shape 307"/>
        <p:cNvGrpSpPr/>
        <p:nvPr/>
      </p:nvGrpSpPr>
      <p:grpSpPr>
        <a:xfrm>
          <a:off x="0" y="0"/>
          <a:ext cx="0" cy="0"/>
          <a:chOff x="0" y="0"/>
          <a:chExt cx="0" cy="0"/>
        </a:xfrm>
      </p:grpSpPr>
      <p:pic>
        <p:nvPicPr>
          <p:cNvPr id="308" name="Shape 308"/>
          <p:cNvPicPr preferRelativeResize="0"/>
          <p:nvPr/>
        </p:nvPicPr>
        <p:blipFill>
          <a:blip r:embed="rId3">
            <a:alphaModFix/>
          </a:blip>
          <a:stretch>
            <a:fillRect/>
          </a:stretch>
        </p:blipFill>
        <p:spPr>
          <a:xfrm>
            <a:off x="0" y="0"/>
            <a:ext cx="9143998" cy="51435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2" name="Shape 312"/>
        <p:cNvGrpSpPr/>
        <p:nvPr/>
      </p:nvGrpSpPr>
      <p:grpSpPr>
        <a:xfrm>
          <a:off x="0" y="0"/>
          <a:ext cx="0" cy="0"/>
          <a:chOff x="0" y="0"/>
          <a:chExt cx="0" cy="0"/>
        </a:xfrm>
      </p:grpSpPr>
      <p:pic>
        <p:nvPicPr>
          <p:cNvPr id="313" name="Shape 313"/>
          <p:cNvPicPr preferRelativeResize="0"/>
          <p:nvPr/>
        </p:nvPicPr>
        <p:blipFill rotWithShape="1">
          <a:blip r:embed="rId3">
            <a:alphaModFix/>
          </a:blip>
          <a:srcRect b="0" l="0" r="0" t="0"/>
          <a:stretch/>
        </p:blipFill>
        <p:spPr>
          <a:xfrm rot="1720739">
            <a:off x="4817626" y="754695"/>
            <a:ext cx="3985045" cy="4236405"/>
          </a:xfrm>
          <a:prstGeom prst="rect">
            <a:avLst/>
          </a:prstGeom>
          <a:noFill/>
          <a:ln>
            <a:noFill/>
          </a:ln>
        </p:spPr>
      </p:pic>
      <p:sp>
        <p:nvSpPr>
          <p:cNvPr id="314" name="Shape 314"/>
          <p:cNvSpPr txBox="1"/>
          <p:nvPr/>
        </p:nvSpPr>
        <p:spPr>
          <a:xfrm>
            <a:off x="1004575" y="4212709"/>
            <a:ext cx="5528400" cy="500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500"/>
              <a:buFont typeface="Arial"/>
              <a:buNone/>
            </a:pPr>
            <a:r>
              <a:t/>
            </a:r>
            <a:endParaRPr b="0" i="0" sz="2000" u="none" cap="none" strike="noStrike">
              <a:solidFill>
                <a:schemeClr val="accent1"/>
              </a:solidFill>
              <a:latin typeface="Arial"/>
              <a:ea typeface="Arial"/>
              <a:cs typeface="Arial"/>
              <a:sym typeface="Arial"/>
            </a:endParaRPr>
          </a:p>
        </p:txBody>
      </p:sp>
      <p:sp>
        <p:nvSpPr>
          <p:cNvPr id="315" name="Shape 315"/>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Questions?</a:t>
            </a:r>
            <a:endParaRPr b="1" i="0" sz="4400" u="none" cap="none" strike="noStrike">
              <a:solidFill>
                <a:schemeClr val="dk1"/>
              </a:solidFill>
              <a:latin typeface="Calibri"/>
              <a:ea typeface="Calibri"/>
              <a:cs typeface="Calibri"/>
              <a:sym typeface="Calibri"/>
            </a:endParaRPr>
          </a:p>
        </p:txBody>
      </p:sp>
      <p:sp>
        <p:nvSpPr>
          <p:cNvPr id="316" name="Shape 316"/>
          <p:cNvSpPr txBox="1"/>
          <p:nvPr>
            <p:ph idx="1" type="body"/>
          </p:nvPr>
        </p:nvSpPr>
        <p:spPr>
          <a:xfrm>
            <a:off x="628650" y="1342512"/>
            <a:ext cx="6863531" cy="32623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800" u="sng" cap="none" strike="noStrike">
                <a:solidFill>
                  <a:schemeClr val="hlink"/>
                </a:solidFill>
                <a:latin typeface="Calibri"/>
                <a:ea typeface="Calibri"/>
                <a:cs typeface="Calibri"/>
                <a:sym typeface="Calibri"/>
                <a:hlinkClick r:id="rId4"/>
              </a:rPr>
              <a:t>info@dataprotection.education</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Tel: 0800 0862018</a:t>
            </a:r>
            <a:endParaRPr b="0" i="0" sz="2800" u="none" cap="none" strike="noStrik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