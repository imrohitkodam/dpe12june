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 autoCompressPictures="0">
  <p:sldMasterIdLst>
    <p:sldMasterId id="2147483661" r:id="rId1"/>
  </p:sldMasterIdLst>
  <p:notesMasterIdLst>
    <p:notesMasterId r:id="rId17"/>
  </p:notesMasterIdLst>
  <p:sldIdLst>
    <p:sldId id="298" r:id="rId2"/>
    <p:sldId id="316" r:id="rId3"/>
    <p:sldId id="318" r:id="rId4"/>
    <p:sldId id="324" r:id="rId5"/>
    <p:sldId id="325" r:id="rId6"/>
    <p:sldId id="321" r:id="rId7"/>
    <p:sldId id="317" r:id="rId8"/>
    <p:sldId id="322" r:id="rId9"/>
    <p:sldId id="326" r:id="rId10"/>
    <p:sldId id="327" r:id="rId11"/>
    <p:sldId id="310" r:id="rId12"/>
    <p:sldId id="319" r:id="rId13"/>
    <p:sldId id="328" r:id="rId14"/>
    <p:sldId id="294" r:id="rId15"/>
    <p:sldId id="306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8220"/>
    <a:srgbClr val="FFFFFF"/>
    <a:srgbClr val="0192BB"/>
    <a:srgbClr val="00B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2FB761-7562-4B85-8A6F-DFEB66F94112}">
  <a:tblStyle styleId="{E32FB761-7562-4B85-8A6F-DFEB66F941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EBF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8EBF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6" autoAdjust="0"/>
    <p:restoredTop sz="84912" autoAdjust="0"/>
  </p:normalViewPr>
  <p:slideViewPr>
    <p:cSldViewPr snapToGrid="0">
      <p:cViewPr varScale="1">
        <p:scale>
          <a:sx n="97" d="100"/>
          <a:sy n="97" d="100"/>
        </p:scale>
        <p:origin x="93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Title slide = Take 5 minutes to deliver this reinforcement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5305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GB" dirty="0"/>
              <a:t>Facilitator Notes: Acknowledge that password policies can make users despair. “So why do we need them and what does the latest guidance say?”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2035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But… however frustrating, passwords are still an important security feature. Remember, it is a criminal act for ANY UNAUTHORISED person to access data they are not suppose to.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8105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Password breaches over many years are collected and shared by criminals on the Dark Web… open for anyone to access and exploit.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5324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Unfortunately, years of advice on choosing strong passwords is still being ignored. The top password is, depressingly, still 123456, followed by 123456789, qwerty, password and 111111.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1686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Some of the ways passwords are leaked/cracked and can get an organisation/school into trouble include:</a:t>
            </a:r>
          </a:p>
          <a:p>
            <a:pPr marL="152400" indent="0">
              <a:buNone/>
            </a:pPr>
            <a:endParaRPr lang="en-GB" dirty="0"/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GB" dirty="0"/>
              <a:t>MOUSE CLICKS 1-3:</a:t>
            </a:r>
          </a:p>
          <a:p>
            <a:pPr marL="152400" indent="0">
              <a:buNone/>
            </a:pPr>
            <a:r>
              <a:rPr lang="en-GB" dirty="0"/>
              <a:t>The main ones shown on the slide:</a:t>
            </a:r>
          </a:p>
          <a:p>
            <a:pPr marL="457200" indent="-304800"/>
            <a:r>
              <a:rPr lang="en-GB" dirty="0"/>
              <a:t>People finding passwords which have been stored insecurely, such as handwritten on paper and hidden close to a device;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tabLst/>
              <a:defRPr/>
            </a:pPr>
            <a:r>
              <a:rPr lang="en-GB" dirty="0"/>
              <a:t>Password guessing, perhaps using personal information ‘cribs’ such as name, date of birth, or pet names - (the picture shown is from ITV 2018 series Delicious when Sam’s son Michael gives Gina (Dawn French) his mother’s password. Leo is Sam’s dead husband’s name;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tabLst/>
              <a:defRPr/>
            </a:pPr>
            <a:r>
              <a:rPr lang="en-GB" dirty="0"/>
              <a:t>Password cracking software (widely available) also know as brute-force attacks: the automated guessing of large numbers of passwords until the correct one is found.</a:t>
            </a: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endParaRPr lang="en-GB" dirty="0"/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GB" dirty="0"/>
              <a:t>Others include:</a:t>
            </a:r>
          </a:p>
          <a:p>
            <a:r>
              <a:rPr lang="en-GB" dirty="0"/>
              <a:t>Social engineering e.g. phishing, coercion;</a:t>
            </a:r>
          </a:p>
          <a:p>
            <a:r>
              <a:rPr lang="en-GB" dirty="0"/>
              <a:t>Intercepting a password as it is transmitted over a network;</a:t>
            </a:r>
          </a:p>
          <a:p>
            <a:r>
              <a:rPr lang="en-GB" dirty="0"/>
              <a:t>‘Shoulder surfing’, observing someone typing in their password at their desk;</a:t>
            </a:r>
          </a:p>
          <a:p>
            <a:r>
              <a:rPr lang="en-GB" dirty="0"/>
              <a:t>Installing a keylogger to intercept passwords when they are entered into a device;</a:t>
            </a:r>
          </a:p>
          <a:p>
            <a:r>
              <a:rPr lang="en-GB" dirty="0"/>
              <a:t>Searching an enterprise’s IT infrastructure for electronically stored password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9177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GB" dirty="0"/>
              <a:t>But, the most common leaks can be down to us…</a:t>
            </a:r>
          </a:p>
          <a:p>
            <a:pPr marL="152400" indent="0">
              <a:buNone/>
            </a:pPr>
            <a:endParaRPr lang="en-GB" dirty="0"/>
          </a:p>
          <a:p>
            <a:r>
              <a:rPr lang="en-GB" dirty="0"/>
              <a:t>Stand up if you’ve ever shared a password with a co-worker.</a:t>
            </a:r>
          </a:p>
          <a:p>
            <a:r>
              <a:rPr lang="en-GB" dirty="0"/>
              <a:t>Stand up if you’ve ever shared a password with your partner.</a:t>
            </a:r>
          </a:p>
          <a:p>
            <a:r>
              <a:rPr lang="en-GB" dirty="0"/>
              <a:t>Stand up if you use the same password for more than one account…</a:t>
            </a:r>
          </a:p>
          <a:p>
            <a:pPr marL="152400" indent="0">
              <a:buNone/>
            </a:pPr>
            <a:r>
              <a:rPr lang="en-GB" dirty="0"/>
              <a:t>You’re not alone… See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6169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According to a 2016 survey of over 1000 US consumers by LastPass (the provider of a popular password management services);</a:t>
            </a:r>
          </a:p>
          <a:p>
            <a:r>
              <a:rPr lang="en-GB" dirty="0"/>
              <a:t>https://blog.lastpass.com/2016/02/infographic-keep-your-friends-close-your-passwords-closer-2.html.</a:t>
            </a:r>
          </a:p>
          <a:p>
            <a:pPr marL="15240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7565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Times are reducing all the time – and common phrases, bible passages or song/film quotes… well hackers know these too, so they will be easy for them to spot/decode.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0282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longer the password, as long as it is random, the harder and longer it is for computer programmes to ‘crack’,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9612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Tips for teachers – use this exercise with your students.</a:t>
            </a:r>
          </a:p>
          <a:p>
            <a:pPr marL="15240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5312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939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0501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Shape 4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Shape 4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4548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3D76C4A-FCD7-48C5-8896-597F39B0B9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5111A16-1D37-4843-BC88-8A42D4ADD9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376"/>
            <a:ext cx="9143999" cy="5143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0DD1E6-A4E9-43EF-8591-F1AEA7724B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84217" y="3854654"/>
            <a:ext cx="2762507" cy="11657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1021EF-C11C-403E-9AEE-7FC4CC6524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254" y="448653"/>
            <a:ext cx="5307779" cy="6039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A66C10-DC54-4291-8C36-D049FBECB4F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426" y="51756"/>
            <a:ext cx="3521412" cy="426894"/>
          </a:xfrm>
          <a:prstGeom prst="rect">
            <a:avLst/>
          </a:prstGeom>
        </p:spPr>
      </p:pic>
      <p:sp>
        <p:nvSpPr>
          <p:cNvPr id="22" name="Shape 17">
            <a:extLst>
              <a:ext uri="{FF2B5EF4-FFF2-40B4-BE49-F238E27FC236}">
                <a16:creationId xmlns:a16="http://schemas.microsoft.com/office/drawing/2014/main" id="{CE5E8ECB-A843-42FA-BBB9-88A9D24A0E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223" y="444711"/>
            <a:ext cx="5194478" cy="67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462168C6-D0A1-432A-9C9F-5287E0423881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0" y="-70896"/>
            <a:ext cx="2866034" cy="48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None/>
              <a:defRPr sz="2000" b="1" i="0" u="none" strike="noStrike" cap="none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3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A0DD1E6-A4E9-43EF-8591-F1AEA7724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0621" y="229938"/>
            <a:ext cx="2118579" cy="8940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1021EF-C11C-403E-9AEE-7FC4CC6524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730" y="419523"/>
            <a:ext cx="4403388" cy="4896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A66C10-DC54-4291-8C36-D049FBECB4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425" y="51755"/>
            <a:ext cx="4876801" cy="629179"/>
          </a:xfrm>
          <a:prstGeom prst="rect">
            <a:avLst/>
          </a:prstGeom>
        </p:spPr>
      </p:pic>
      <p:sp>
        <p:nvSpPr>
          <p:cNvPr id="22" name="Shape 17">
            <a:extLst>
              <a:ext uri="{FF2B5EF4-FFF2-40B4-BE49-F238E27FC236}">
                <a16:creationId xmlns:a16="http://schemas.microsoft.com/office/drawing/2014/main" id="{CE5E8ECB-A843-42FA-BBB9-88A9D24A0E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198" y="1008915"/>
            <a:ext cx="3563288" cy="3258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462168C6-D0A1-432A-9C9F-5287E0423881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1" y="39468"/>
            <a:ext cx="2866034" cy="48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115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TWO_OBJECT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69245" y="151673"/>
            <a:ext cx="7886700" cy="731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rgbClr val="0192BB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69245" y="1194297"/>
            <a:ext cx="386715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9943ED1E-42F9-4F77-9D08-872C6AF5CB9C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388795" y="1208923"/>
            <a:ext cx="386715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C73991-F280-47D5-A2CC-27EF0C1C1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62517" y="188777"/>
            <a:ext cx="669036" cy="6447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1_Two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69245" y="151673"/>
            <a:ext cx="7886700" cy="731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rgbClr val="0192BB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C73991-F280-47D5-A2CC-27EF0C1C1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62517" y="188777"/>
            <a:ext cx="669036" cy="644795"/>
          </a:xfrm>
          <a:prstGeom prst="rect">
            <a:avLst/>
          </a:prstGeom>
        </p:spPr>
      </p:pic>
      <p:sp>
        <p:nvSpPr>
          <p:cNvPr id="7" name="Shape 18">
            <a:extLst>
              <a:ext uri="{FF2B5EF4-FFF2-40B4-BE49-F238E27FC236}">
                <a16:creationId xmlns:a16="http://schemas.microsoft.com/office/drawing/2014/main" id="{E77D22BE-2158-42D1-B30C-41225653E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9245" y="1194297"/>
            <a:ext cx="386715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147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1_Two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69245" y="151673"/>
            <a:ext cx="7886700" cy="731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rgbClr val="0192BB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Shape 18">
            <a:extLst>
              <a:ext uri="{FF2B5EF4-FFF2-40B4-BE49-F238E27FC236}">
                <a16:creationId xmlns:a16="http://schemas.microsoft.com/office/drawing/2014/main" id="{8C4DF7C0-2CC5-4354-AA9B-37CE92C76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9245" y="1194297"/>
            <a:ext cx="386715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691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1_Two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69245" y="151673"/>
            <a:ext cx="7886700" cy="731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rgbClr val="0192BB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69245" y="1194297"/>
            <a:ext cx="386715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C73991-F280-47D5-A2CC-27EF0C1C1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62517" y="188777"/>
            <a:ext cx="669036" cy="6447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3275FB-0A68-45FD-8530-536CBEC527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07607" y="1144303"/>
            <a:ext cx="5309185" cy="381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3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1_Two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9892B-F871-4B5E-8DD9-55DBDF252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179" y="498498"/>
            <a:ext cx="5772149" cy="6039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2B86A6-893E-4A87-BA59-7B3DA1619E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8200" y="101601"/>
            <a:ext cx="3272421" cy="4268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FB0CE-3758-41DC-9845-BF082BCFB73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69335" y="226979"/>
            <a:ext cx="2193486" cy="925632"/>
          </a:xfrm>
          <a:prstGeom prst="rect">
            <a:avLst/>
          </a:prstGeom>
        </p:spPr>
      </p:pic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258997" y="494556"/>
            <a:ext cx="5648935" cy="67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4FED39FE-7697-4A1C-9C7F-EE4039A2B216}"/>
              </a:ext>
            </a:extLst>
          </p:cNvPr>
          <p:cNvSpPr txBox="1">
            <a:spLocks/>
          </p:cNvSpPr>
          <p:nvPr userDrawn="1"/>
        </p:nvSpPr>
        <p:spPr>
          <a:xfrm>
            <a:off x="181179" y="119264"/>
            <a:ext cx="3197561" cy="40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sz="20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BB4A1D27-BC4C-4114-831E-78D1D945F4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1180" y="1566760"/>
            <a:ext cx="3664491" cy="290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6C6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50A990C5-4FA0-40C9-A6AA-2ACC8F6F0765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125775" y="-7962"/>
            <a:ext cx="3116779" cy="48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4063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1_Two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69245" y="151673"/>
            <a:ext cx="7886700" cy="731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rgbClr val="0192BB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82214" y="1440729"/>
            <a:ext cx="5810302" cy="3262312"/>
          </a:xfrm>
          <a:prstGeom prst="rect">
            <a:avLst/>
          </a:prstGeom>
          <a:solidFill>
            <a:srgbClr val="F48220"/>
          </a:solidFill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C73991-F280-47D5-A2CC-27EF0C1C1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62517" y="188777"/>
            <a:ext cx="669036" cy="6447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3275FB-0A68-45FD-8530-536CBEC527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92516" y="1473152"/>
            <a:ext cx="2554226" cy="331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6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Shape 12">
            <a:extLst>
              <a:ext uri="{FF2B5EF4-FFF2-40B4-BE49-F238E27FC236}">
                <a16:creationId xmlns:a16="http://schemas.microsoft.com/office/drawing/2014/main" id="{5D22B041-6C5C-4987-9168-C47A6A53ACF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943398" y="444616"/>
            <a:ext cx="571952" cy="571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 rot="5400000">
            <a:off x="2940844" y="-942181"/>
            <a:ext cx="3262312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" name="Shape 12">
            <a:extLst>
              <a:ext uri="{FF2B5EF4-FFF2-40B4-BE49-F238E27FC236}">
                <a16:creationId xmlns:a16="http://schemas.microsoft.com/office/drawing/2014/main" id="{ECC06066-DDAF-436D-A2FC-11B5B401CCC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943398" y="444616"/>
            <a:ext cx="571952" cy="571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preserve="1" userDrawn="1">
  <p:cSld name="1_Title and Vertical 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B1155839-2F7B-4898-8DD0-EE386F42F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1180" y="1566760"/>
            <a:ext cx="3664491" cy="290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6C6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" name="Shape 38">
            <a:extLst>
              <a:ext uri="{FF2B5EF4-FFF2-40B4-BE49-F238E27FC236}">
                <a16:creationId xmlns:a16="http://schemas.microsoft.com/office/drawing/2014/main" id="{11630397-D3C4-4413-9568-FA23A6BA7B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717" y="274638"/>
            <a:ext cx="8266633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4698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 rot="5400000">
            <a:off x="5542958" y="1275354"/>
            <a:ext cx="3973107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192BB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 rot="5400000">
            <a:off x="1331119" y="-427831"/>
            <a:ext cx="4357687" cy="576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A6EE1-0180-4C62-A385-7BC58CB13D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4175" y="4370833"/>
            <a:ext cx="1848053" cy="77986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49" r:id="rId3"/>
    <p:sldLayoutId id="2147483668" r:id="rId4"/>
    <p:sldLayoutId id="2147483669" r:id="rId5"/>
    <p:sldLayoutId id="2147483664" r:id="rId6"/>
    <p:sldLayoutId id="2147483666" r:id="rId7"/>
    <p:sldLayoutId id="2147483665" r:id="rId8"/>
    <p:sldLayoutId id="2147483650" r:id="rId9"/>
    <p:sldLayoutId id="2147483652" r:id="rId10"/>
    <p:sldLayoutId id="2147483663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D69F-2209-48BB-8AE6-4CCB95C0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23" y="444711"/>
            <a:ext cx="5346646" cy="679249"/>
          </a:xfrm>
        </p:spPr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TAKE FIVE Staff Training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14F4A-42AA-4393-BF01-1AAC86ED48E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0" y="-57807"/>
            <a:ext cx="3174273" cy="482103"/>
          </a:xfrm>
        </p:spPr>
        <p:txBody>
          <a:bodyPr/>
          <a:lstStyle/>
          <a:p>
            <a:r>
              <a:rPr lang="en-GB" b="1" dirty="0"/>
              <a:t>GDPR Data Protection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8E93E7-92A0-46AF-8CB6-0A52F27A43CD}"/>
              </a:ext>
            </a:extLst>
          </p:cNvPr>
          <p:cNvSpPr txBox="1">
            <a:spLocks/>
          </p:cNvSpPr>
          <p:nvPr/>
        </p:nvSpPr>
        <p:spPr>
          <a:xfrm>
            <a:off x="2618987" y="1794529"/>
            <a:ext cx="3644770" cy="16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F48220"/>
                </a:solidFill>
              </a:rPr>
              <a:t>FOCAL POINT</a:t>
            </a:r>
          </a:p>
          <a:p>
            <a:r>
              <a:rPr lang="en-GB" sz="4400" b="1" dirty="0">
                <a:solidFill>
                  <a:srgbClr val="00B6C6"/>
                </a:solidFill>
              </a:rPr>
              <a:t>PASSWORD SECURITY</a:t>
            </a:r>
          </a:p>
        </p:txBody>
      </p:sp>
    </p:spTree>
    <p:extLst>
      <p:ext uri="{BB962C8B-B14F-4D97-AF65-F5344CB8AC3E}">
        <p14:creationId xmlns:p14="http://schemas.microsoft.com/office/powerpoint/2010/main" val="3959157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59E54D-E490-4E5D-AB86-F3D8F453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create a new password...</a:t>
            </a: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873D2AB5-38A0-48A9-80EC-C32B9E6589D8}"/>
              </a:ext>
            </a:extLst>
          </p:cNvPr>
          <p:cNvSpPr/>
          <p:nvPr/>
        </p:nvSpPr>
        <p:spPr>
          <a:xfrm>
            <a:off x="110400" y="3686345"/>
            <a:ext cx="2764476" cy="1457155"/>
          </a:xfrm>
          <a:prstGeom prst="wedgeEllipseCallout">
            <a:avLst>
              <a:gd name="adj1" fmla="val -17208"/>
              <a:gd name="adj2" fmla="val -6949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rgbClr val="F48220"/>
                </a:solidFill>
                <a:latin typeface="Kristen ITC" panose="03050502040202030202" pitchFamily="66" charset="0"/>
              </a:rPr>
              <a:t>Password strength: WEAK</a:t>
            </a:r>
          </a:p>
          <a:p>
            <a:pPr algn="ctr"/>
            <a:r>
              <a:rPr lang="en-GB" sz="1800" b="1" dirty="0">
                <a:solidFill>
                  <a:srgbClr val="F48220"/>
                </a:solidFill>
                <a:latin typeface="Kristen ITC" panose="03050502040202030202" pitchFamily="66" charset="0"/>
              </a:rPr>
              <a:t>Please try again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BF777422-C70C-4CC2-B320-16661DFC8AEA}"/>
              </a:ext>
            </a:extLst>
          </p:cNvPr>
          <p:cNvSpPr/>
          <p:nvPr/>
        </p:nvSpPr>
        <p:spPr>
          <a:xfrm>
            <a:off x="3278678" y="3749302"/>
            <a:ext cx="2764476" cy="1457155"/>
          </a:xfrm>
          <a:prstGeom prst="wedgeEllipseCallout">
            <a:avLst>
              <a:gd name="adj1" fmla="val 11089"/>
              <a:gd name="adj2" fmla="val -67989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1"/>
                </a:solidFill>
                <a:latin typeface="Kristen ITC" panose="03050502040202030202" pitchFamily="66" charset="0"/>
              </a:rPr>
              <a:t>TAP </a:t>
            </a:r>
            <a:r>
              <a:rPr lang="en-GB" sz="1800" dirty="0" err="1">
                <a:solidFill>
                  <a:schemeClr val="tx1"/>
                </a:solidFill>
                <a:latin typeface="Kristen ITC" panose="03050502040202030202" pitchFamily="66" charset="0"/>
              </a:rPr>
              <a:t>TAP</a:t>
            </a:r>
            <a:r>
              <a:rPr lang="en-GB" sz="1800" dirty="0">
                <a:solidFill>
                  <a:schemeClr val="tx1"/>
                </a:solidFill>
                <a:latin typeface="Kristen ITC" panose="03050502040202030202" pitchFamily="66" charset="0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Kristen ITC" panose="03050502040202030202" pitchFamily="66" charset="0"/>
              </a:rPr>
              <a:t>TAP</a:t>
            </a:r>
            <a:r>
              <a:rPr lang="en-GB" sz="1800" dirty="0">
                <a:solidFill>
                  <a:schemeClr val="tx1"/>
                </a:solidFill>
                <a:latin typeface="Kristen ITC" panose="03050502040202030202" pitchFamily="66" charset="0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Kristen ITC" panose="03050502040202030202" pitchFamily="66" charset="0"/>
              </a:rPr>
              <a:t>TAP</a:t>
            </a:r>
            <a:r>
              <a:rPr lang="en-GB" sz="1800" dirty="0">
                <a:solidFill>
                  <a:schemeClr val="tx1"/>
                </a:solidFill>
                <a:latin typeface="Kristen ITC" panose="03050502040202030202" pitchFamily="66" charset="0"/>
              </a:rPr>
              <a:t> * @ $ TAP </a:t>
            </a:r>
            <a:r>
              <a:rPr lang="en-GB" sz="1800" dirty="0" err="1">
                <a:solidFill>
                  <a:schemeClr val="tx1"/>
                </a:solidFill>
                <a:latin typeface="Kristen ITC" panose="03050502040202030202" pitchFamily="66" charset="0"/>
              </a:rPr>
              <a:t>TAP</a:t>
            </a:r>
            <a:r>
              <a:rPr lang="en-GB" sz="1800" dirty="0">
                <a:solidFill>
                  <a:schemeClr val="tx1"/>
                </a:solidFill>
                <a:latin typeface="Kristen ITC" panose="03050502040202030202" pitchFamily="66" charset="0"/>
              </a:rPr>
              <a:t> !!! TAP </a:t>
            </a:r>
            <a:r>
              <a:rPr lang="en-GB" sz="1800" dirty="0" err="1">
                <a:solidFill>
                  <a:schemeClr val="tx1"/>
                </a:solidFill>
                <a:latin typeface="Kristen ITC" panose="03050502040202030202" pitchFamily="66" charset="0"/>
              </a:rPr>
              <a:t>TAP</a:t>
            </a:r>
            <a:r>
              <a:rPr lang="en-GB" sz="1800" dirty="0">
                <a:solidFill>
                  <a:schemeClr val="tx1"/>
                </a:solidFill>
                <a:latin typeface="Kristen ITC" panose="03050502040202030202" pitchFamily="66" charset="0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Kristen ITC" panose="03050502040202030202" pitchFamily="66" charset="0"/>
              </a:rPr>
              <a:t>TAP</a:t>
            </a:r>
            <a:r>
              <a:rPr lang="en-GB" sz="1800" dirty="0">
                <a:solidFill>
                  <a:schemeClr val="tx1"/>
                </a:solidFill>
                <a:latin typeface="Kristen ITC" panose="03050502040202030202" pitchFamily="66" charset="0"/>
              </a:rPr>
              <a:t> 123</a:t>
            </a:r>
            <a:endParaRPr lang="en-GB" sz="1800" b="1" dirty="0">
              <a:solidFill>
                <a:schemeClr val="tx1"/>
              </a:solidFill>
              <a:latin typeface="Kristen ITC" panose="03050502040202030202" pitchFamily="66" charset="0"/>
            </a:endParaRP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5270F8BC-7D39-4ED4-8248-E0A191FDDBFD}"/>
              </a:ext>
            </a:extLst>
          </p:cNvPr>
          <p:cNvSpPr/>
          <p:nvPr/>
        </p:nvSpPr>
        <p:spPr>
          <a:xfrm>
            <a:off x="6122822" y="3686345"/>
            <a:ext cx="3021178" cy="1457155"/>
          </a:xfrm>
          <a:prstGeom prst="wedgeEllipseCallout">
            <a:avLst>
              <a:gd name="adj1" fmla="val -17208"/>
              <a:gd name="adj2" fmla="val -6949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rgbClr val="F48220"/>
                </a:solidFill>
                <a:latin typeface="Kristen ITC" panose="03050502040202030202" pitchFamily="66" charset="0"/>
              </a:rPr>
              <a:t>Password strength: </a:t>
            </a:r>
          </a:p>
          <a:p>
            <a:pPr algn="ctr"/>
            <a:r>
              <a:rPr lang="en-GB" sz="1800" dirty="0">
                <a:solidFill>
                  <a:srgbClr val="F48220"/>
                </a:solidFill>
                <a:latin typeface="Kristen ITC" panose="03050502040202030202" pitchFamily="66" charset="0"/>
              </a:rPr>
              <a:t>ADEQUATE</a:t>
            </a:r>
          </a:p>
          <a:p>
            <a:pPr algn="ctr"/>
            <a:r>
              <a:rPr lang="en-GB" sz="1800" b="1" dirty="0">
                <a:solidFill>
                  <a:srgbClr val="F48220"/>
                </a:solidFill>
                <a:latin typeface="Kristen ITC" panose="03050502040202030202" pitchFamily="66" charset="0"/>
              </a:rPr>
              <a:t>Next reset due - tomorrow.</a:t>
            </a:r>
          </a:p>
        </p:txBody>
      </p:sp>
    </p:spTree>
    <p:extLst>
      <p:ext uri="{BB962C8B-B14F-4D97-AF65-F5344CB8AC3E}">
        <p14:creationId xmlns:p14="http://schemas.microsoft.com/office/powerpoint/2010/main" val="275745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D69F-2209-48BB-8AE6-4CCB95C0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1673"/>
            <a:ext cx="8631381" cy="915127"/>
          </a:xfrm>
          <a:solidFill>
            <a:srgbClr val="FFFFFF">
              <a:alpha val="74902"/>
            </a:srgbClr>
          </a:solidFill>
        </p:spPr>
        <p:txBody>
          <a:bodyPr/>
          <a:lstStyle/>
          <a:p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Passwords </a:t>
            </a:r>
            <a:r>
              <a:rPr lang="en-GB" sz="2400" b="1" dirty="0"/>
              <a:t>are the </a:t>
            </a:r>
            <a:r>
              <a:rPr lang="en-GB" sz="2400" b="1" dirty="0">
                <a:solidFill>
                  <a:srgbClr val="F4822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keys</a:t>
            </a:r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to access systems </a:t>
            </a:r>
            <a:r>
              <a:rPr lang="en-GB" sz="2400" b="1" dirty="0"/>
              <a:t>&amp; </a:t>
            </a:r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personal data for criminals to commit e.g. fraud and identity theft.</a:t>
            </a:r>
          </a:p>
        </p:txBody>
      </p:sp>
    </p:spTree>
    <p:extLst>
      <p:ext uri="{BB962C8B-B14F-4D97-AF65-F5344CB8AC3E}">
        <p14:creationId xmlns:p14="http://schemas.microsoft.com/office/powerpoint/2010/main" val="425102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4ADE5-D7A1-4402-A54C-3A3C0A400D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62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79D69F-2209-48BB-8AE6-4CCB95C0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0964" y="373076"/>
            <a:ext cx="2282840" cy="2965869"/>
          </a:xfrm>
          <a:solidFill>
            <a:srgbClr val="FFFFFF">
              <a:alpha val="74902"/>
            </a:srgbClr>
          </a:solidFill>
        </p:spPr>
        <p:txBody>
          <a:bodyPr/>
          <a:lstStyle/>
          <a:p>
            <a:r>
              <a:rPr lang="en-GB" sz="2400" b="1" dirty="0">
                <a:solidFill>
                  <a:schemeClr val="accent2"/>
                </a:solidFill>
              </a:rPr>
              <a:t>Dec </a:t>
            </a:r>
            <a:r>
              <a:rPr lang="en-GB" sz="2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2017…</a:t>
            </a:r>
            <a:br>
              <a:rPr lang="en-GB" sz="2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GB" sz="2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1.4 billion </a:t>
            </a:r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passwords were </a:t>
            </a:r>
            <a:r>
              <a:rPr lang="en-GB" sz="2400" b="1" dirty="0"/>
              <a:t>found dumped in a cyber-criminal archive.</a:t>
            </a:r>
            <a:endParaRPr lang="en-GB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74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1BA7B1-E829-49FE-970D-11ABEFCC73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62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5B66B2E-712F-4013-A6CB-432768ADF763}"/>
              </a:ext>
            </a:extLst>
          </p:cNvPr>
          <p:cNvSpPr txBox="1">
            <a:spLocks/>
          </p:cNvSpPr>
          <p:nvPr/>
        </p:nvSpPr>
        <p:spPr>
          <a:xfrm>
            <a:off x="1439043" y="3916234"/>
            <a:ext cx="3966890" cy="111282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600" b="0" i="0" u="none" strike="noStrike" cap="none">
                <a:solidFill>
                  <a:srgbClr val="0192BB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000" dirty="0"/>
              <a:t>The top password is still 123456, followed by 123456789, qwerty, password and 111111.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22C744-6911-4CE8-8033-075923B0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0964" y="373076"/>
            <a:ext cx="2282840" cy="2965869"/>
          </a:xfrm>
          <a:solidFill>
            <a:srgbClr val="FFFFFF">
              <a:alpha val="74902"/>
            </a:srgbClr>
          </a:solidFill>
        </p:spPr>
        <p:txBody>
          <a:bodyPr/>
          <a:lstStyle/>
          <a:p>
            <a:r>
              <a:rPr lang="en-GB" sz="2400" b="1" dirty="0">
                <a:solidFill>
                  <a:schemeClr val="accent2"/>
                </a:solidFill>
              </a:rPr>
              <a:t>Dec </a:t>
            </a:r>
            <a:r>
              <a:rPr lang="en-GB" sz="2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2017…</a:t>
            </a:r>
            <a:br>
              <a:rPr lang="en-GB" sz="2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GB" sz="2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1.4 billion </a:t>
            </a:r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passwords were </a:t>
            </a:r>
            <a:r>
              <a:rPr lang="en-GB" sz="2400" b="1" dirty="0"/>
              <a:t>found dumped in a cyber-criminal archive.</a:t>
            </a:r>
            <a:endParaRPr lang="en-GB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22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D69F-2209-48BB-8AE6-4CCB95C0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Ways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passwords get leaked…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571E0-83F1-4D69-A63D-C608E12DDB9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72387" y="1020651"/>
            <a:ext cx="3160165" cy="3262312"/>
          </a:xfrm>
        </p:spPr>
        <p:txBody>
          <a:bodyPr/>
          <a:lstStyle/>
          <a:p>
            <a:r>
              <a:rPr lang="en-GB" dirty="0"/>
              <a:t>It’s personal &amp; easy to guess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A09769-7913-46DD-9BA7-ABE62DB2E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87" y="1713297"/>
            <a:ext cx="2534632" cy="3430203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2F2D767-0301-4FD0-BD9E-72929FDCCFE8}"/>
              </a:ext>
            </a:extLst>
          </p:cNvPr>
          <p:cNvSpPr txBox="1">
            <a:spLocks/>
          </p:cNvSpPr>
          <p:nvPr/>
        </p:nvSpPr>
        <p:spPr>
          <a:xfrm>
            <a:off x="6579622" y="1020651"/>
            <a:ext cx="2737566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GB" dirty="0"/>
              <a:t>Password cracking software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6503FE-8089-4466-BD45-8B7DEB56F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236" y="2271181"/>
            <a:ext cx="2286831" cy="22049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6726C6-5399-4940-AB62-5CC84A606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002" y="2371920"/>
            <a:ext cx="2091990" cy="24718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8BF3A48A-D857-48E8-8C2B-95C4C7C53757}"/>
              </a:ext>
            </a:extLst>
          </p:cNvPr>
          <p:cNvSpPr/>
          <p:nvPr/>
        </p:nvSpPr>
        <p:spPr>
          <a:xfrm>
            <a:off x="4032495" y="3686345"/>
            <a:ext cx="3021503" cy="1457155"/>
          </a:xfrm>
          <a:prstGeom prst="wedgeEllipseCallout">
            <a:avLst>
              <a:gd name="adj1" fmla="val -17208"/>
              <a:gd name="adj2" fmla="val -6949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rgbClr val="F48220"/>
                </a:solidFill>
                <a:latin typeface="Kristen ITC" panose="03050502040202030202" pitchFamily="66" charset="0"/>
              </a:rPr>
              <a:t>“Her password is Leo1234 – same as all her accounts. </a:t>
            </a:r>
            <a:endParaRPr lang="en-GB" sz="1800" b="1" dirty="0">
              <a:solidFill>
                <a:srgbClr val="F48220"/>
              </a:solidFill>
              <a:latin typeface="Kristen ITC" panose="03050502040202030202" pitchFamily="66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491EC-7134-463F-B845-E2A4DAAF6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20651"/>
            <a:ext cx="3160166" cy="3262312"/>
          </a:xfrm>
        </p:spPr>
        <p:txBody>
          <a:bodyPr/>
          <a:lstStyle/>
          <a:p>
            <a:r>
              <a:rPr lang="en-GB" dirty="0"/>
              <a:t>Someone finds it written down</a:t>
            </a:r>
          </a:p>
        </p:txBody>
      </p:sp>
    </p:spTree>
    <p:extLst>
      <p:ext uri="{BB962C8B-B14F-4D97-AF65-F5344CB8AC3E}">
        <p14:creationId xmlns:p14="http://schemas.microsoft.com/office/powerpoint/2010/main" val="113514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  <p:bldP spid="10" grpId="0" animBg="1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9054A-24E6-42D0-832A-479F05E7A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45" y="179381"/>
            <a:ext cx="6558028" cy="731971"/>
          </a:xfrm>
        </p:spPr>
        <p:txBody>
          <a:bodyPr/>
          <a:lstStyle/>
          <a:p>
            <a:r>
              <a:rPr lang="en-GB" dirty="0"/>
              <a:t>How good are we at looking after our passwords?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B2E9CC-F9A9-4BEF-B328-C4359A43A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213" y="1443231"/>
            <a:ext cx="5852332" cy="3262312"/>
          </a:xfrm>
        </p:spPr>
        <p:txBody>
          <a:bodyPr/>
          <a:lstStyle/>
          <a:p>
            <a:pPr marL="0"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</a:pPr>
            <a:r>
              <a:rPr lang="en-GB" sz="2000" i="1" dirty="0">
                <a:latin typeface="Calibri"/>
                <a:ea typeface="Calibri"/>
                <a:cs typeface="Calibri"/>
              </a:rPr>
              <a:t>POLL – HAVE YOU EVER…</a:t>
            </a:r>
          </a:p>
          <a:p>
            <a:pPr marL="0" lvl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SzPts val="1800"/>
            </a:pPr>
            <a:r>
              <a:rPr lang="en-GB" sz="3600" dirty="0">
                <a:latin typeface="Calibri"/>
                <a:ea typeface="Calibri"/>
                <a:cs typeface="Calibri"/>
              </a:rPr>
              <a:t>Shared one of your passwords with a co-worker? Or with your partner?</a:t>
            </a:r>
          </a:p>
          <a:p>
            <a:pPr marL="0" lvl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SzPts val="1800"/>
            </a:pPr>
            <a:r>
              <a:rPr lang="en-GB" sz="3600" dirty="0">
                <a:latin typeface="Calibri"/>
                <a:ea typeface="Calibri"/>
                <a:cs typeface="Calibri"/>
              </a:rPr>
              <a:t>Or used the same password for more than one account?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8917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D69F-2209-48BB-8AE6-4CCB95C0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45" y="220943"/>
            <a:ext cx="7886700" cy="731971"/>
          </a:xfrm>
        </p:spPr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Keep your friends close &amp; your passwords closer…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CABC1-DCFD-46F7-AB45-F67253CEA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04" y="1365188"/>
            <a:ext cx="2413124" cy="2413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E654B3-8D08-4857-BB77-6D9619549F71}"/>
              </a:ext>
            </a:extLst>
          </p:cNvPr>
          <p:cNvSpPr txBox="1"/>
          <p:nvPr/>
        </p:nvSpPr>
        <p:spPr>
          <a:xfrm>
            <a:off x="775861" y="2050064"/>
            <a:ext cx="17456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95%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284C2-7DFB-4906-A370-1CF70C3EBBB3}"/>
              </a:ext>
            </a:extLst>
          </p:cNvPr>
          <p:cNvSpPr txBox="1"/>
          <p:nvPr/>
        </p:nvSpPr>
        <p:spPr>
          <a:xfrm>
            <a:off x="498767" y="3893127"/>
            <a:ext cx="22733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Say they share passwords with other people </a:t>
            </a:r>
          </a:p>
          <a:p>
            <a:r>
              <a:rPr lang="en-GB" dirty="0"/>
              <a:t>(76% with partner 22% with a co-worker).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E8D36-D398-4342-91FD-889A3538C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156" y="1365188"/>
            <a:ext cx="2413124" cy="24131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F513D6-8375-440A-8EEE-8C8F0CA1193A}"/>
              </a:ext>
            </a:extLst>
          </p:cNvPr>
          <p:cNvSpPr txBox="1"/>
          <p:nvPr/>
        </p:nvSpPr>
        <p:spPr>
          <a:xfrm>
            <a:off x="6626302" y="3977601"/>
            <a:ext cx="22733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Say they re-use passwords i.e. use them for more than one login.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968D8A-67E6-4812-B5B2-E8CAF723C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308" y="1365188"/>
            <a:ext cx="2413124" cy="2413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DEAB32-394C-44CA-B248-750089E68A18}"/>
              </a:ext>
            </a:extLst>
          </p:cNvPr>
          <p:cNvSpPr txBox="1"/>
          <p:nvPr/>
        </p:nvSpPr>
        <p:spPr>
          <a:xfrm>
            <a:off x="3788758" y="1966081"/>
            <a:ext cx="17456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73%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7F854-D44B-4D9F-A8CB-55DCB5916F12}"/>
              </a:ext>
            </a:extLst>
          </p:cNvPr>
          <p:cNvSpPr txBox="1"/>
          <p:nvPr/>
        </p:nvSpPr>
        <p:spPr>
          <a:xfrm>
            <a:off x="3618278" y="4000848"/>
            <a:ext cx="22733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Say they don’t reset passwords after they’ve shared them.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D52403-0BBE-459A-A2FC-74E69C55009C}"/>
              </a:ext>
            </a:extLst>
          </p:cNvPr>
          <p:cNvSpPr txBox="1"/>
          <p:nvPr/>
        </p:nvSpPr>
        <p:spPr>
          <a:xfrm>
            <a:off x="6777450" y="1994304"/>
            <a:ext cx="17456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59%</a:t>
            </a:r>
          </a:p>
        </p:txBody>
      </p:sp>
    </p:spTree>
    <p:extLst>
      <p:ext uri="{BB962C8B-B14F-4D97-AF65-F5344CB8AC3E}">
        <p14:creationId xmlns:p14="http://schemas.microsoft.com/office/powerpoint/2010/main" val="73942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2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5065D7-6D15-4A81-8CA1-BAB06FAC0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233" y="1281131"/>
            <a:ext cx="4924650" cy="348415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815CED0-08E5-46B7-AE85-EEB78AAB0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45" y="276798"/>
            <a:ext cx="7886700" cy="731971"/>
          </a:xfrm>
        </p:spPr>
        <p:txBody>
          <a:bodyPr/>
          <a:lstStyle/>
          <a:p>
            <a:r>
              <a:rPr lang="en-GB" dirty="0"/>
              <a:t>How important are the actual passwords?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43691E-CAE6-45E5-B148-CD0CB6CEE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244" y="1223181"/>
            <a:ext cx="3182478" cy="3290092"/>
          </a:xfrm>
        </p:spPr>
        <p:txBody>
          <a:bodyPr/>
          <a:lstStyle/>
          <a:p>
            <a:pPr marL="50800" indent="0">
              <a:buNone/>
            </a:pPr>
            <a:r>
              <a:rPr lang="en-GB" sz="2000" dirty="0"/>
              <a:t>Cracking ‘pass phrases’ that are based on random words you’d find in a dictionary…</a:t>
            </a:r>
            <a:br>
              <a:rPr lang="en-GB" sz="2000" b="1" dirty="0"/>
            </a:br>
            <a:endParaRPr lang="en-GB" sz="2000" dirty="0"/>
          </a:p>
          <a:p>
            <a:r>
              <a:rPr lang="en-GB" sz="2000" b="1" dirty="0">
                <a:solidFill>
                  <a:srgbClr val="F48220"/>
                </a:solidFill>
              </a:rPr>
              <a:t>More is more!</a:t>
            </a:r>
          </a:p>
          <a:p>
            <a:r>
              <a:rPr lang="en-GB" sz="2000" dirty="0"/>
              <a:t>But, avoid using a quote, a bible passage or a phrase from a  film/song, as times will be much shorter.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A176DE-B2E0-4C45-A477-A4BBA7269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733" y="3671680"/>
            <a:ext cx="5040150" cy="116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815CED0-08E5-46B7-AE85-EEB78AAB0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45" y="176061"/>
            <a:ext cx="7886700" cy="731971"/>
          </a:xfrm>
        </p:spPr>
        <p:txBody>
          <a:bodyPr/>
          <a:lstStyle/>
          <a:p>
            <a:r>
              <a:rPr lang="en-GB" dirty="0"/>
              <a:t>Does size really matter?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43691E-CAE6-45E5-B148-CD0CB6CEE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423" y="1070153"/>
            <a:ext cx="2323649" cy="3405593"/>
          </a:xfrm>
        </p:spPr>
        <p:txBody>
          <a:bodyPr/>
          <a:lstStyle/>
          <a:p>
            <a:pPr marL="50800" indent="0">
              <a:buNone/>
            </a:pPr>
            <a:r>
              <a:rPr lang="en-GB" sz="1800" b="1" dirty="0"/>
              <a:t>YES! Here are estimates for passwords that have a mix of 9+ characters: </a:t>
            </a:r>
            <a:br>
              <a:rPr lang="en-GB" sz="1800" b="1" dirty="0"/>
            </a:br>
            <a:r>
              <a:rPr lang="en-GB" sz="1800" b="1" dirty="0"/>
              <a:t>a-z, A-Z, 0-9</a:t>
            </a:r>
            <a:br>
              <a:rPr lang="en-GB" sz="1800" dirty="0"/>
            </a:br>
            <a:endParaRPr lang="en-GB" sz="1800" dirty="0"/>
          </a:p>
          <a:p>
            <a:pPr marL="50800" indent="0">
              <a:buNone/>
            </a:pPr>
            <a:r>
              <a:rPr lang="en-GB" sz="1800" dirty="0"/>
              <a:t>NB: times are shorter if actual words, names, places or ‘keyboard runs’ e.g. </a:t>
            </a:r>
            <a:r>
              <a:rPr lang="en-GB" sz="1800" dirty="0" err="1"/>
              <a:t>asdfghjkl</a:t>
            </a:r>
            <a:r>
              <a:rPr lang="en-GB" sz="1800" dirty="0"/>
              <a:t> are used.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1B6DF-4285-4170-84DA-74F38C941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009" y="1070153"/>
            <a:ext cx="6462991" cy="36931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1B96C9-BEEA-43EF-B122-80474D911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416" y="3234088"/>
            <a:ext cx="6546583" cy="17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6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F4222-B30F-41C3-BF38-1E971D2C0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445" y="1049987"/>
            <a:ext cx="4056588" cy="3601525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sz="1600" dirty="0"/>
              <a:t>Come up with a new long password </a:t>
            </a:r>
            <a:r>
              <a:rPr lang="en-GB" sz="1400" i="1" dirty="0"/>
              <a:t>e.g. four or more random words, avoiding personal information, well known quotes or song lyrics.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Add some uppercase letters, symbols or numbers if you wish</a:t>
            </a:r>
            <a:br>
              <a:rPr lang="en-GB" sz="1600" dirty="0"/>
            </a:br>
            <a:r>
              <a:rPr lang="en-GB" sz="1400" i="1" dirty="0"/>
              <a:t>(But avoid making anything too complex, so that you can still remember it).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Add an identifier to identify which login the password is for, so every password you use is different.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Get feedback from your teacher.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Repeat 1-3 to create another new password that no-one but you will know.</a:t>
            </a:r>
          </a:p>
          <a:p>
            <a:endParaRPr lang="en-GB" sz="16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489054A-24E6-42D0-832A-479F05E7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Staff and student password challenge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062B0E-B2EF-4960-A0E6-01FA7D80D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968" y="1101285"/>
            <a:ext cx="5632155" cy="404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17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D69F-2209-48BB-8AE6-4CCB95C0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for staff and other users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D3A32C9-F49D-4AD1-B5C8-5CED44B0CDD3}"/>
              </a:ext>
            </a:extLst>
          </p:cNvPr>
          <p:cNvSpPr txBox="1">
            <a:spLocks/>
          </p:cNvSpPr>
          <p:nvPr/>
        </p:nvSpPr>
        <p:spPr>
          <a:xfrm>
            <a:off x="319851" y="1102892"/>
            <a:ext cx="8390196" cy="388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GB" dirty="0"/>
              <a:t>Make passwords hard to guess;</a:t>
            </a:r>
          </a:p>
          <a:p>
            <a:r>
              <a:rPr lang="en-GB" dirty="0"/>
              <a:t>Make them long, to keep them strong</a:t>
            </a:r>
            <a:br>
              <a:rPr lang="en-GB" dirty="0"/>
            </a:br>
            <a:r>
              <a:rPr lang="en-GB" dirty="0"/>
              <a:t>(aim for 10+ characters);</a:t>
            </a:r>
          </a:p>
          <a:p>
            <a:r>
              <a:rPr lang="en-GB" dirty="0"/>
              <a:t>Use a different password for each account;</a:t>
            </a:r>
          </a:p>
          <a:p>
            <a:r>
              <a:rPr lang="en-GB" dirty="0"/>
              <a:t>Never share your password;</a:t>
            </a:r>
          </a:p>
          <a:p>
            <a:r>
              <a:rPr lang="en-GB" dirty="0"/>
              <a:t>Change your password if it is no longer secret or after any suspicious activity is detected on your account.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6429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D69F-2209-48BB-8AE6-4CCB95C0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Tips for school IT/policy makes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D3A32C9-F49D-4AD1-B5C8-5CED44B0CDD3}"/>
              </a:ext>
            </a:extLst>
          </p:cNvPr>
          <p:cNvSpPr txBox="1">
            <a:spLocks/>
          </p:cNvSpPr>
          <p:nvPr/>
        </p:nvSpPr>
        <p:spPr>
          <a:xfrm>
            <a:off x="313929" y="883644"/>
            <a:ext cx="8516141" cy="138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2BB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GB" dirty="0"/>
              <a:t>Simplify rules that require frequent changes and complex validations;</a:t>
            </a:r>
          </a:p>
          <a:p>
            <a:r>
              <a:rPr lang="en-GB" dirty="0"/>
              <a:t>Encourage longer ‘random’ passwords;</a:t>
            </a:r>
          </a:p>
          <a:p>
            <a:r>
              <a:rPr lang="en-GB" dirty="0"/>
              <a:t>Keep technological checks in place for weak/common passwords and for possible attacks or misuse;</a:t>
            </a:r>
          </a:p>
          <a:p>
            <a:r>
              <a:rPr lang="en-GB" dirty="0"/>
              <a:t>Reinforce policies about user responsibilities e.g. not sharing passwords and keeping work and personal passwords different.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2269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F0419A-780B-4E7B-AE30-E3C76B089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20739">
            <a:off x="5836663" y="157936"/>
            <a:ext cx="2952972" cy="3460762"/>
          </a:xfrm>
          <a:prstGeom prst="rect">
            <a:avLst/>
          </a:prstGeom>
          <a:effectLst>
            <a:glow>
              <a:schemeClr val="bg1">
                <a:lumMod val="65000"/>
              </a:schemeClr>
            </a:glow>
          </a:effectLst>
        </p:spPr>
      </p:pic>
      <p:sp>
        <p:nvSpPr>
          <p:cNvPr id="415" name="Shape 415"/>
          <p:cNvSpPr txBox="1"/>
          <p:nvPr/>
        </p:nvSpPr>
        <p:spPr>
          <a:xfrm>
            <a:off x="1004575" y="4212709"/>
            <a:ext cx="55284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</a:pPr>
            <a:endParaRPr sz="20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Shape 416"/>
          <p:cNvSpPr txBox="1">
            <a:spLocks noGrp="1"/>
          </p:cNvSpPr>
          <p:nvPr>
            <p:ph type="title"/>
          </p:nvPr>
        </p:nvSpPr>
        <p:spPr>
          <a:xfrm>
            <a:off x="817577" y="945091"/>
            <a:ext cx="5120534" cy="173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8800" dirty="0">
                <a:solidFill>
                  <a:srgbClr val="0192B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Any questions</a:t>
            </a:r>
            <a:endParaRPr sz="8800" i="0" u="none" strike="noStrike" cap="none" dirty="0">
              <a:solidFill>
                <a:srgbClr val="0192BB"/>
              </a:solidFill>
              <a:latin typeface="Segoe UI" panose="020B0502040204020203" pitchFamily="34" charset="0"/>
              <a:cs typeface="Segoe UI" panose="020B0502040204020203" pitchFamily="34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C5FA34-1465-49B4-BC2B-B0A6FC23D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817" y="3731387"/>
            <a:ext cx="3167265" cy="13365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415"/>
          <p:cNvSpPr txBox="1"/>
          <p:nvPr/>
        </p:nvSpPr>
        <p:spPr>
          <a:xfrm>
            <a:off x="1004575" y="4212709"/>
            <a:ext cx="55284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</a:pPr>
            <a:endParaRPr sz="20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Shape 416"/>
          <p:cNvSpPr txBox="1">
            <a:spLocks noGrp="1"/>
          </p:cNvSpPr>
          <p:nvPr>
            <p:ph type="title"/>
          </p:nvPr>
        </p:nvSpPr>
        <p:spPr>
          <a:xfrm>
            <a:off x="465365" y="511175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7200" dirty="0">
                <a:solidFill>
                  <a:srgbClr val="0192B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you!</a:t>
            </a:r>
            <a:endParaRPr sz="7200" i="0" u="none" strike="noStrike" cap="none" dirty="0">
              <a:solidFill>
                <a:srgbClr val="0192BB"/>
              </a:solidFill>
              <a:latin typeface="Segoe UI" panose="020B0502040204020203" pitchFamily="34" charset="0"/>
              <a:cs typeface="Segoe UI" panose="020B0502040204020203" pitchFamily="34" charset="0"/>
              <a:sym typeface="Calibri"/>
            </a:endParaRPr>
          </a:p>
        </p:txBody>
      </p:sp>
      <p:sp>
        <p:nvSpPr>
          <p:cNvPr id="417" name="Shape 417"/>
          <p:cNvSpPr txBox="1">
            <a:spLocks noGrp="1"/>
          </p:cNvSpPr>
          <p:nvPr>
            <p:ph type="body" idx="1"/>
          </p:nvPr>
        </p:nvSpPr>
        <p:spPr>
          <a:xfrm>
            <a:off x="628649" y="1691639"/>
            <a:ext cx="7391724" cy="294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Need independent advice? 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Email: </a:t>
            </a:r>
            <a:r>
              <a:rPr lang="en-GB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dpo@dataprotecteion.education</a:t>
            </a:r>
            <a:endParaRPr lang="en-GB" sz="2000" b="1" i="0" u="none" strike="noStrike" cap="none" dirty="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/>
              </a:rPr>
              <a:t>Tel: 0800 0862018</a:t>
            </a:r>
            <a:endParaRPr sz="2000" b="1" i="0" u="none" strike="noStrike" cap="none" dirty="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62B53C-FBCF-4C70-AB19-A1D0858B8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84" y="3449921"/>
            <a:ext cx="5101450" cy="126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583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Office PowerPoint</Application>
  <PresentationFormat>On-screen Show (16:9)</PresentationFormat>
  <Paragraphs>108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Kristen ITC</vt:lpstr>
      <vt:lpstr>Segoe UI</vt:lpstr>
      <vt:lpstr>Custom Design</vt:lpstr>
      <vt:lpstr>TAKE FIVE Staff Training</vt:lpstr>
      <vt:lpstr>Please create a new password...</vt:lpstr>
      <vt:lpstr>Passwords are the keys to access systems &amp; personal data for criminals to commit e.g. fraud and identity theft.</vt:lpstr>
      <vt:lpstr>Dec 2017…  1.4 billion passwords were found dumped in a cyber-criminal archive.</vt:lpstr>
      <vt:lpstr>Dec 2017…  1.4 billion passwords were found dumped in a cyber-criminal archive.</vt:lpstr>
      <vt:lpstr>Ways passwords get leaked…</vt:lpstr>
      <vt:lpstr>How good are we at looking after our passwords?</vt:lpstr>
      <vt:lpstr>Keep your friends close &amp; your passwords closer…</vt:lpstr>
      <vt:lpstr>How important are the actual passwords?</vt:lpstr>
      <vt:lpstr>Does size really matter?</vt:lpstr>
      <vt:lpstr>Staff and student password challenge</vt:lpstr>
      <vt:lpstr>Summary for staff and other users</vt:lpstr>
      <vt:lpstr>Tips for school IT/policy makes</vt:lpstr>
      <vt:lpstr>Any questions</vt:lpstr>
      <vt:lpstr>Thank you!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2018-06-25T11:03:04Z</dcterms:modified>
</cp:coreProperties>
</file>